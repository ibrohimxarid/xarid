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Тошкент политехника музейи" id="{919FEAE0-277E-4E80-862B-3374A4D5C16B}">
          <p14:sldIdLst>
            <p14:sldId id="256"/>
          </p14:sldIdLst>
        </p14:section>
        <p14:section name="01 · Асосий мазмун" id="{A07A407F-2F17-4E96-B53D-535F9DB77D15}">
          <p14:sldIdLst>
            <p14:sldId id="257"/>
          </p14:sldIdLst>
        </p14:section>
        <p14:section name="02 · Ҳозирги ҳолат" id="{6A5B73D0-F120-4471-BA3F-571AF7AD4207}">
          <p14:sldIdLst>
            <p14:sldId id="258"/>
            <p14:sldId id="259"/>
          </p14:sldIdLst>
        </p14:section>
        <p14:section name="03 · 2027 йил режаси" id="{17ADBB57-68EB-4A46-B7C9-F7E11B87E772}">
          <p14:sldIdLst>
            <p14:sldId id="260"/>
            <p14:sldId id="261"/>
            <p14:sldId id="262"/>
            <p14:sldId id="263"/>
          </p14:sldIdLst>
        </p14:section>
        <p14:section name="04 · Бюджет" id="{6C72E645-DF92-49E9-A688-305C00044677}">
          <p14:sldIdLst>
            <p14:sldId id="264"/>
          </p14:sldIdLst>
        </p14:section>
        <p14:section name="05 · Ижро ва назорат" id="{0E555A9E-B5BB-4A36-B266-8855792ACECE}">
          <p14:sldIdLst>
            <p14:sldId id="265"/>
            <p14:sldId id="266"/>
          </p14:sldIdLst>
        </p14:section>
        <p14:section name="06 · Қарорлар" id="{218ED44B-4B7C-4D4A-BDA8-9AAE17132E11}">
          <p14:sldIdLst>
            <p14:sldId id="267"/>
            <p14:sldId id="268"/>
            <p14:sldId id="269"/>
          </p14:sldIdLst>
        </p14:section>
        <p14:section name="Иловалар" id="{B6C9946F-AE7C-4C7E-B8FB-5E052ABB5E2D}">
          <p14:sldIdLst>
            <p14:sldId id="270"/>
            <p14:sldId id="271"/>
            <p14:sldId id="272"/>
            <p14:sldId id="273"/>
            <p14:sldId id="274"/>
            <p14:sldId id="27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0" i="0" lang="uz-Cyrl-UZ">
                <a:solidFill>
                  <a:srgbClr val="242424"/>
                </a:solidFill>
                <a:latin typeface="Consolas"/>
              </a:rPr>
              <a:t>Ривожланиш бюджети, млн сўм</a:t>
            </a:r>
          </a:p>
        </c:rich>
      </c:tx>
      <c:layout/>
      <c:overlay val="0"/>
    </c:title>
    <c:autoTitleDeleted val="0"/>
    <c:plotArea>
      <c:barChart>
        <c:barDir val="col"/>
        <c:grouping val="clustered"/>
        <c:ser>
          <c:idx val="0"/>
          <c:order val="0"/>
          <c:tx>
            <c:strRef>
              <c:f>Sheet1!$B$1</c:f>
              <c:strCache>
                <c:ptCount val="1"/>
                <c:pt idx="0">
                  <c:v>А вариант</c:v>
                </c:pt>
              </c:strCache>
            </c:strRef>
          </c:tx>
          <c:spPr>
            <a:solidFill>
              <a:srgbClr val="2B59D1"/>
            </a:solidFill>
            <a:ln>
              <a:noFill/>
            </a:ln>
          </c:spPr>
          <c:cat>
            <c:strRef>
              <c:f>Sheet1!$A$2:$A$13</c:f>
              <c:strCache>
                <c:ptCount val="12"/>
                <c:pt idx="0">
                  <c:v>янв</c:v>
                </c:pt>
                <c:pt idx="1">
                  <c:v>фев</c:v>
                </c:pt>
                <c:pt idx="2">
                  <c:v>мар</c:v>
                </c:pt>
                <c:pt idx="3">
                  <c:v>апр</c:v>
                </c:pt>
                <c:pt idx="4">
                  <c:v>май</c:v>
                </c:pt>
                <c:pt idx="5">
                  <c:v>июн</c:v>
                </c:pt>
                <c:pt idx="6">
                  <c:v>июл</c:v>
                </c:pt>
                <c:pt idx="7">
                  <c:v>авг</c:v>
                </c:pt>
                <c:pt idx="8">
                  <c:v>сен</c:v>
                </c:pt>
                <c:pt idx="9">
                  <c:v>окт</c:v>
                </c:pt>
                <c:pt idx="10">
                  <c:v>ноя</c:v>
                </c:pt>
                <c:pt idx="11">
                  <c:v>дек</c:v>
                </c:pt>
              </c:strCache>
            </c:strRef>
          </c:cat>
          <c:val>
            <c:numRef>
              <c:f>Sheet1!$B$2:$B$13</c:f>
              <c:numCache>
                <c:formatCode>#,##0.0</c:formatCode>
                <c:ptCount val="12"/>
                <c:pt idx="0">
                  <c:v>1059.8</c:v>
                </c:pt>
                <c:pt idx="1">
                  <c:v>1046.8</c:v>
                </c:pt>
                <c:pt idx="2">
                  <c:v>860.4</c:v>
                </c:pt>
                <c:pt idx="3">
                  <c:v>622.9</c:v>
                </c:pt>
                <c:pt idx="4">
                  <c:v>560.0</c:v>
                </c:pt>
                <c:pt idx="5">
                  <c:v>513.3</c:v>
                </c:pt>
                <c:pt idx="6">
                  <c:v>158.0</c:v>
                </c:pt>
                <c:pt idx="7">
                  <c:v>184.1</c:v>
                </c:pt>
                <c:pt idx="8">
                  <c:v>218.5</c:v>
                </c:pt>
                <c:pt idx="9">
                  <c:v>218.5</c:v>
                </c:pt>
                <c:pt idx="10">
                  <c:v>219.7</c:v>
                </c:pt>
                <c:pt idx="11">
                  <c:v>203.1</c:v>
                </c:pt>
              </c:numCache>
            </c:numRef>
          </c:val>
        </c:ser>
        <c:ser>
          <c:idx val="1"/>
          <c:order val="1"/>
          <c:tx>
            <c:strRef>
              <c:f>Sheet1!$C$1</c:f>
              <c:strCache>
                <c:ptCount val="1"/>
                <c:pt idx="0">
                  <c:v>Б вариант</c:v>
                </c:pt>
              </c:strCache>
            </c:strRef>
          </c:tx>
          <c:spPr>
            <a:solidFill>
              <a:srgbClr val="CECAC8"/>
            </a:solidFill>
            <a:ln>
              <a:noFill/>
            </a:ln>
          </c:spPr>
          <c:cat>
            <c:strRef>
              <c:f>Sheet1!$A$2:$A$13</c:f>
              <c:strCache>
                <c:ptCount val="12"/>
                <c:pt idx="0">
                  <c:v>янв</c:v>
                </c:pt>
                <c:pt idx="1">
                  <c:v>фев</c:v>
                </c:pt>
                <c:pt idx="2">
                  <c:v>мар</c:v>
                </c:pt>
                <c:pt idx="3">
                  <c:v>апр</c:v>
                </c:pt>
                <c:pt idx="4">
                  <c:v>май</c:v>
                </c:pt>
                <c:pt idx="5">
                  <c:v>июн</c:v>
                </c:pt>
                <c:pt idx="6">
                  <c:v>июл</c:v>
                </c:pt>
                <c:pt idx="7">
                  <c:v>авг</c:v>
                </c:pt>
                <c:pt idx="8">
                  <c:v>сен</c:v>
                </c:pt>
                <c:pt idx="9">
                  <c:v>окт</c:v>
                </c:pt>
                <c:pt idx="10">
                  <c:v>ноя</c:v>
                </c:pt>
                <c:pt idx="11">
                  <c:v>дек</c:v>
                </c:pt>
              </c:strCache>
            </c:strRef>
          </c:cat>
          <c:val>
            <c:numRef>
              <c:f>Sheet1!$C$2:$C$13</c:f>
              <c:numCache>
                <c:formatCode>#,##0.0</c:formatCode>
                <c:ptCount val="12"/>
                <c:pt idx="0">
                  <c:v>1059.8</c:v>
                </c:pt>
                <c:pt idx="1">
                  <c:v>1046.8</c:v>
                </c:pt>
                <c:pt idx="2">
                  <c:v>860.4</c:v>
                </c:pt>
                <c:pt idx="3">
                  <c:v>622.9</c:v>
                </c:pt>
                <c:pt idx="4">
                  <c:v>560.0</c:v>
                </c:pt>
                <c:pt idx="5">
                  <c:v>513.3</c:v>
                </c:pt>
                <c:pt idx="6">
                  <c:v>627.4</c:v>
                </c:pt>
                <c:pt idx="7">
                  <c:v>625.6</c:v>
                </c:pt>
                <c:pt idx="8">
                  <c:v>632.1</c:v>
                </c:pt>
                <c:pt idx="9">
                  <c:v>807.2</c:v>
                </c:pt>
                <c:pt idx="10">
                  <c:v>808.4</c:v>
                </c:pt>
                <c:pt idx="11">
                  <c:v>644.6</c:v>
                </c:pt>
              </c:numCache>
            </c:numRef>
          </c:val>
        </c:ser>
        <c:gapWidth val="60"/>
        <c:overlap val="-10"/>
        <c:axId val="-2068027336"/>
        <c:axId val="-2113994440"/>
      </c:barChart>
      <c:catAx>
        <c:axId val="-2068027336"/>
        <c:scaling>
          <c:orientation val="minMax"/>
        </c:scaling>
        <c:delete val="0"/>
        <c:axPos val="b"/>
        <c:majorTickMark val="out"/>
        <c:minorTickMark val="none"/>
        <c:tickLblPos val="nextTo"/>
        <c:spPr>
          <a:ln>
            <a:solidFill>
              <a:srgbClr val="CECAC8"/>
            </a:solidFill>
          </a:ln>
        </c:spPr>
        <c:txPr>
          <a:bodyPr/>
          <a:lstStyle/>
          <a:p>
            <a:pPr>
              <a:defRPr sz="1000">
                <a:solidFill>
                  <a:srgbClr val="797776"/>
                </a:solidFill>
                <a:latin typeface="Consolas"/>
              </a:defRPr>
            </a:pPr>
          </a:p>
        </c:txPr>
        <c:crossAx val="-2113994440"/>
        <c:crosses val="autoZero"/>
        <c:auto val="1"/>
        <c:lblAlgn val="ctr"/>
        <c:lblOffset val="100"/>
        <c:noMultiLvlLbl val="0"/>
      </c:catAx>
      <c:valAx>
        <c:axId val="-2113994440"/>
        <c:scaling/>
        <c:delete val="0"/>
        <c:axPos val="l"/>
        <c:majorGridlines>
          <c:spPr>
            <a:ln w="9525">
              <a:solidFill>
                <a:srgbClr val="CECAC8"/>
              </a:solidFill>
            </a:ln>
          </c:spPr>
        </c:majorGridlines>
        <c:numFmt formatCode="#,##0" sourceLinked="0"/>
        <c:majorTickMark val="out"/>
        <c:minorTickMark val="none"/>
        <c:tickLblPos val="nextTo"/>
        <c:spPr>
          <a:ln>
            <a:noFill/>
          </a:ln>
        </c:spPr>
        <c:txPr>
          <a:bodyPr/>
          <a:lstStyle/>
          <a:p>
            <a:pPr>
              <a:defRPr sz="1000">
                <a:solidFill>
                  <a:srgbClr val="797776"/>
                </a:solidFill>
                <a:latin typeface="Consolas"/>
              </a:defRPr>
            </a:pPr>
          </a:p>
        </c:txPr>
        <c:crossAx val="-2068027336"/>
        <c:crosses val="autoZero"/>
      </c:valAx>
    </c:plotArea>
    <c:legend>
      <c:legendPos val="t"/>
      <c:overlay val="0"/>
      <c:txPr>
        <a:bodyPr/>
        <a:lstStyle/>
        <a:p>
          <a:pPr>
            <a:defRPr sz="1000">
              <a:solidFill>
                <a:srgbClr val="4E4D4D"/>
              </a:solidFill>
              <a:latin typeface="Consolas"/>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Стратегия номи, ички сарлавҳа (йиллик режа, бюджет ва қарор лойиҳалари), адресат, сана, музей логотипи ва бош залнинг фотосурати.
НИМА ДЕЙМАН: Ҳурматли Бошқарув раиси! Эътиборингизга Тошкент политехника музейини 2027 йилда ривожлантириш стратегиясини тақдим этамиз. Стратегия бир йилга мўлжалланган ва учта масалани қамраб олади: йил давомида бажариладиган ишлар, уларнинг бюджети ва молиялаштириш манбалари, ижрони назорат қилиш тартиби. Тақдимот якунида кўриб чиқишингиз учун олтита қарор лойиҳаси киритилади. Ҳисоб-китоблар музейнинг амалдаги ҳисоб маълумотлари, Бошқарув ҳисоботи ва Экспозицияни янгилаш дастурига асосланган. Маъруза ўн дақиқага мўлжалланган, ундан сўнг саволларга жавоб берамиз.
АСОСИЙ ИБОРА: Стратегия бир йилга мўлжалланган ва олтита аниқ қарорга таянади.
ЎТИШ: Аввало стратегиянинг асосий мазмунини қисқача баён этамиз.
АГАР СЎРАСА:
— Нега стратегия фақат бир йилга мўлжалланган? — 2027 йил ўзгаришларнинг биринчи йили ҳисобланади. 2-босқич бўйича қарор 2027 йил 15 октябрдаги назорат нуқтасида амалдаги натижалар асосида қабул қилинади.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Уч устун: “2026 йил” (ташрифчилар, музей тушуми, тушумдаги музей фаолияти улуши) → “2027 йил якуни” (ташрифчилар, музей тушуми, ишга туширилган янги экспонатлар) → “Қарорлар” (олтита қарор, 31.12.2026 йилгача); пастда — давлат бюджети маблағларисиз ва “Ўзавтосаноат” учун таъсир.
НИМА ДЕЙМАН: Стратегиянинг асосий мазмуни қуйидагича. Ҳозирги вақтда жами тушумда музей фаолиятининг улуши 3,5 фоизни ташкил этади. 2026 йил январь–август ойларида касса тушуми 17,3 фоизга камайди, йил якунида 20 083 нафар ташрифчи кутилмоқда. 2027 йил 30 июнгача иккинчи қаватда 13 та янги экспонат ишга туширилади, йил якунида ташрифчилар сони 29 000 нафарга, музей тушуми 1 046,3 млн сўмга етади. Бунинг учун 2026 йил 31 декабргача олтита қарор қабул қилиниши зарур. Режа давлат бюджети маблағларисиз амалга оширилади. Йилига тахминан 1,1 млрд сўм миқдоридаги маъмурий бино харажатлари “Ўзавтосаноат” ҳисобига ўтказилади.
АСОСИЙ ИБОРА: Олтита қарор қабул қилинса, иккинчи қават ишга тушади ва ташрифчилар сони 1,4 баравар ортади.
ЎТИШ: Энди музейнинг ҳозирги ҳолатига батафсил тўхталамиз.
АГАР СЎРАСА:
— Режа Бошқарув ҳисоботидаги 40 000 нафардан нега фарқ қилади? — Ҳисоботдаги кўрсаткич йиллик сегментлар бўйича ҳисобланган, режа эса ойлик моделга асосланган: 13 та экспонат 2027 йил июнь охиригача босқичма-босқич ишга туширилади, шу сабабли модель 29 000 нафарни кўрсатади. 40 000 нафарга эришиш учун йилнинг иккинчи ярмида йиллик ҳисобда тахминан 62 794 нафар суръат талаб этилади; бу даражага 2-босқичдан кейин эришилади. Қиёслаш 2-иловада келтирилган.</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Бешта кўрсаткич: 2025 йилдаги ташрифчилар, 2026 йил январь–август касса тушуми, тушумдаги ижара ва музей фаолияти улуши, ташрифчилар билан ишловчи штат бирликлари; пастда — муассиснинг маъмурий биноси харажатлари ва музей бўлимлари иш ҳақи фонди қиёси.
НИМА ДЕЙМАН: Музей 2025 йилда 22 437 нафар ташрифчини қабул қилди, бу иш кунига ўртача 72 нафарга тўғри келади. 2026 йилнинг саккиз ойида касса тушуми 17,3 фоизга камайди. Жами тушумнинг 90,7 фоизи ижарадан, 3,5 фоизи музей фаолиятидан шаклланмоқда. 34 та штат бирлигидан 8 таси бевосита ташрифчилар билан ишлайди. Шу саккиз ойда муассиснинг маъмурий биноси ва ҳудудини сақлашга 1 280,9 млн сўм сарфланди; бу музей бўлимларининг иш ҳақи фондига деярли тенг. Демак, асосий масала маблағлар ҳажмида эмас, уларнинг тақсимотида. Биринчи қарор айнан шу масалани ҳал этишга қаратилган.
АСОСИЙ ИБОРА: Асосий масала маблағлар ҳажмида эмас, уларнинг тақсимотида.
ЎТИШ: Ҳозирги ҳолат сақланган тақдирда юзага келадиган хатарларни кўриб чиқамиз.
АГАР СЎРАСА:
— Ташрифчилар сони 7,2 фоизга камайганми ёки 17 фоизга? — 2025 йил апрель ойида 249 нафар ташрифчи ва 49,0 млн сўм касса тушуми қайд этилган, бу ўртача 196 667 сўмлик чекка тўғри келади; шу сабабли ушбу ёзув шубҳали деб баҳоланган. Ёзув тузатилса, ташрифчилар сонининг пасайиши ҳам тахминан 17 фоизни ташкил этади. Шу боис ҳисоб-китобда касса тушумининг пасайиши асос қилиб олинган.
— Нега 2026 йилда маъмурий бино харажатлари юқори? — Уларнинг таркибига бир марталик таъмир ишлари киради: гилам, девор панеллари, девор ва дарвоза. 2027 йил учун 2025 йил даражаси 1,08 коэффициенти билан олинган: 1 061,9 млн сўм × 1,08 = 1 146,9 млн сўм.</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Тўртта хатар: ташрифчилар сонининг камайиши, иккинчи қават ҳақида салбий фикрлар, солиқ хатари, бино вазифасининг ўзгариши (Nur Alem мисоли).
НИМА ДЕЙМАН: Ҳозирги ҳолат сақланса, хатарлар ортади. Биринчидан, ўзгаришсиз сценарийда 2027 йилда ташрифчилар сони тахминан 16 600 нафаргача камаяди. Шаҳарда 2026 йилда рақобат ҳам кучайди. Иккинчидан, 2025 йилда ташрифчилар билдирган асосий эътироз — иккинчи қаватдаги экспонатларнинг аксарияти ишламаслиги. Учинчидан, 2025 йил ва 2026 йилнинг саккиз ойида муассиснинг маъмурий биноси учун 2 342,8 млн сўм сарфланган; ушбу харажатлар бўйича солиқ маслаҳатчисининг хулосаси талаб этилади. Тўртинчидан, Остонадаги Nur Alem музейи 2024 йил 22 декабрдан ташрифчи қабул қилмайди, бино бошқа мақсадга берилган. Бу мисол натижага эришилмаган тақдирда бинодан фойдаланиш масаласи қайта кўриб чиқилиши мумкинлигини кўрсатади.
АСОСИЙ ИБОРА: Қарорларнинг кечикиши ташрифчилар, солиқ ва бино бўйича хатарларни кучайтиради.
ЎТИШ: Режа амалга оширилганда “Ўзавтосаноат” оладиган самарага ўтамиз.
АГАР СЎРАСА:
— Қайси муассасалар рақобатни кучайтирди? — 2026 йилда Ислом цивилизацияси марказидаги болалар интерактив музейи, CCA Tashkent ва янгиланган Тарих музейи фаолият бошлади.
— Қўшимча солиқ суммаси қанча бўлиши мумкин? — Сумма солиқ маслаҳатчиси хулосасида аниқланади: дастлабки хулоса 25.11.2026 йилгача, якуний хулоса 31.01.2027 йилгача олинади. 2027 йил 1 январдан музей ва муассис харажатлари бўйича алоҳида ҳисоб юритилади.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Бешта самара: шаффоф ҳисоб, ишлайдиган иккинчи қават, делегациялар учун майдон, кадрлар заҳираси, давлат бюджети маблағларисиз; пастда — музейнинг мавқеи.
НИМА ДЕЙМАН: Режа амалга оширилса, “Ўзавтосаноат” 2027 йилдаёқ беш йўналишда самара олади. Биринчиси — шаффоф ҳисоб: 2027 йил 1 январдан музей ва муассис харажатлари алоҳида ҳисобга олинади, 2025–2026 йиллар харажатлари бўйича солиқ хулосаси 31 январгача олинади. Иккинчиси — ишлайдиган иккинчи қават ва 13 та янги интерактив экспонат. Учинчиси — делегациялар ва гуруҳ корхоналари тадбирлари учун майдон. Тўртинчиси — автосаноат учун кадрлар заҳираси: мактаб дастури 4 000 нафар ўқувчини қамраб олади. Бешинчиси — режа давлат бюджети маблағларисиз бажарилади. Музейнинг таянчи — ретро-автомобиллар коллекцияси ва автосаноат билан бевосита алоқа.
АСОСИЙ ИБОРА: Гуруҳ шаффоф ҳисоб, ишлайдиган музей ва кадрлар заҳирасига эга бўлади.
ЎТИШ: Режанинг чораклар бўйича ижросига ўтамиз.
АГАР СЎРАСА:
— Делегациялар учун нима ўзгаради? — Иккинчи қават тўлиқ ишга туширилади, делегациялар учун бир соатлик дастур, тадбирлар учун жиҳоз ва майдон тайёрланади. Режада 8 та тадбир ва 1 000 нафар корпоратив меҳмон кўзда тутилган.
— Олий таълим муассасалари билан келишувлар мавжудми? — Ҳозирча келишувлар имзоланмаган. II чоракда учта олий таълим муассасаси билан келишув имзолаш режалаштирилган.</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Йил мақсади; 0-босқич ва I–IV чораклар, ҳар бирининг натижаси; чораклар бўйича ташрифчилар (кутилиш ва режа); назорат нуқтаси (15.10.2027) ва 2-босқич бўйича қарор.
НИМА ДЕЙМАН: Йил мақсади — ишлайдиган иккинчи қават ва 29 000 нафар ташрифчи. 0-босқичда, 2026 йил охиригача, олтита қарор қабул қилинади, дастур раҳбари тайинланади, хатлов ўтказилади ва 1-тўлқин экспонатларига буюртма берилади. Биринчи чоракда нопрофил харажатлар музей бюджетидан чиқарилади, янги штат тўлдирилади, таъмир бошланади ва дастлабки бешта экспонат ишга туширилади. Иккинчи чоракда тарифлар ва онлайн сотув жорий этилади, 13 та экспонатнинг барчаси ишга туширилади. Учинчи чорак паст мавсумга тўғри келади, бироқ режадаги кўрсаткич 2025 йилнинг шу давридагидан 64,4 фоиз юқори. Тўртинчи чоракда, 2027 йил 15 октябрда, назорат нуқтаси ўтказилади ва 2-босқич бўйича қарор қабул қилинади.
АСОСИЙ ИБОРА: Ҳар бир чорак якунида текшириладиган аниқ натижа белгиланган.
ЎТИШ: Иккинчи қават экспонатлари бўйича ишларга батафсил тўхталамиз.
АГАР СЎРАСА:
— Нега янги тарифлар январдан жорий этилмайди? — Иккинчи қават экспонатлари ишламаётган шароитда нархларни ошириш салбий фикрлар сонини кўпайтиради. Шу сабабли янги тарифлар 2027 йил 1 апрелдан, дастлабки экспонатлар ва онлайн сотув билан бир вақтда жорий этилади.
— Нега III чоракда ташрифчилар 8 300 нафардан 5 400 нафарга камаяди? — Бу мавсумий пасайиш: 2025 йилнинг июль–сентябрь ойларида 3 284 нафар ташрифчи қабул қилинган, бу йиллик кўрсаткичнинг 14,6 фоизини ташкил этади. IV чоракда ташрифчилар сони 9 500 нафаргача ортади.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Ойлар тасмаси: хатлов (30.11) ва эски экспонатлар таъмири; 1-тўлқинга буюртма (15.12); учта очилиш тўлқини (31.03, 31.05, 30.06.2027) ва экспонатлар номлари; 2-босқичга тайёргарлик; назорат нуқтаси (15.10.2027).
НИМА ДЕЙМАН: 13 та янги экспонат олти ой ичида учта тўлқинда ишга туширилади. 1-тўлқинга буюртма 2026 йил 15 декабргача берилади. 2027 йил 31 мартда бешта экспонат очилади, жумладан “Нейротармоқни ўргат”, “AR-қумдон” ва “Очиқ 3D-босма”. 31 майда робототехника, автопилот ва бионик қўл экспонатлари, 30 июнда компьютер кўриши, Тошкент узра VR-парвоз, чорраҳа ва дрон-қафас экспонатлари ишга туширилади. Эски экспонатлар 30 ноябргача хатловдан ўтказилади: ишлайдиганлари сақланади, кам харажат билан тикланадиганлари I–II чоракда таъмирланади, қолганлари экспозициядан чиқарилади. Июль–декабрь ойларида 2-босқичга тайёргарлик кўрилади; уни бошлаш тўғрисидаги қарор назорат нуқтасида қабул қилинади.
АСОСИЙ ИБОРА: 13 та янги экспонат олти ой ичида учта тўлқинда ишга туширилади.
ЎТИШ: Ушбу ишларнинг ташрифчилар сони ва музей тушумига таъсирини кўриб чиқамиз.
АГАР СЎРАСА:
— Эски экспонатлар нима сабабдан ишдан чиққан? — Экспонатлар учун сервис бюджети, техник ходим ва кунлик текширув тизими бўлмаган. 2027 йилдан штатда техник лавозими, 3D-устахона ва 10 фоизлик эҳтиёт қисмлар заҳираси назарда тутилган.
— VR-парвоз экспонати учун қўшимча нима талаб этилади? — Ҳаводан суратга олиш учун ҳокимиятнинг рухсати талаб этилади.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Жадвал: 2025 йил (амалда), 2026 йил (кутилиш), 2027 йил (режа) — ташрифчилар, ўртача чек, музей тушуми, харажатлар қопланиши ва 2027/2026 ўзгариш; пастда — 2027 йил чораклари бўйича режа.
НИМА ДЕЙМАН: 2027 йилда музей тушуми 2,3 баравар ортиб, 1 046,3 млн сўмни ташкил этади. Бу икки омил ҳисобига таъминланади: ташрифчилар сони 1,4 баравар кўпаяди, ўртача чек 27 071 сўмгача ошади. Харажатларнинг музей тушуми билан қопланиши 33,4 фоиздан 39,1 фоизга кўтарилади. Бу кўрсаткич 2025 йилдагидан бироз паст, чунки янги штат ва дастурлар харажатлари январдан бошланади, тушум эса экспонатлар очилгандан кейин ўсади. Учинчи чоракда ёзги мавсум сабабли кўрсаткичлар пасаяди. Режа ойлик моделга асосланган; меценатлик маблағлари музей тушумига киритилмаган.
АСОСИЙ ИБОРА: Музей тушуми 2,3 баравар ортади; режа ойлик моделга асосланган.
ЎТИШ: Режани молиялаштириш ҳажми ва манбаларига ўтамиз.
АГАР СЎРАСА:
— Ташрифчилар сони камаяётган бир пайтда ўсиш қайси манбалар ҳисобига таъминланади? — Иккинчи қават ишга тушгач, асосий оқим йилнинг иккинчи ярмида тахминан 1,5 баравар кўпаяди. Бунга мактаб дастури (4 000 нафар), шунингдек тадбирлар, сайёҳлар ва корпоратив ташрифлар (4 000 нафар) қўшилади. Ҳар бир йўналиш учун алоҳида раҳбар масъул этиб белгиланади.
— Нега тушум 29 000 нафар эмас, 29 399 нафар бўйича ҳисобланган? — Тушум ва ўртача чек ойлик модель ҳажми бўйича ҳисобланган; ташрифчилар режаси эҳтиёткорлик юзасидан 29 000 нафаргача пастга яхлитланган. Консерватив сценарийда — 21 000 нафар, амбициоз сценарийда — 35 000 нафар.</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Жадвал: А вариант бўйича ривожланиш бюджети, шундан янги штат ва дастурлар, манбалар (ижара ва депозитлар, меценатлик), чорак охиридаги пул ва депозитлар; пастда — заҳира ўзгариши, бюджет таркиби, тавсия (А вариант) ва гуруҳ учун консолидацияланган таъсир.
НИМА ДЕЙМАН: 2027 йил учун ривожланиш бюджети А вариант бўйича 5 865,1 млн сўмни ташкил этади. Унинг асосий қисми экспозиция, инфратузилма ва сайтга, 1 154,7 млн сўми янги штат ва дастурларга йўналтирилади. Бюджет ижара тушуми ва депозитлар ҳисобидан молияланади, давлат бюджети маблағлари жалб этилмайди. Пул ва депозитлар йил давомида 840,0 млн сўмга камаяди, энг паст нуқтада ҳам 3 528,9 млн сўм заҳира сақланади. Ижара тушумининг 70,4 фоизи гуруҳ корхоналаридан келиб тушади, маъмурий бино харажатлари эса “Ўзавтосаноат” ҳисобига ўтади; маблағлар гуруҳ ичида қолади. А вариант тавсия этилади: 2-босқич назорат нуқтасидан кейин бошланади.
АСОСИЙ ИБОРА: Ривожланиш ижара тушуми ва депозитлар ҳисобидан, давлат бюджети маблағларисиз молияланади.
ЎТИШ: Ижрони назорат қилиш тартибига ўтамиз.
АГАР СЎРАСА:
— Бюджет Бошқарув ҳисоботидаги 1,0 млрд сўмдан нега фарқ қилади? — Ҳисоботдаги 1,0 млрд сўм эски экспонатлар таъмири ва сайтни қамрайди. Ривожланиш бюджетига бундан ташқари 1-босқич — 13 та янги экспонат киритилган, унинг қиймати 3 627,4 млн сўм.
— Меценатлик шартномалари имзоланмаса, режа бажариладими? — Режа меценатлик маблағларисиз ҳам бажарилади: бу ҳолда йил охирида заҳира 4 598,0 млн сўмни ташкил этади.
— Б вариант нимани назарда тутади? — Б вариантда 2-босқичнинг ярми 2027 йилда бошланади: бюджет 8 808,5 млн сўмни ташкил этади, йил охирида заҳира 1 988,3 млн сўмгача камаяди. Энг йирик ижарачи 2027 йил 1 июлдан чиқиб кетса, 640,8 млн сўм тақчиллик юзага келади.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Масъуллар схемаси (Бошқарув раиси, Васийлик кенгаши, музей директори, дастур, тижорат ва таълим раҳбарлари, бош ҳисобчи ва техник); бир саҳифалик ойлик ҳисобот (бешта кўрсаткич); 90 кун якуни (18.01.2027); назорат нуқтаси (15.10.2027) ва унинг тўртта шарти.
НИМА ДЕЙМАН: Ижро ҳар ой бешта кўрсаткич бўйича баҳоланади: ташрифчилар сони, музей тушуми, экспонатларнинг ишлаши, иккинчи қават ҳақидаги салбий фикрлар улуши, шунингдек нопрофил харажатлар ва бюджет ижроси. Бир саҳифалик ҳисобот ҳар ойнинг 10-санасигача Сизга тақдим этилади. Ҳар бир кўрсаткич учун масъул белгиланган: дастур раҳбари — экспонатлар, тижорат раҳбари — сотув ва тадбирлар, таълим раҳбари — мактаб дастури, бош ҳисобчи — алоҳида ҳисоб. Директор лавозими ҳозирда бўш; бу масала учинчи қарор билан ҳал этилади. 2027 йил 15 октябрдаги назорат нуқтасида тўртта шарт бажарилган бўлса, 2-босқич бўйича қарор қабул қилинади; акс ҳолда маблағлар депозитда сақланади ва 90 кунлик тузатиш режаси амалга оширилади.
АСОСИЙ ИБОРА: Ижро ҳар ой бешта кўрсаткич бўйича баҳоланади, 2-босқич бўйича қарор назорат нуқтасида қабул қилинади.
ЎТИШ: Режа ижросига таъсир кўрсатиши мумкин бўлган хатарларга тўхталамиз.
АГАР СЎРАСА:
— 90 кун якунида қандай натижа кутилади? — 2027 йил 18 январгача олтита қарорнинг ижроси бошланади, хатлов якунланади, дастур раҳбари тайинланади, 1-тўлқинга буюртма берилади ва декабрь учун биринчи ойлик ҳисобот тақдим этилади.
— Ижро учун шахсан ким масъул? — Ҳар бир кўрсаткич бўйича масъул шахс схемада кўрсатилган. Дастур раҳбари 2026 йил 15 декабргача тайинланади; ижро натижалари ҳар ойнинг 10-санасигача ойлик ҳисоботда акс эттирилади.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Жадвал: бешта хатар — эҳтимоллик, чоралар, масъул; биринчи қаторда — асосий хатар (экспонатлар кечикиши ёки бузилиши).
НИМА ДЕЙМАН: Асосий хатар — экспонатларнинг кечикиши ёки қайта ишдан чиқиши. Шу сабабли 1-тўлқинга буюртма 2026 йил 15 декабргача берилади, божхона расмийлаштируви учун саккиз ҳафта муддат ажратилган, 2027 йилдан штатга техник киритилади ва эҳтиёт қисмлар заҳираси яратилади. Биринчи қарор қабул қилинмаган тақдирда ҳам А вариантда йил охирида 3 792,7 млн сўм заҳира сақланади. Ташрифчилар сони режадан кам бўлиши хатарига қарши сайт, онлайн сотув, янги тарифлар ва мактаб дастури жорий этилади. Солиқ хатари бўйича маслаҳатчи хулосаси олинади ва алоҳида ҳисоб юритилади. Энг йирик ижарачи чиқиб кетган тақдирда ҳам А вариантда 2 372,8 млн сўм заҳира сақланади, чунки 2-босқич назорат нуқтасидан олдин бошланмайди.
АСОСИЙ ИБОРА: Асосий хатар — экспонатларнинг кечикиши; ҳар бир хатар бўйича чора ва масъул белгиланган.
ЎТИШ: Якунда кўриб чиқиш учун таклиф этилаётган қарорларга ўтамиз.
АГАР СЎРАСА:
— 1-тўлқин кечикса, натижа қандай ўзгаради? — Бу ҳолда консерватив сценарий амал қилади: экспонатлар 31.05, 31.07 ва 30.09 саналарида очилади, 2027 йилда ташрифчилар сони 21 000 нафарни ташкил этади. Кечикиш хатари январдан бошлаб ойлик ҳисоботда кузатиб борилади.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Қарор лойиҳаси (режа ва А вариант бюджетини маъқуллаш, М3 топшириқларини тасдиқлаш, назорат нуқтаси санасини белгилаш); олтита қарор жадвали: мазмуни, ижрочи, муддат, М3 банди; пастда — 1–2-қарорлар қабул қилинмаган ҳолатдаги оқибат.
НИМА ДЕЙМАН: Қарор лойиҳаси учта бандни ўз ичига олади: 2027 йил режаси ва А вариант бюджетини маъқуллаш, М3 топшириқларини тасдиқлаш ҳамда назорат нуқтаси санасини 2027 йил 15 октябрь этиб белгилаш. Топшириқлар олтита қарорни қамраб олади: маъмурий бино харажатларини 2027 йил 1 январдан “Ўзавтосаноат” ҳисобига ўтказиш ва солиқ маслаҳатчиси хулосасини олиш, ривожланиш бюджетини тасдиқлаш, янги штатни жорий этиш, гуруҳ корхоналари билан ижара ва меценатлик шартномаларини тузиш, тарифлар ва сайт техник топшириғини тасдиқлаш, ойлик ҳисоботни жорий этиш. Дастлабки икки қарор қабул қилинмаса, 1-босқич фақат депозитлар ҳисобидан молияланади ва солиқ хатари сақланиб қолади. Таклиф этилаётган қарорлар лойиҳаси кўриб чиқишингиз учун ҳавола этилади. Эътиборингиз учун ташаккур.
АСОСИЙ ИБОРА: Олтита қарор 2027 йилда ишлайдиган иккинчи қават ва 29 000 нафар ташрифчини таъминлайди.
ЎТИШ: Саволларингизга жавоб беришга тайёрмиз.
АГАР СЎРАСА:
— Режа Экспозицияни янгилаш дастуридан нимаси билан фарқ қилади? — Дастур экспонатларни 36 ой давомида яратиш режасидир. Мазкур стратегия эса фақат 2027 йилни қамраб олади ва молиялаштириш, муддатлар, масъуллар ҳамда қарорларни белгилайди. Экспонатлар рўйхати дастурдан олинган, ҳужжатлар бир-бирини такрорламайди.
— Қарорлар 2026 йил охиригача қабул қилинмаса, нима бўлади? — Бу ҳолда 1-тўлқинга буюртма бериш 15 декабрдан кейинга сурилади. Божхона расмийлаштируви учун зарур саккиз ҳафтани ҳисобга олганда, 31 мартдаги очилиш муддатига риоя этиб бўлмайди, касса тушумининг пасайиши эса давом этади.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1-босқичнинг 13 та экспонати: коди, номи, зонаси, очилиш санаси ва қиймати.
НИМА ДЕЙМАН: Илова савол туғилган тақдирда кўрсатилади.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Учта сценарий (консерватив, базавий, амбициоз), Бошқарув ҳисоботи (12.09.2026) сценарийлари билан қиёс ва фарқ сабаби.
НИМА ДЕЙМАН: Илова савол туғилган тақдирда кўрсатилади.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10 кўрсаткич: 2026 йил базаси ва чораклар бўйича мақсадлар; ойлик ҳисоботга киритиладиган бешта кўрсаткич белгиланган.
НИМА ДЕЙМАН: Илова савол туғилган тақдирда кўрсатилади.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А ва Б вариантлар бўйича ривожланиш бюджети ойлар кесимида; чорак охиридаги пул ва депозитлар, шу жумладан энг йирик ижарачи чиққан ҳолат.
НИМА ДЕЙМАН: Илова савол туғилган тақдирда кўрсатилади.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Дастлабки 90 кун (20.10.2026 – 18.01.2027): олтита вазифа ҳафталар бўйича ва 90 кун якунидаги натижа.
НИМА ДЕЙМАН: Илова савол туғилган тақдирда кўрсатилади.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ЭКРАНДА: Асосий фаразлар, манбалар ва маълумот чекловлари.
НИМА ДЕЙМАН: Илова савол туғилган тақдирда кўрсатилади.</a:t>
            </a:r>
            <a:endParaRPr lang="en-US" dirty="0"/>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Content Placeholder 2"/>
          <p:cNvSpPr>
            <a:spLocks noGrp="1"/>
          </p:cNvSpPr>
          <p:nvPr>
            <p:ph idx="1"/>
          </p:nvPr>
        </p:nvSpPr>
        <p:spPr>
          <a:xfrm>
            <a:off x="812758" y="0"/>
            <a:ext cx="14629667" cy="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0"/>
            <a:ext cx="1036294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59" y="2906713"/>
            <a:ext cx="1036294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8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5"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4" y="1535113"/>
            <a:ext cx="538678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4" y="2174875"/>
            <a:ext cx="538678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1" y="1535113"/>
            <a:ext cx="538889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1" y="2174875"/>
            <a:ext cx="538889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5553854" y="0"/>
            <a:ext cx="5147475" cy="0"/>
          </a:xfrm>
        </p:spPr>
        <p:txBody>
          <a:bodyPr/>
          <a:lstStyle/>
          <a:p>
            <a:endParaRPr lang="en-US"/>
          </a:p>
        </p:txBody>
      </p:sp>
      <p:sp>
        <p:nvSpPr>
          <p:cNvPr id="9" name="Slide Number Placeholder 8"/>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5553854" y="0"/>
            <a:ext cx="5147475" cy="0"/>
          </a:xfrm>
        </p:spPr>
        <p:txBody>
          <a:bodyPr/>
          <a:lstStyle/>
          <a:p>
            <a:endParaRPr lang="en-US"/>
          </a:p>
        </p:txBody>
      </p:sp>
      <p:sp>
        <p:nvSpPr>
          <p:cNvPr id="5" name="Slide Number Placeholder 4"/>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5553854" y="0"/>
            <a:ext cx="5147475" cy="0"/>
          </a:xfrm>
        </p:spPr>
        <p:txBody>
          <a:bodyPr/>
          <a:lstStyle/>
          <a:p>
            <a:endParaRPr lang="en-US"/>
          </a:p>
        </p:txBody>
      </p:sp>
      <p:sp>
        <p:nvSpPr>
          <p:cNvPr id="4" name="Slide Number Placeholder 3"/>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3050"/>
            <a:ext cx="401098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4" y="1435100"/>
            <a:ext cx="40109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7" y="4800600"/>
            <a:ext cx="7315017"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7" y="612775"/>
            <a:ext cx="7315017"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7" y="5367338"/>
            <a:ext cx="731501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812758" y="0"/>
            <a:ext cx="14629667" cy="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9" y="274638"/>
            <a:ext cx="27431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274638"/>
            <a:ext cx="80261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4" y="274638"/>
            <a:ext cx="1097252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4" y="1600200"/>
            <a:ext cx="1097252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2424"/>
        </a:solidFill>
        <a:effectLst/>
      </p:bgPr>
    </p:bg>
    <p:spTree>
      <p:nvGrpSpPr>
        <p:cNvPr id="1" name=""/>
        <p:cNvGrpSpPr/>
        <p:nvPr/>
      </p:nvGrpSpPr>
      <p:grpSpPr/>
      <p:pic>
        <p:nvPicPr>
          <p:cNvPr id="2" name="Gradient" descr="">
            <a:extLst>
              <a:ext uri="{C183D7F6-B498-43B3-948B-1728B52AA6E4}">
                <ns0:decorative xmlns:ns0="http://schemas.microsoft.com/office/drawing/2017/decorative" val="1"/>
              </a:ext>
            </a:extLst>
          </p:cNvPr>
          <p:cNvPicPr>
            <a:picLocks noChangeAspect="1"/>
          </p:cNvPicPr>
          <p:nvPr/>
        </p:nvPicPr>
        <p:blipFill>
          <a:blip r:embed="rId2"/>
          <a:srcRect l="1" r="1"/>
          <a:stretch>
            <a:fillRect/>
          </a:stretch>
        </p:blipFill>
        <p:spPr>
          <a:xfrm>
            <a:off x="0" y="0"/>
            <a:ext cx="12191695" cy="6858000"/>
          </a:xfrm>
          <a:prstGeom prst="rect">
            <a:avLst/>
          </a:prstGeom>
        </p:spPr>
      </p:pic>
      <p:sp>
        <p:nvSpPr>
          <p:cNvPr id="3" name="Logo card"/>
          <p:cNvSpPr/>
          <p:nvPr/>
        </p:nvSpPr>
        <p:spPr>
          <a:xfrm>
            <a:off x="548640" y="548640"/>
            <a:ext cx="2651760" cy="1133856"/>
          </a:xfrm>
          <a:prstGeom prst="roundRect">
            <a:avLst>
              <a:gd name="adj" fmla="val 32258"/>
            </a:avLst>
          </a:prstGeom>
          <a:solidFill>
            <a:srgbClr val="F6F3F1"/>
          </a:solidFill>
          <a:ln>
            <a:noFill/>
          </a:ln>
          <a:effectLst/>
        </p:spPr>
        <p:txBody>
          <a:bodyPr rtlCol="0" anchor="ctr" lIns="0" rIns="0" tIns="0" bIns="0"/>
          <a:lstStyle/>
          <a:p>
            <a:pPr algn="ctr"/>
          </a:p>
        </p:txBody>
      </p:sp>
      <p:pic>
        <p:nvPicPr>
          <p:cNvPr id="4" name="Logo" descr="Тошкент политехника музейи логотипи"/>
          <p:cNvPicPr>
            <a:picLocks noChangeAspect="1"/>
          </p:cNvPicPr>
          <p:nvPr/>
        </p:nvPicPr>
        <p:blipFill>
          <a:blip r:embed="rId3"/>
          <a:stretch>
            <a:fillRect/>
          </a:stretch>
        </p:blipFill>
        <p:spPr>
          <a:xfrm>
            <a:off x="731520" y="634079"/>
            <a:ext cx="2286000" cy="962978"/>
          </a:xfrm>
          <a:prstGeom prst="rect">
            <a:avLst/>
          </a:prstGeom>
        </p:spPr>
      </p:pic>
      <p:pic>
        <p:nvPicPr>
          <p:cNvPr id="5" name="Photo main hall" descr="Музейнинг бош зали, 1-қават: ретро-автомобиллар"/>
          <p:cNvPicPr>
            <a:picLocks noChangeAspect="1"/>
          </p:cNvPicPr>
          <p:nvPr/>
        </p:nvPicPr>
        <p:blipFill>
          <a:blip r:embed="rId4"/>
          <a:srcRect l="8303" r="5535"/>
          <a:stretch>
            <a:fillRect/>
          </a:stretch>
        </p:blipFill>
        <p:spPr>
          <a:xfrm>
            <a:off x="7619695" y="548640"/>
            <a:ext cx="4023360" cy="5257800"/>
          </a:xfrm>
          <a:prstGeom prst="roundRect">
            <a:avLst>
              <a:gd name="adj" fmla="val 6818"/>
            </a:avLst>
          </a:prstGeom>
        </p:spPr>
      </p:pic>
      <p:sp>
        <p:nvSpPr>
          <p:cNvPr id="6" name="Photo caption"/>
          <p:cNvSpPr txBox="1"/>
          <p:nvPr/>
        </p:nvSpPr>
        <p:spPr>
          <a:xfrm>
            <a:off x="7619695" y="5979160"/>
            <a:ext cx="4023360" cy="330200"/>
          </a:xfrm>
          <a:prstGeom prst="rect">
            <a:avLst/>
          </a:prstGeom>
          <a:noFill/>
        </p:spPr>
        <p:txBody>
          <a:bodyPr wrap="square" lIns="0" rIns="0" tIns="0" bIns="0" anchor="b">
            <a:noAutofit/>
          </a:bodyPr>
          <a:lstStyle/>
          <a:p>
            <a:pPr algn="l">
              <a:lnSpc>
                <a:spcPts val="1300"/>
              </a:lnSpc>
            </a:pPr>
            <a:r>
              <a:rPr sz="1000" b="0" i="0" lang="uz-Cyrl-UZ">
                <a:solidFill>
                  <a:srgbClr val="CECAC8"/>
                </a:solidFill>
                <a:latin typeface="Consolas"/>
              </a:rPr>
              <a:t>Бош зал, 1-қават: ретро-автомобиллар экспозицияси (видеокадр, 2022 йил)</a:t>
            </a:r>
          </a:p>
        </p:txBody>
      </p:sp>
      <p:sp>
        <p:nvSpPr>
          <p:cNvPr id="7" name="Title"/>
          <p:cNvSpPr txBox="1"/>
          <p:nvPr/>
        </p:nvSpPr>
        <p:spPr>
          <a:xfrm>
            <a:off x="548640" y="2057400"/>
            <a:ext cx="6613855" cy="2956560"/>
          </a:xfrm>
          <a:prstGeom prst="rect">
            <a:avLst/>
          </a:prstGeom>
          <a:noFill/>
        </p:spPr>
        <p:txBody>
          <a:bodyPr wrap="square" lIns="0" rIns="0" tIns="0" bIns="0" anchor="t">
            <a:noAutofit/>
          </a:bodyPr>
          <a:lstStyle/>
          <a:p>
            <a:pPr algn="l">
              <a:lnSpc>
                <a:spcPts val="5820"/>
              </a:lnSpc>
            </a:pPr>
            <a:r>
              <a:rPr sz="5200" b="0" i="0" lang="uz-Cyrl-UZ" spc="-104">
                <a:solidFill>
                  <a:srgbClr val="F6F3F1"/>
                </a:solidFill>
                <a:latin typeface="Cambria"/>
              </a:rPr>
              <a:t>Тошкент политехника музейини 2027 йилда ривожлантириш стратегияси</a:t>
            </a:r>
          </a:p>
        </p:txBody>
      </p:sp>
      <p:sp>
        <p:nvSpPr>
          <p:cNvPr id="8" name="Subtitle"/>
          <p:cNvSpPr txBox="1"/>
          <p:nvPr/>
        </p:nvSpPr>
        <p:spPr>
          <a:xfrm>
            <a:off x="548640" y="5288280"/>
            <a:ext cx="6613855" cy="274320"/>
          </a:xfrm>
          <a:prstGeom prst="rect">
            <a:avLst/>
          </a:prstGeom>
          <a:noFill/>
        </p:spPr>
        <p:txBody>
          <a:bodyPr wrap="square" lIns="0" rIns="0" tIns="0" bIns="0" anchor="t">
            <a:noAutofit/>
          </a:bodyPr>
          <a:lstStyle/>
          <a:p>
            <a:pPr algn="l">
              <a:lnSpc>
                <a:spcPts val="2100"/>
              </a:lnSpc>
            </a:pPr>
            <a:r>
              <a:rPr sz="1600" b="0" i="0" lang="uz-Cyrl-UZ">
                <a:solidFill>
                  <a:srgbClr val="CECAC8"/>
                </a:solidFill>
                <a:latin typeface="Consolas"/>
              </a:rPr>
              <a:t>Йиллик режа, бюджет ва қарор лойиҳалари</a:t>
            </a:r>
          </a:p>
        </p:txBody>
      </p:sp>
      <p:sp>
        <p:nvSpPr>
          <p:cNvPr id="9" name="Rounded Rectangle 8"/>
          <p:cNvSpPr/>
          <p:nvPr/>
        </p:nvSpPr>
        <p:spPr>
          <a:xfrm>
            <a:off x="548640" y="5998464"/>
            <a:ext cx="2980878" cy="310896"/>
          </a:xfrm>
          <a:prstGeom prst="roundRect">
            <a:avLst>
              <a:gd name="adj" fmla="val 50000"/>
            </a:avLst>
          </a:prstGeom>
          <a:noFill/>
          <a:ln w="12700">
            <a:solidFill>
              <a:srgbClr val="CECAC8"/>
            </a:solidFill>
          </a:ln>
          <a:effectLst/>
        </p:spPr>
        <p:txBody>
          <a:bodyPr rtlCol="0" anchor="ctr" lIns="0" rIns="0" tIns="0" bIns="0" wrap="none"/>
          <a:lstStyle/>
          <a:p>
            <a:pPr algn="ctr">
              <a:lnSpc>
                <a:spcPts val="1400"/>
              </a:lnSpc>
            </a:pPr>
            <a:r>
              <a:rPr sz="1100" b="0" i="0" lang="uz-Cyrl-UZ">
                <a:solidFill>
                  <a:srgbClr val="F6F3F1"/>
                </a:solidFill>
                <a:latin typeface="Consolas"/>
              </a:rPr>
              <a:t>“ЎЗАВТОСАНОАТ” АЖ БОШҚАРУВИ РАИСИГА</a:t>
            </a:r>
          </a:p>
        </p:txBody>
      </p:sp>
      <p:sp>
        <p:nvSpPr>
          <p:cNvPr id="10" name="Rounded Rectangle 9"/>
          <p:cNvSpPr/>
          <p:nvPr/>
        </p:nvSpPr>
        <p:spPr>
          <a:xfrm>
            <a:off x="3712398" y="5998464"/>
            <a:ext cx="2443224" cy="310896"/>
          </a:xfrm>
          <a:prstGeom prst="roundRect">
            <a:avLst>
              <a:gd name="adj" fmla="val 50000"/>
            </a:avLst>
          </a:prstGeom>
          <a:noFill/>
          <a:ln w="12700">
            <a:solidFill>
              <a:srgbClr val="CECAC8"/>
            </a:solidFill>
          </a:ln>
          <a:effectLst/>
        </p:spPr>
        <p:txBody>
          <a:bodyPr rtlCol="0" anchor="ctr" lIns="0" rIns="0" tIns="0" bIns="0" wrap="none"/>
          <a:lstStyle/>
          <a:p>
            <a:pPr algn="ctr">
              <a:lnSpc>
                <a:spcPts val="1400"/>
              </a:lnSpc>
            </a:pPr>
            <a:r>
              <a:rPr sz="1100" b="0" i="0" lang="uz-Cyrl-UZ">
                <a:solidFill>
                  <a:srgbClr val="F6F3F1"/>
                </a:solidFill>
                <a:latin typeface="Consolas"/>
              </a:rPr>
              <a:t>ТОШКЕНТ, 2026 ЙИЛ 20 ОКТЯБРЬ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1549462"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01 · АСОСИЙ МАЗМУН</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Олтита қарор билан 29 000 ташрифчига эришилади</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02 / 20</a:t>
            </a:r>
          </a:p>
        </p:txBody>
      </p:sp>
      <p:sp>
        <p:nvSpPr>
          <p:cNvPr id="5" name="Source"/>
          <p:cNvSpPr txBox="1"/>
          <p:nvPr/>
        </p:nvSpPr>
        <p:spPr>
          <a:xfrm>
            <a:off x="548640" y="5871210"/>
            <a:ext cx="9905695" cy="43815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2026 йил кутилиши = январь–август амалда + сентябрь–декабрь 2025 × (1 − 17,3 %). Маъмурий бино харажатлари 2027 = 2025 йил амалда × 1,08. Ташрифчилар режаси ойлик моделга асосланган; Бошқарув ҳисоботи (12.09.2026) сценарийлари билан қиёслаш — 2-иловада. Манба: касса посешения 2025-2026.xlsx; доход+расход 01012026-31082026.xlsx (свод!D3–D5); М5 “Ташрифчилар 2027”, “Бюджет 2027”, “Кириш”.</a:t>
            </a:r>
          </a:p>
        </p:txBody>
      </p:sp>
      <p:sp>
        <p:nvSpPr>
          <p:cNvPr id="6" name="TextBox 5"/>
          <p:cNvSpPr txBox="1"/>
          <p:nvPr/>
        </p:nvSpPr>
        <p:spPr>
          <a:xfrm>
            <a:off x="548640" y="1691640"/>
            <a:ext cx="3063240" cy="182880"/>
          </a:xfrm>
          <a:prstGeom prst="rect">
            <a:avLst/>
          </a:prstGeom>
          <a:noFill/>
        </p:spPr>
        <p:txBody>
          <a:bodyPr wrap="square" lIns="0" rIns="0" tIns="0" bIns="0" anchor="t">
            <a:noAutofit/>
          </a:bodyPr>
          <a:lstStyle/>
          <a:p>
            <a:pPr algn="l">
              <a:lnSpc>
                <a:spcPts val="1300"/>
              </a:lnSpc>
            </a:pPr>
            <a:r>
              <a:rPr sz="1000" b="0" i="0" lang="uz-Cyrl-UZ">
                <a:solidFill>
                  <a:srgbClr val="242424"/>
                </a:solidFill>
                <a:latin typeface="Consolas"/>
              </a:rPr>
              <a:t>2026 ЙИЛ</a:t>
            </a:r>
            <a:r>
              <a:rPr sz="1000" b="0" i="0" lang="uz-Cyrl-UZ">
                <a:solidFill>
                  <a:srgbClr val="797776"/>
                </a:solidFill>
                <a:latin typeface="Consolas"/>
              </a:rPr>
              <a:t> · АМАЛДА ВА КУТИЛИШ</a:t>
            </a:r>
          </a:p>
        </p:txBody>
      </p:sp>
      <p:sp>
        <p:nvSpPr>
          <p:cNvPr id="7" name="TextBox 6"/>
          <p:cNvSpPr txBox="1"/>
          <p:nvPr/>
        </p:nvSpPr>
        <p:spPr>
          <a:xfrm>
            <a:off x="3886200" y="1691640"/>
            <a:ext cx="3063240" cy="182880"/>
          </a:xfrm>
          <a:prstGeom prst="rect">
            <a:avLst/>
          </a:prstGeom>
          <a:noFill/>
        </p:spPr>
        <p:txBody>
          <a:bodyPr wrap="square" lIns="0" rIns="0" tIns="0" bIns="0" anchor="t">
            <a:noAutofit/>
          </a:bodyPr>
          <a:lstStyle/>
          <a:p>
            <a:pPr algn="l">
              <a:lnSpc>
                <a:spcPts val="1300"/>
              </a:lnSpc>
            </a:pPr>
            <a:r>
              <a:rPr sz="1000" b="0" i="0" lang="uz-Cyrl-UZ">
                <a:solidFill>
                  <a:srgbClr val="242424"/>
                </a:solidFill>
                <a:latin typeface="Consolas"/>
              </a:rPr>
              <a:t>2027 ЙИЛ ЯКУНИ</a:t>
            </a:r>
            <a:r>
              <a:rPr sz="1000" b="0" i="0" lang="uz-Cyrl-UZ">
                <a:solidFill>
                  <a:srgbClr val="797776"/>
                </a:solidFill>
                <a:latin typeface="Consolas"/>
              </a:rPr>
              <a:t> · РЕЖА</a:t>
            </a:r>
          </a:p>
        </p:txBody>
      </p:sp>
      <p:cxnSp>
        <p:nvCxnSpPr>
          <p:cNvPr id="8" name="Connector 7"/>
          <p:cNvCxnSpPr/>
          <p:nvPr/>
        </p:nvCxnSpPr>
        <p:spPr>
          <a:xfrm>
            <a:off x="548640" y="2002536"/>
            <a:ext cx="6400800" cy="0"/>
          </a:xfrm>
          <a:prstGeom prst="line">
            <a:avLst/>
          </a:prstGeom>
          <a:ln w="12700">
            <a:solidFill>
              <a:srgbClr val="CECAC8"/>
            </a:solidFill>
          </a:ln>
        </p:spPr>
      </p:cxnSp>
      <p:sp>
        <p:nvSpPr>
          <p:cNvPr id="9" name="TextBox 8"/>
          <p:cNvSpPr txBox="1"/>
          <p:nvPr/>
        </p:nvSpPr>
        <p:spPr>
          <a:xfrm>
            <a:off x="548640" y="2148840"/>
            <a:ext cx="3063240"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ТАШРИФЧИЛАР, КИШИ</a:t>
            </a:r>
          </a:p>
        </p:txBody>
      </p:sp>
      <p:sp>
        <p:nvSpPr>
          <p:cNvPr id="10" name="TextBox 9"/>
          <p:cNvSpPr txBox="1"/>
          <p:nvPr/>
        </p:nvSpPr>
        <p:spPr>
          <a:xfrm>
            <a:off x="548640" y="2423160"/>
            <a:ext cx="1240758" cy="429768"/>
          </a:xfrm>
          <a:prstGeom prst="rect">
            <a:avLst/>
          </a:prstGeom>
          <a:noFill/>
        </p:spPr>
        <p:txBody>
          <a:bodyPr wrap="square" lIns="0" rIns="0" tIns="0" bIns="0" anchor="t">
            <a:noAutofit/>
          </a:bodyPr>
          <a:lstStyle/>
          <a:p>
            <a:pPr algn="l">
              <a:lnSpc>
                <a:spcPts val="3400"/>
              </a:lnSpc>
            </a:pPr>
            <a:r>
              <a:rPr sz="3200" b="0" i="0" lang="uz-Cyrl-UZ" spc="-64">
                <a:solidFill>
                  <a:srgbClr val="242424"/>
                </a:solidFill>
                <a:latin typeface="Cambria"/>
              </a:rPr>
              <a:t>20 083</a:t>
            </a:r>
          </a:p>
        </p:txBody>
      </p:sp>
      <p:sp>
        <p:nvSpPr>
          <p:cNvPr id="11" name="TextBox 10"/>
          <p:cNvSpPr txBox="1"/>
          <p:nvPr/>
        </p:nvSpPr>
        <p:spPr>
          <a:xfrm>
            <a:off x="1972278" y="2459736"/>
            <a:ext cx="1639602" cy="5905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кутилиш; 2025 йил амалда: 22 437</a:t>
            </a:r>
          </a:p>
        </p:txBody>
      </p:sp>
      <p:sp>
        <p:nvSpPr>
          <p:cNvPr id="12" name="TextBox 11"/>
          <p:cNvSpPr txBox="1"/>
          <p:nvPr/>
        </p:nvSpPr>
        <p:spPr>
          <a:xfrm>
            <a:off x="3886200" y="2148840"/>
            <a:ext cx="3063240"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ТАШРИФЧИЛАР, КИШИ</a:t>
            </a:r>
          </a:p>
        </p:txBody>
      </p:sp>
      <p:sp>
        <p:nvSpPr>
          <p:cNvPr id="13" name="TextBox 12"/>
          <p:cNvSpPr txBox="1"/>
          <p:nvPr/>
        </p:nvSpPr>
        <p:spPr>
          <a:xfrm>
            <a:off x="3886200" y="2423160"/>
            <a:ext cx="1240758" cy="429768"/>
          </a:xfrm>
          <a:prstGeom prst="rect">
            <a:avLst/>
          </a:prstGeom>
          <a:noFill/>
        </p:spPr>
        <p:txBody>
          <a:bodyPr wrap="square" lIns="0" rIns="0" tIns="0" bIns="0" anchor="t">
            <a:noAutofit/>
          </a:bodyPr>
          <a:lstStyle/>
          <a:p>
            <a:pPr algn="l">
              <a:lnSpc>
                <a:spcPts val="3400"/>
              </a:lnSpc>
            </a:pPr>
            <a:r>
              <a:rPr sz="3200" b="0" i="0" lang="uz-Cyrl-UZ" spc="-64">
                <a:solidFill>
                  <a:srgbClr val="2B59D1"/>
                </a:solidFill>
                <a:latin typeface="Cambria"/>
              </a:rPr>
              <a:t>29 000</a:t>
            </a:r>
          </a:p>
        </p:txBody>
      </p:sp>
      <p:sp>
        <p:nvSpPr>
          <p:cNvPr id="14" name="TextBox 13"/>
          <p:cNvSpPr txBox="1"/>
          <p:nvPr/>
        </p:nvSpPr>
        <p:spPr>
          <a:xfrm>
            <a:off x="5309838" y="2459736"/>
            <a:ext cx="1639602" cy="5905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2026 йилга нисбатан ×1,4; 2025 йилга нисбатан ×1,3</a:t>
            </a:r>
          </a:p>
        </p:txBody>
      </p:sp>
      <p:cxnSp>
        <p:nvCxnSpPr>
          <p:cNvPr id="15" name="Connector 14"/>
          <p:cNvCxnSpPr/>
          <p:nvPr/>
        </p:nvCxnSpPr>
        <p:spPr>
          <a:xfrm>
            <a:off x="548640" y="3160014"/>
            <a:ext cx="6400800" cy="0"/>
          </a:xfrm>
          <a:prstGeom prst="line">
            <a:avLst/>
          </a:prstGeom>
          <a:ln w="12700">
            <a:solidFill>
              <a:srgbClr val="CECAC8"/>
            </a:solidFill>
          </a:ln>
        </p:spPr>
      </p:cxnSp>
      <p:sp>
        <p:nvSpPr>
          <p:cNvPr id="16" name="TextBox 15"/>
          <p:cNvSpPr txBox="1"/>
          <p:nvPr/>
        </p:nvSpPr>
        <p:spPr>
          <a:xfrm>
            <a:off x="548640" y="3306318"/>
            <a:ext cx="3063240"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МУЗЕЙ ТУШУМИ, МЛН СЎМ</a:t>
            </a:r>
          </a:p>
        </p:txBody>
      </p:sp>
      <p:sp>
        <p:nvSpPr>
          <p:cNvPr id="17" name="TextBox 16"/>
          <p:cNvSpPr txBox="1"/>
          <p:nvPr/>
        </p:nvSpPr>
        <p:spPr>
          <a:xfrm>
            <a:off x="548640" y="3580638"/>
            <a:ext cx="1023461" cy="429768"/>
          </a:xfrm>
          <a:prstGeom prst="rect">
            <a:avLst/>
          </a:prstGeom>
          <a:noFill/>
        </p:spPr>
        <p:txBody>
          <a:bodyPr wrap="square" lIns="0" rIns="0" tIns="0" bIns="0" anchor="t">
            <a:noAutofit/>
          </a:bodyPr>
          <a:lstStyle/>
          <a:p>
            <a:pPr algn="l">
              <a:lnSpc>
                <a:spcPts val="3400"/>
              </a:lnSpc>
            </a:pPr>
            <a:r>
              <a:rPr sz="3200" b="0" i="0" lang="uz-Cyrl-UZ" spc="-64">
                <a:solidFill>
                  <a:srgbClr val="242424"/>
                </a:solidFill>
                <a:latin typeface="Cambria"/>
              </a:rPr>
              <a:t>464,6</a:t>
            </a:r>
          </a:p>
        </p:txBody>
      </p:sp>
      <p:sp>
        <p:nvSpPr>
          <p:cNvPr id="18" name="TextBox 17"/>
          <p:cNvSpPr txBox="1"/>
          <p:nvPr/>
        </p:nvSpPr>
        <p:spPr>
          <a:xfrm>
            <a:off x="1754981" y="3617214"/>
            <a:ext cx="1856899" cy="5905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кутилиш; январь–август касса тушуми: −17,3 % (амалда)</a:t>
            </a:r>
          </a:p>
        </p:txBody>
      </p:sp>
      <p:sp>
        <p:nvSpPr>
          <p:cNvPr id="19" name="TextBox 18"/>
          <p:cNvSpPr txBox="1"/>
          <p:nvPr/>
        </p:nvSpPr>
        <p:spPr>
          <a:xfrm>
            <a:off x="3886200" y="3306318"/>
            <a:ext cx="3063240"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МУЗЕЙ ТУШУМИ, МЛН СЎМ</a:t>
            </a:r>
          </a:p>
        </p:txBody>
      </p:sp>
      <p:sp>
        <p:nvSpPr>
          <p:cNvPr id="20" name="TextBox 19"/>
          <p:cNvSpPr txBox="1"/>
          <p:nvPr/>
        </p:nvSpPr>
        <p:spPr>
          <a:xfrm>
            <a:off x="3886200" y="3580638"/>
            <a:ext cx="1349312" cy="429768"/>
          </a:xfrm>
          <a:prstGeom prst="rect">
            <a:avLst/>
          </a:prstGeom>
          <a:noFill/>
        </p:spPr>
        <p:txBody>
          <a:bodyPr wrap="square" lIns="0" rIns="0" tIns="0" bIns="0" anchor="t">
            <a:noAutofit/>
          </a:bodyPr>
          <a:lstStyle/>
          <a:p>
            <a:pPr algn="l">
              <a:lnSpc>
                <a:spcPts val="3400"/>
              </a:lnSpc>
            </a:pPr>
            <a:r>
              <a:rPr sz="3200" b="0" i="0" lang="uz-Cyrl-UZ" spc="-64">
                <a:solidFill>
                  <a:srgbClr val="242424"/>
                </a:solidFill>
                <a:latin typeface="Cambria"/>
              </a:rPr>
              <a:t>1 046,3</a:t>
            </a:r>
          </a:p>
        </p:txBody>
      </p:sp>
      <p:sp>
        <p:nvSpPr>
          <p:cNvPr id="21" name="TextBox 20"/>
          <p:cNvSpPr txBox="1"/>
          <p:nvPr/>
        </p:nvSpPr>
        <p:spPr>
          <a:xfrm>
            <a:off x="5418392" y="3617214"/>
            <a:ext cx="1531049" cy="5905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×2,3; меценатликсиз</a:t>
            </a:r>
          </a:p>
        </p:txBody>
      </p:sp>
      <p:cxnSp>
        <p:nvCxnSpPr>
          <p:cNvPr id="22" name="Connector 21"/>
          <p:cNvCxnSpPr/>
          <p:nvPr/>
        </p:nvCxnSpPr>
        <p:spPr>
          <a:xfrm>
            <a:off x="548640" y="4317492"/>
            <a:ext cx="6400800" cy="0"/>
          </a:xfrm>
          <a:prstGeom prst="line">
            <a:avLst/>
          </a:prstGeom>
          <a:ln w="12700">
            <a:solidFill>
              <a:srgbClr val="CECAC8"/>
            </a:solidFill>
          </a:ln>
        </p:spPr>
      </p:cxnSp>
      <p:sp>
        <p:nvSpPr>
          <p:cNvPr id="23" name="TextBox 22"/>
          <p:cNvSpPr txBox="1"/>
          <p:nvPr/>
        </p:nvSpPr>
        <p:spPr>
          <a:xfrm>
            <a:off x="548640" y="4463796"/>
            <a:ext cx="3063240"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ТУШУМДАГИ МУЗЕЙ ФАОЛИЯТИ УЛУШИ</a:t>
            </a:r>
          </a:p>
        </p:txBody>
      </p:sp>
      <p:sp>
        <p:nvSpPr>
          <p:cNvPr id="24" name="TextBox 23"/>
          <p:cNvSpPr txBox="1"/>
          <p:nvPr/>
        </p:nvSpPr>
        <p:spPr>
          <a:xfrm>
            <a:off x="548640" y="4738116"/>
            <a:ext cx="1021874" cy="429768"/>
          </a:xfrm>
          <a:prstGeom prst="rect">
            <a:avLst/>
          </a:prstGeom>
          <a:noFill/>
        </p:spPr>
        <p:txBody>
          <a:bodyPr wrap="square" lIns="0" rIns="0" tIns="0" bIns="0" anchor="t">
            <a:noAutofit/>
          </a:bodyPr>
          <a:lstStyle/>
          <a:p>
            <a:pPr algn="l">
              <a:lnSpc>
                <a:spcPts val="3400"/>
              </a:lnSpc>
            </a:pPr>
            <a:r>
              <a:rPr sz="3200" b="0" i="0" lang="uz-Cyrl-UZ" spc="-64">
                <a:solidFill>
                  <a:srgbClr val="242424"/>
                </a:solidFill>
                <a:latin typeface="Cambria"/>
              </a:rPr>
              <a:t>3,5 %</a:t>
            </a:r>
          </a:p>
        </p:txBody>
      </p:sp>
      <p:sp>
        <p:nvSpPr>
          <p:cNvPr id="25" name="TextBox 24"/>
          <p:cNvSpPr txBox="1"/>
          <p:nvPr/>
        </p:nvSpPr>
        <p:spPr>
          <a:xfrm>
            <a:off x="1753394" y="4774692"/>
            <a:ext cx="1858486" cy="429768"/>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2026 йил январь–август, амалда</a:t>
            </a:r>
          </a:p>
        </p:txBody>
      </p:sp>
      <p:sp>
        <p:nvSpPr>
          <p:cNvPr id="26" name="TextBox 25"/>
          <p:cNvSpPr txBox="1"/>
          <p:nvPr/>
        </p:nvSpPr>
        <p:spPr>
          <a:xfrm>
            <a:off x="3886200" y="4463796"/>
            <a:ext cx="3063240"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ИШГА ТУШИРИЛГАН ЯНГИ ЭКСПОНАТЛАР</a:t>
            </a:r>
          </a:p>
        </p:txBody>
      </p:sp>
      <p:sp>
        <p:nvSpPr>
          <p:cNvPr id="27" name="TextBox 26"/>
          <p:cNvSpPr txBox="1"/>
          <p:nvPr/>
        </p:nvSpPr>
        <p:spPr>
          <a:xfrm>
            <a:off x="3886200" y="4738116"/>
            <a:ext cx="981377" cy="429768"/>
          </a:xfrm>
          <a:prstGeom prst="rect">
            <a:avLst/>
          </a:prstGeom>
          <a:noFill/>
        </p:spPr>
        <p:txBody>
          <a:bodyPr wrap="square" lIns="0" rIns="0" tIns="0" bIns="0" anchor="t">
            <a:noAutofit/>
          </a:bodyPr>
          <a:lstStyle/>
          <a:p>
            <a:pPr algn="l">
              <a:lnSpc>
                <a:spcPts val="3400"/>
              </a:lnSpc>
            </a:pPr>
            <a:r>
              <a:rPr sz="3200" b="0" i="0" lang="uz-Cyrl-UZ" spc="-64">
                <a:solidFill>
                  <a:srgbClr val="242424"/>
                </a:solidFill>
                <a:latin typeface="Cambria"/>
              </a:rPr>
              <a:t>13 та</a:t>
            </a:r>
          </a:p>
        </p:txBody>
      </p:sp>
      <p:sp>
        <p:nvSpPr>
          <p:cNvPr id="28" name="TextBox 27"/>
          <p:cNvSpPr txBox="1"/>
          <p:nvPr/>
        </p:nvSpPr>
        <p:spPr>
          <a:xfrm>
            <a:off x="5050457" y="4774692"/>
            <a:ext cx="1898983" cy="429768"/>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30.06.2027 йилгача</a:t>
            </a:r>
          </a:p>
        </p:txBody>
      </p:sp>
      <p:cxnSp>
        <p:nvCxnSpPr>
          <p:cNvPr id="29" name="Connector 28"/>
          <p:cNvCxnSpPr/>
          <p:nvPr/>
        </p:nvCxnSpPr>
        <p:spPr>
          <a:xfrm>
            <a:off x="548640" y="5314188"/>
            <a:ext cx="6400800" cy="0"/>
          </a:xfrm>
          <a:prstGeom prst="line">
            <a:avLst/>
          </a:prstGeom>
          <a:ln w="12700">
            <a:solidFill>
              <a:srgbClr val="CECAC8"/>
            </a:solidFill>
          </a:ln>
        </p:spPr>
      </p:cxnSp>
      <p:sp>
        <p:nvSpPr>
          <p:cNvPr id="30" name="Decisions card"/>
          <p:cNvSpPr/>
          <p:nvPr/>
        </p:nvSpPr>
        <p:spPr>
          <a:xfrm>
            <a:off x="7406640" y="1691640"/>
            <a:ext cx="4236415" cy="3905250"/>
          </a:xfrm>
          <a:prstGeom prst="roundRect">
            <a:avLst>
              <a:gd name="adj" fmla="val 9365"/>
            </a:avLst>
          </a:prstGeom>
          <a:solidFill>
            <a:srgbClr val="CFDAF5"/>
          </a:solidFill>
          <a:ln>
            <a:noFill/>
          </a:ln>
          <a:effectLst/>
        </p:spPr>
        <p:txBody>
          <a:bodyPr rtlCol="0" anchor="ctr" lIns="0" rIns="0" tIns="0" bIns="0"/>
          <a:lstStyle/>
          <a:p>
            <a:pPr algn="ctr"/>
          </a:p>
        </p:txBody>
      </p:sp>
      <p:sp>
        <p:nvSpPr>
          <p:cNvPr id="31" name="TextBox 30"/>
          <p:cNvSpPr txBox="1"/>
          <p:nvPr/>
        </p:nvSpPr>
        <p:spPr>
          <a:xfrm>
            <a:off x="7680960" y="1947672"/>
            <a:ext cx="3687775" cy="182880"/>
          </a:xfrm>
          <a:prstGeom prst="rect">
            <a:avLst/>
          </a:prstGeom>
          <a:noFill/>
        </p:spPr>
        <p:txBody>
          <a:bodyPr wrap="square" lIns="0" rIns="0" tIns="0" bIns="0" anchor="t">
            <a:noAutofit/>
          </a:bodyPr>
          <a:lstStyle/>
          <a:p>
            <a:pPr algn="l">
              <a:lnSpc>
                <a:spcPts val="1300"/>
              </a:lnSpc>
            </a:pPr>
            <a:r>
              <a:rPr sz="1000" b="0" i="0" lang="uz-Cyrl-UZ">
                <a:solidFill>
                  <a:srgbClr val="242424"/>
                </a:solidFill>
                <a:latin typeface="Consolas"/>
              </a:rPr>
              <a:t>ҚАРОРЛАР</a:t>
            </a:r>
            <a:r>
              <a:rPr sz="1000" b="0" i="0" lang="uz-Cyrl-UZ">
                <a:solidFill>
                  <a:srgbClr val="4E4D4D"/>
                </a:solidFill>
                <a:latin typeface="Consolas"/>
              </a:rPr>
              <a:t> · 31.12.2026 ЙИЛГАЧА</a:t>
            </a:r>
          </a:p>
        </p:txBody>
      </p:sp>
      <p:sp>
        <p:nvSpPr>
          <p:cNvPr id="32" name="Decisions"/>
          <p:cNvSpPr txBox="1"/>
          <p:nvPr/>
        </p:nvSpPr>
        <p:spPr>
          <a:xfrm>
            <a:off x="7680960" y="2313432"/>
            <a:ext cx="3687775" cy="1955800"/>
          </a:xfrm>
          <a:prstGeom prst="rect">
            <a:avLst/>
          </a:prstGeom>
          <a:noFill/>
        </p:spPr>
        <p:txBody>
          <a:bodyPr wrap="square" lIns="0" rIns="0" tIns="0" bIns="0" anchor="t">
            <a:noAutofit/>
          </a:bodyPr>
          <a:lstStyle/>
          <a:p>
            <a:pPr algn="l">
              <a:lnSpc>
                <a:spcPts val="1800"/>
              </a:lnSpc>
              <a:spcAft>
                <a:spcPts val="200"/>
              </a:spcAft>
            </a:pPr>
            <a:r>
              <a:rPr sz="1400" b="0" i="0" lang="uz-Cyrl-UZ">
                <a:solidFill>
                  <a:srgbClr val="242424"/>
                </a:solidFill>
                <a:latin typeface="Consolas"/>
              </a:rPr>
              <a:t>1. Маъмурий бино харажатларини музей бюджетидан чиқариш</a:t>
            </a:r>
          </a:p>
          <a:p>
            <a:pPr algn="l">
              <a:lnSpc>
                <a:spcPts val="1800"/>
              </a:lnSpc>
              <a:spcAft>
                <a:spcPts val="200"/>
              </a:spcAft>
            </a:pPr>
            <a:r>
              <a:rPr sz="1400" b="0" i="0" lang="uz-Cyrl-UZ">
                <a:solidFill>
                  <a:srgbClr val="242424"/>
                </a:solidFill>
                <a:latin typeface="Consolas"/>
              </a:rPr>
              <a:t>2. Ривожланишга 5,9 млрд сўм ажратиш</a:t>
            </a:r>
          </a:p>
          <a:p>
            <a:pPr algn="l">
              <a:lnSpc>
                <a:spcPts val="1800"/>
              </a:lnSpc>
              <a:spcAft>
                <a:spcPts val="200"/>
              </a:spcAft>
            </a:pPr>
            <a:r>
              <a:rPr sz="1400" b="0" i="0" lang="uz-Cyrl-UZ">
                <a:solidFill>
                  <a:srgbClr val="242424"/>
                </a:solidFill>
                <a:latin typeface="Consolas"/>
              </a:rPr>
              <a:t>3. Янги штатни жорий этиш</a:t>
            </a:r>
          </a:p>
          <a:p>
            <a:pPr algn="l">
              <a:lnSpc>
                <a:spcPts val="1800"/>
              </a:lnSpc>
              <a:spcAft>
                <a:spcPts val="200"/>
              </a:spcAft>
            </a:pPr>
            <a:r>
              <a:rPr sz="1400" b="0" i="0" lang="uz-Cyrl-UZ">
                <a:solidFill>
                  <a:srgbClr val="242424"/>
                </a:solidFill>
                <a:latin typeface="Consolas"/>
              </a:rPr>
              <a:t>4. Ижара ва меценатлик шартномаларини тузиш</a:t>
            </a:r>
          </a:p>
          <a:p>
            <a:pPr algn="l">
              <a:lnSpc>
                <a:spcPts val="1800"/>
              </a:lnSpc>
              <a:spcAft>
                <a:spcPts val="200"/>
              </a:spcAft>
            </a:pPr>
            <a:r>
              <a:rPr sz="1400" b="0" i="0" lang="uz-Cyrl-UZ">
                <a:solidFill>
                  <a:srgbClr val="242424"/>
                </a:solidFill>
                <a:latin typeface="Consolas"/>
              </a:rPr>
              <a:t>5. Тарифларни тасдиқлаш</a:t>
            </a:r>
          </a:p>
          <a:p>
            <a:pPr algn="l">
              <a:lnSpc>
                <a:spcPts val="1800"/>
              </a:lnSpc>
            </a:pPr>
            <a:r>
              <a:rPr sz="1400" b="0" i="0" lang="uz-Cyrl-UZ">
                <a:solidFill>
                  <a:srgbClr val="242424"/>
                </a:solidFill>
                <a:latin typeface="Consolas"/>
              </a:rPr>
              <a:t>6. Ойлик ҳисоботни жорий этиш</a:t>
            </a:r>
          </a:p>
        </p:txBody>
      </p:sp>
      <p:cxnSp>
        <p:nvCxnSpPr>
          <p:cNvPr id="33" name="Connector 32"/>
          <p:cNvCxnSpPr/>
          <p:nvPr/>
        </p:nvCxnSpPr>
        <p:spPr>
          <a:xfrm>
            <a:off x="7680960" y="4424680"/>
            <a:ext cx="3687775" cy="0"/>
          </a:xfrm>
          <a:prstGeom prst="line">
            <a:avLst/>
          </a:prstGeom>
          <a:ln w="12700">
            <a:solidFill>
              <a:srgbClr val="CECAC8"/>
            </a:solidFill>
          </a:ln>
        </p:spPr>
      </p:cxnSp>
      <p:sp>
        <p:nvSpPr>
          <p:cNvPr id="34" name="Tag"/>
          <p:cNvSpPr/>
          <p:nvPr/>
        </p:nvSpPr>
        <p:spPr>
          <a:xfrm>
            <a:off x="9395342" y="548640"/>
            <a:ext cx="2247713"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ДАВЛАТ БЮДЖЕТИ МАБЛАҒЛАРИСИЗ</a:t>
            </a:r>
          </a:p>
        </p:txBody>
      </p:sp>
      <p:sp>
        <p:nvSpPr>
          <p:cNvPr id="35" name="TextBox 34"/>
          <p:cNvSpPr txBox="1"/>
          <p:nvPr/>
        </p:nvSpPr>
        <p:spPr>
          <a:xfrm>
            <a:off x="7680960" y="4580128"/>
            <a:ext cx="3687775" cy="6858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Маъмурий бино харажатлари (йилига ≈1,1 млрд сўм) “Ўзавтосаноат” ҳисобига ўтади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1549462"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02 · ҲОЗИРГИ ҲОЛАТ</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Музей асосан ижара тушумига таянади</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03 / 20</a:t>
            </a:r>
          </a:p>
        </p:txBody>
      </p:sp>
      <p:sp>
        <p:nvSpPr>
          <p:cNvPr id="5" name="Source"/>
          <p:cNvSpPr txBox="1"/>
          <p:nvPr/>
        </p:nvSpPr>
        <p:spPr>
          <a:xfrm>
            <a:off x="548640" y="5725160"/>
            <a:ext cx="9905695" cy="58420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 313 иш куни (душанба — дам олиш куни). ** 2025 йил апрель ёзуви (249 киши, касса 49,0 млн сўм) шубҳали; тузатилса, пасайиш ≈−17 %. Барча кўрсаткичлар — амалда; улушлар 2026 йил январь–август жами тушумидан ҳисобланган. Маъмурий бино харажатларига бир марталик таъмир ишлари киради (гилам, девор панеллари, девор, дарвоза). Манба: касса посешения 2025-2026.xlsx; доход+расход 01012026-31082026.xlsx (свод!D3–D6, E9); 2026_ШТАТКА.xlsx; Финансовая_модель_2027.xlsx (Классификация!C11); Бошқарув ҳисоботи, 2.4.</a:t>
            </a:r>
          </a:p>
        </p:txBody>
      </p:sp>
      <p:sp>
        <p:nvSpPr>
          <p:cNvPr id="6" name="TextBox 5"/>
          <p:cNvSpPr txBox="1"/>
          <p:nvPr/>
        </p:nvSpPr>
        <p:spPr>
          <a:xfrm>
            <a:off x="548640" y="1691640"/>
            <a:ext cx="1999427"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ТАШРИФЧИЛАР, 2025</a:t>
            </a:r>
          </a:p>
        </p:txBody>
      </p:sp>
      <p:sp>
        <p:nvSpPr>
          <p:cNvPr id="7" name="TextBox 6"/>
          <p:cNvSpPr txBox="1"/>
          <p:nvPr/>
        </p:nvSpPr>
        <p:spPr>
          <a:xfrm>
            <a:off x="548640" y="1984248"/>
            <a:ext cx="1999427" cy="566928"/>
          </a:xfrm>
          <a:prstGeom prst="rect">
            <a:avLst/>
          </a:prstGeom>
          <a:noFill/>
        </p:spPr>
        <p:txBody>
          <a:bodyPr wrap="square" lIns="0" rIns="0" tIns="0" bIns="0" anchor="t">
            <a:noAutofit/>
          </a:bodyPr>
          <a:lstStyle/>
          <a:p>
            <a:pPr algn="l">
              <a:lnSpc>
                <a:spcPts val="4400"/>
              </a:lnSpc>
            </a:pPr>
            <a:r>
              <a:rPr sz="4200" b="0" i="0" lang="uz-Cyrl-UZ" spc="-84">
                <a:solidFill>
                  <a:srgbClr val="242424"/>
                </a:solidFill>
                <a:latin typeface="Cambria"/>
              </a:rPr>
              <a:t>22 437</a:t>
            </a:r>
          </a:p>
        </p:txBody>
      </p:sp>
      <p:sp>
        <p:nvSpPr>
          <p:cNvPr id="8" name="TextBox 7"/>
          <p:cNvSpPr txBox="1"/>
          <p:nvPr/>
        </p:nvSpPr>
        <p:spPr>
          <a:xfrm>
            <a:off x="548640" y="2624328"/>
            <a:ext cx="1999427" cy="1968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иш кунига 72 киши*</a:t>
            </a:r>
          </a:p>
        </p:txBody>
      </p:sp>
      <p:sp>
        <p:nvSpPr>
          <p:cNvPr id="9" name="TextBox 8"/>
          <p:cNvSpPr txBox="1"/>
          <p:nvPr/>
        </p:nvSpPr>
        <p:spPr>
          <a:xfrm>
            <a:off x="2822387" y="1691640"/>
            <a:ext cx="1999427"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КАССА, ЯНВАРЬ–АВГУСТ 2026</a:t>
            </a:r>
          </a:p>
        </p:txBody>
      </p:sp>
      <p:sp>
        <p:nvSpPr>
          <p:cNvPr id="10" name="TextBox 9"/>
          <p:cNvSpPr txBox="1"/>
          <p:nvPr/>
        </p:nvSpPr>
        <p:spPr>
          <a:xfrm>
            <a:off x="2822387" y="1984248"/>
            <a:ext cx="1999427" cy="566928"/>
          </a:xfrm>
          <a:prstGeom prst="rect">
            <a:avLst/>
          </a:prstGeom>
          <a:noFill/>
        </p:spPr>
        <p:txBody>
          <a:bodyPr wrap="square" lIns="0" rIns="0" tIns="0" bIns="0" anchor="t">
            <a:noAutofit/>
          </a:bodyPr>
          <a:lstStyle/>
          <a:p>
            <a:pPr algn="l">
              <a:lnSpc>
                <a:spcPts val="4400"/>
              </a:lnSpc>
            </a:pPr>
            <a:r>
              <a:rPr sz="4200" b="0" i="0" lang="uz-Cyrl-UZ" spc="-84">
                <a:solidFill>
                  <a:srgbClr val="242424"/>
                </a:solidFill>
                <a:latin typeface="Cambria"/>
              </a:rPr>
              <a:t>−17,3 %</a:t>
            </a:r>
          </a:p>
        </p:txBody>
      </p:sp>
      <p:sp>
        <p:nvSpPr>
          <p:cNvPr id="11" name="TextBox 10"/>
          <p:cNvSpPr txBox="1"/>
          <p:nvPr/>
        </p:nvSpPr>
        <p:spPr>
          <a:xfrm>
            <a:off x="2822387" y="2624328"/>
            <a:ext cx="1999427" cy="1968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ташрифчилар: −7,2 %**</a:t>
            </a:r>
          </a:p>
        </p:txBody>
      </p:sp>
      <p:cxnSp>
        <p:nvCxnSpPr>
          <p:cNvPr id="12" name="Connector 11"/>
          <p:cNvCxnSpPr/>
          <p:nvPr/>
        </p:nvCxnSpPr>
        <p:spPr>
          <a:xfrm>
            <a:off x="2685227" y="1691640"/>
            <a:ext cx="0" cy="1129538"/>
          </a:xfrm>
          <a:prstGeom prst="line">
            <a:avLst/>
          </a:prstGeom>
          <a:ln w="12700">
            <a:solidFill>
              <a:srgbClr val="CECAC8"/>
            </a:solidFill>
          </a:ln>
        </p:spPr>
      </p:cxnSp>
      <p:sp>
        <p:nvSpPr>
          <p:cNvPr id="13" name="TextBox 12"/>
          <p:cNvSpPr txBox="1"/>
          <p:nvPr/>
        </p:nvSpPr>
        <p:spPr>
          <a:xfrm>
            <a:off x="5096134" y="1691640"/>
            <a:ext cx="1999427"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ТУШУМДАГИ ИЖАРА УЛУШИ</a:t>
            </a:r>
          </a:p>
        </p:txBody>
      </p:sp>
      <p:sp>
        <p:nvSpPr>
          <p:cNvPr id="14" name="TextBox 13"/>
          <p:cNvSpPr txBox="1"/>
          <p:nvPr/>
        </p:nvSpPr>
        <p:spPr>
          <a:xfrm>
            <a:off x="5096134" y="1984248"/>
            <a:ext cx="1999427" cy="566928"/>
          </a:xfrm>
          <a:prstGeom prst="rect">
            <a:avLst/>
          </a:prstGeom>
          <a:noFill/>
        </p:spPr>
        <p:txBody>
          <a:bodyPr wrap="square" lIns="0" rIns="0" tIns="0" bIns="0" anchor="t">
            <a:noAutofit/>
          </a:bodyPr>
          <a:lstStyle/>
          <a:p>
            <a:pPr algn="l">
              <a:lnSpc>
                <a:spcPts val="4400"/>
              </a:lnSpc>
            </a:pPr>
            <a:r>
              <a:rPr sz="4200" b="0" i="0" lang="uz-Cyrl-UZ" spc="-84">
                <a:solidFill>
                  <a:srgbClr val="242424"/>
                </a:solidFill>
                <a:latin typeface="Cambria"/>
              </a:rPr>
              <a:t>90,7 %</a:t>
            </a:r>
          </a:p>
        </p:txBody>
      </p:sp>
      <p:sp>
        <p:nvSpPr>
          <p:cNvPr id="15" name="TextBox 14"/>
          <p:cNvSpPr txBox="1"/>
          <p:nvPr/>
        </p:nvSpPr>
        <p:spPr>
          <a:xfrm>
            <a:off x="5096134" y="2624328"/>
            <a:ext cx="1999427" cy="1968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январь–август 2026</a:t>
            </a:r>
          </a:p>
        </p:txBody>
      </p:sp>
      <p:cxnSp>
        <p:nvCxnSpPr>
          <p:cNvPr id="16" name="Connector 15"/>
          <p:cNvCxnSpPr/>
          <p:nvPr/>
        </p:nvCxnSpPr>
        <p:spPr>
          <a:xfrm>
            <a:off x="4958974" y="1691640"/>
            <a:ext cx="0" cy="1129538"/>
          </a:xfrm>
          <a:prstGeom prst="line">
            <a:avLst/>
          </a:prstGeom>
          <a:ln w="12700">
            <a:solidFill>
              <a:srgbClr val="CECAC8"/>
            </a:solidFill>
          </a:ln>
        </p:spPr>
      </p:cxnSp>
      <p:sp>
        <p:nvSpPr>
          <p:cNvPr id="17" name="TextBox 16"/>
          <p:cNvSpPr txBox="1"/>
          <p:nvPr/>
        </p:nvSpPr>
        <p:spPr>
          <a:xfrm>
            <a:off x="7369881" y="1691640"/>
            <a:ext cx="1999427"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МУЗЕЙ ФАОЛИЯТИ УЛУШИ</a:t>
            </a:r>
          </a:p>
        </p:txBody>
      </p:sp>
      <p:sp>
        <p:nvSpPr>
          <p:cNvPr id="18" name="TextBox 17"/>
          <p:cNvSpPr txBox="1"/>
          <p:nvPr/>
        </p:nvSpPr>
        <p:spPr>
          <a:xfrm>
            <a:off x="7369881" y="1984248"/>
            <a:ext cx="1999427" cy="566928"/>
          </a:xfrm>
          <a:prstGeom prst="rect">
            <a:avLst/>
          </a:prstGeom>
          <a:noFill/>
        </p:spPr>
        <p:txBody>
          <a:bodyPr wrap="square" lIns="0" rIns="0" tIns="0" bIns="0" anchor="t">
            <a:noAutofit/>
          </a:bodyPr>
          <a:lstStyle/>
          <a:p>
            <a:pPr algn="l">
              <a:lnSpc>
                <a:spcPts val="4400"/>
              </a:lnSpc>
            </a:pPr>
            <a:r>
              <a:rPr sz="4200" b="0" i="0" lang="uz-Cyrl-UZ" spc="-84">
                <a:solidFill>
                  <a:srgbClr val="2B59D1"/>
                </a:solidFill>
                <a:latin typeface="Cambria"/>
              </a:rPr>
              <a:t>3,5 %</a:t>
            </a:r>
          </a:p>
        </p:txBody>
      </p:sp>
      <p:sp>
        <p:nvSpPr>
          <p:cNvPr id="19" name="TextBox 18"/>
          <p:cNvSpPr txBox="1"/>
          <p:nvPr/>
        </p:nvSpPr>
        <p:spPr>
          <a:xfrm>
            <a:off x="7369881" y="2624328"/>
            <a:ext cx="1999427" cy="1968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335,5 млн сўм</a:t>
            </a:r>
          </a:p>
        </p:txBody>
      </p:sp>
      <p:cxnSp>
        <p:nvCxnSpPr>
          <p:cNvPr id="20" name="Connector 19"/>
          <p:cNvCxnSpPr/>
          <p:nvPr/>
        </p:nvCxnSpPr>
        <p:spPr>
          <a:xfrm>
            <a:off x="7232721" y="1691640"/>
            <a:ext cx="0" cy="1129538"/>
          </a:xfrm>
          <a:prstGeom prst="line">
            <a:avLst/>
          </a:prstGeom>
          <a:ln w="12700">
            <a:solidFill>
              <a:srgbClr val="CECAC8"/>
            </a:solidFill>
          </a:ln>
        </p:spPr>
      </p:cxnSp>
      <p:sp>
        <p:nvSpPr>
          <p:cNvPr id="21" name="TextBox 20"/>
          <p:cNvSpPr txBox="1"/>
          <p:nvPr/>
        </p:nvSpPr>
        <p:spPr>
          <a:xfrm>
            <a:off x="9643628" y="1691640"/>
            <a:ext cx="1999427"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ТАШРИФЧИЛАР БИЛАН ИШЛОВЧИ</a:t>
            </a:r>
          </a:p>
        </p:txBody>
      </p:sp>
      <p:sp>
        <p:nvSpPr>
          <p:cNvPr id="22" name="TextBox 21"/>
          <p:cNvSpPr txBox="1"/>
          <p:nvPr/>
        </p:nvSpPr>
        <p:spPr>
          <a:xfrm>
            <a:off x="9643628" y="1984248"/>
            <a:ext cx="1999427" cy="566928"/>
          </a:xfrm>
          <a:prstGeom prst="rect">
            <a:avLst/>
          </a:prstGeom>
          <a:noFill/>
        </p:spPr>
        <p:txBody>
          <a:bodyPr wrap="square" lIns="0" rIns="0" tIns="0" bIns="0" anchor="t">
            <a:noAutofit/>
          </a:bodyPr>
          <a:lstStyle/>
          <a:p>
            <a:pPr algn="l">
              <a:lnSpc>
                <a:spcPts val="4400"/>
              </a:lnSpc>
            </a:pPr>
            <a:r>
              <a:rPr sz="4200" b="0" i="0" lang="uz-Cyrl-UZ" spc="-84">
                <a:solidFill>
                  <a:srgbClr val="242424"/>
                </a:solidFill>
                <a:latin typeface="Cambria"/>
              </a:rPr>
              <a:t>8 / 34</a:t>
            </a:r>
          </a:p>
        </p:txBody>
      </p:sp>
      <p:sp>
        <p:nvSpPr>
          <p:cNvPr id="23" name="TextBox 22"/>
          <p:cNvSpPr txBox="1"/>
          <p:nvPr/>
        </p:nvSpPr>
        <p:spPr>
          <a:xfrm>
            <a:off x="9643628" y="2624328"/>
            <a:ext cx="1999427" cy="1968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штат бирлиги</a:t>
            </a:r>
          </a:p>
        </p:txBody>
      </p:sp>
      <p:cxnSp>
        <p:nvCxnSpPr>
          <p:cNvPr id="24" name="Connector 23"/>
          <p:cNvCxnSpPr/>
          <p:nvPr/>
        </p:nvCxnSpPr>
        <p:spPr>
          <a:xfrm>
            <a:off x="9506468" y="1691640"/>
            <a:ext cx="0" cy="1129538"/>
          </a:xfrm>
          <a:prstGeom prst="line">
            <a:avLst/>
          </a:prstGeom>
          <a:ln w="12700">
            <a:solidFill>
              <a:srgbClr val="CECAC8"/>
            </a:solidFill>
          </a:ln>
        </p:spPr>
      </p:cxnSp>
      <p:sp>
        <p:nvSpPr>
          <p:cNvPr id="25" name="Comparison card"/>
          <p:cNvSpPr/>
          <p:nvPr/>
        </p:nvSpPr>
        <p:spPr>
          <a:xfrm>
            <a:off x="548640" y="3278378"/>
            <a:ext cx="7589520" cy="2172462"/>
          </a:xfrm>
          <a:prstGeom prst="roundRect">
            <a:avLst>
              <a:gd name="adj" fmla="val 16836"/>
            </a:avLst>
          </a:prstGeom>
          <a:solidFill>
            <a:srgbClr val="CFDAF5"/>
          </a:solidFill>
          <a:ln>
            <a:noFill/>
          </a:ln>
          <a:effectLst/>
        </p:spPr>
        <p:txBody>
          <a:bodyPr rtlCol="0" anchor="ctr" lIns="0" rIns="0" tIns="0" bIns="0"/>
          <a:lstStyle/>
          <a:p>
            <a:pPr algn="ctr"/>
          </a:p>
        </p:txBody>
      </p:sp>
      <p:sp>
        <p:nvSpPr>
          <p:cNvPr id="26" name="TextBox 25"/>
          <p:cNvSpPr txBox="1"/>
          <p:nvPr/>
        </p:nvSpPr>
        <p:spPr>
          <a:xfrm>
            <a:off x="868680" y="3552698"/>
            <a:ext cx="6949440"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ХАРАЖАТЛАР ҚИЁСИ, 2026 ЙИЛ ЯНВАРЬ–АВГУСТ</a:t>
            </a:r>
          </a:p>
        </p:txBody>
      </p:sp>
      <p:sp>
        <p:nvSpPr>
          <p:cNvPr id="27" name="TextBox 26"/>
          <p:cNvSpPr txBox="1"/>
          <p:nvPr/>
        </p:nvSpPr>
        <p:spPr>
          <a:xfrm>
            <a:off x="868680" y="3872738"/>
            <a:ext cx="3154680" cy="548640"/>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1 280,9</a:t>
            </a:r>
            <a:r>
              <a:rPr sz="1400" b="0" i="0" lang="uz-Cyrl-UZ">
                <a:solidFill>
                  <a:srgbClr val="4E4D4D"/>
                </a:solidFill>
                <a:latin typeface="Consolas"/>
              </a:rPr>
              <a:t> млн сўм</a:t>
            </a:r>
          </a:p>
        </p:txBody>
      </p:sp>
      <p:sp>
        <p:nvSpPr>
          <p:cNvPr id="28" name="TextBox 27"/>
          <p:cNvSpPr txBox="1"/>
          <p:nvPr/>
        </p:nvSpPr>
        <p:spPr>
          <a:xfrm>
            <a:off x="868680" y="4485386"/>
            <a:ext cx="3154680" cy="6858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муассиснинг маъмурий биноси ва ҳудудини сақлаш — тўловларнинг 13,9 %</a:t>
            </a:r>
          </a:p>
        </p:txBody>
      </p:sp>
      <p:sp>
        <p:nvSpPr>
          <p:cNvPr id="29" name="TextBox 28"/>
          <p:cNvSpPr txBox="1"/>
          <p:nvPr/>
        </p:nvSpPr>
        <p:spPr>
          <a:xfrm>
            <a:off x="4663440" y="3872738"/>
            <a:ext cx="3154680" cy="548640"/>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1 275,7</a:t>
            </a:r>
            <a:r>
              <a:rPr sz="1400" b="0" i="0" lang="uz-Cyrl-UZ">
                <a:solidFill>
                  <a:srgbClr val="4E4D4D"/>
                </a:solidFill>
                <a:latin typeface="Consolas"/>
              </a:rPr>
              <a:t> млн сўм</a:t>
            </a:r>
          </a:p>
        </p:txBody>
      </p:sp>
      <p:sp>
        <p:nvSpPr>
          <p:cNvPr id="30" name="TextBox 29"/>
          <p:cNvSpPr txBox="1"/>
          <p:nvPr/>
        </p:nvSpPr>
        <p:spPr>
          <a:xfrm>
            <a:off x="4663440" y="4485386"/>
            <a:ext cx="3154680" cy="6858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музей бўлимларининг (фондлар, кўргазмалар, экскурсиялар) иш ҳақи фонди — 13,8 %</a:t>
            </a:r>
          </a:p>
        </p:txBody>
      </p:sp>
      <p:sp>
        <p:nvSpPr>
          <p:cNvPr id="31" name="TextBox 30"/>
          <p:cNvSpPr txBox="1"/>
          <p:nvPr/>
        </p:nvSpPr>
        <p:spPr>
          <a:xfrm>
            <a:off x="4023360" y="3872738"/>
            <a:ext cx="640080" cy="548640"/>
          </a:xfrm>
          <a:prstGeom prst="rect">
            <a:avLst/>
          </a:prstGeom>
          <a:noFill/>
        </p:spPr>
        <p:txBody>
          <a:bodyPr wrap="square" lIns="0" rIns="0" tIns="0" bIns="0" anchor="t">
            <a:noAutofit/>
          </a:bodyPr>
          <a:lstStyle/>
          <a:p>
            <a:pPr algn="ctr">
              <a:lnSpc>
                <a:spcPts val="4000"/>
              </a:lnSpc>
            </a:pPr>
            <a:r>
              <a:rPr sz="3600" b="0" i="0" lang="uz-Cyrl-UZ" spc="-72">
                <a:solidFill>
                  <a:srgbClr val="242424"/>
                </a:solidFill>
                <a:latin typeface="Cambria"/>
              </a:rPr>
              <a:t>≈</a:t>
            </a:r>
          </a:p>
        </p:txBody>
      </p:sp>
      <p:sp>
        <p:nvSpPr>
          <p:cNvPr id="32" name="Key message"/>
          <p:cNvSpPr txBox="1"/>
          <p:nvPr/>
        </p:nvSpPr>
        <p:spPr>
          <a:xfrm>
            <a:off x="8595360" y="3628009"/>
            <a:ext cx="3047695" cy="1473200"/>
          </a:xfrm>
          <a:prstGeom prst="rect">
            <a:avLst/>
          </a:prstGeom>
          <a:noFill/>
        </p:spPr>
        <p:txBody>
          <a:bodyPr wrap="square" lIns="0" rIns="0" tIns="0" bIns="0" anchor="t">
            <a:noAutofit/>
          </a:bodyPr>
          <a:lstStyle/>
          <a:p>
            <a:pPr algn="l">
              <a:lnSpc>
                <a:spcPts val="2900"/>
              </a:lnSpc>
            </a:pPr>
            <a:r>
              <a:rPr sz="2400" b="0" i="0" lang="uz-Cyrl-UZ" spc="-48">
                <a:solidFill>
                  <a:srgbClr val="242424"/>
                </a:solidFill>
                <a:latin typeface="Cambria"/>
              </a:rPr>
              <a:t>Асосий масала — маблағлар ҳажми эмас, уларнинг тақсимоти.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1549462"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02 · ҲОЗИРГИ ҲОЛАТ</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Ҳозирги ҳолат сақланса, хатарлар ортади</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04 / 20</a:t>
            </a:r>
          </a:p>
        </p:txBody>
      </p:sp>
      <p:sp>
        <p:nvSpPr>
          <p:cNvPr id="5" name="Source"/>
          <p:cNvSpPr txBox="1"/>
          <p:nvPr/>
        </p:nvSpPr>
        <p:spPr>
          <a:xfrm>
            <a:off x="548640" y="6017260"/>
            <a:ext cx="9905695" cy="29210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Ўзгаришсиз сценарий: 2026 йил кутилиши 20 083 × (1 − 17,3 %) ≈ 16 600 киши (М5 “Факт”). Манба: Бошқарув ҳисоботи (12.09.2026), 5.2, 6.3, 7.1–7.3; QazExpoCongress 2024 йиллик ҳисоботи, 16, 18-бетлар; Солиқ кодекси, 318-модда, 4-қисм (lex.uz, 06.10.2026 ҳолатига).</a:t>
            </a:r>
          </a:p>
        </p:txBody>
      </p:sp>
      <p:cxnSp>
        <p:nvCxnSpPr>
          <p:cNvPr id="6" name="Connector 5"/>
          <p:cNvCxnSpPr/>
          <p:nvPr/>
        </p:nvCxnSpPr>
        <p:spPr>
          <a:xfrm>
            <a:off x="548640" y="1691640"/>
            <a:ext cx="11094415" cy="0"/>
          </a:xfrm>
          <a:prstGeom prst="line">
            <a:avLst/>
          </a:prstGeom>
          <a:ln w="12700">
            <a:solidFill>
              <a:srgbClr val="CECAC8"/>
            </a:solidFill>
          </a:ln>
        </p:spPr>
      </p:cxnSp>
      <p:sp>
        <p:nvSpPr>
          <p:cNvPr id="7" name="Rounded Rectangle 6"/>
          <p:cNvSpPr/>
          <p:nvPr/>
        </p:nvSpPr>
        <p:spPr>
          <a:xfrm>
            <a:off x="822960" y="1855152"/>
            <a:ext cx="51206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01</a:t>
            </a:r>
          </a:p>
        </p:txBody>
      </p:sp>
      <p:sp>
        <p:nvSpPr>
          <p:cNvPr id="8" name="TextBox 7"/>
          <p:cNvSpPr txBox="1"/>
          <p:nvPr/>
        </p:nvSpPr>
        <p:spPr>
          <a:xfrm>
            <a:off x="1600200" y="1836864"/>
            <a:ext cx="2926080" cy="701929"/>
          </a:xfrm>
          <a:prstGeom prst="rect">
            <a:avLst/>
          </a:prstGeom>
          <a:noFill/>
        </p:spPr>
        <p:txBody>
          <a:bodyPr wrap="square" lIns="0" rIns="0" tIns="0" bIns="0" anchor="t">
            <a:noAutofit/>
          </a:bodyPr>
          <a:lstStyle/>
          <a:p>
            <a:pPr algn="l">
              <a:lnSpc>
                <a:spcPts val="2400"/>
              </a:lnSpc>
            </a:pPr>
            <a:r>
              <a:rPr sz="2000" b="0" i="0" lang="uz-Cyrl-UZ" spc="-40">
                <a:solidFill>
                  <a:srgbClr val="242424"/>
                </a:solidFill>
                <a:latin typeface="Cambria"/>
              </a:rPr>
              <a:t>Ташрифчилар сонининг камайиши</a:t>
            </a:r>
          </a:p>
        </p:txBody>
      </p:sp>
      <p:sp>
        <p:nvSpPr>
          <p:cNvPr id="9" name="TextBox 8"/>
          <p:cNvSpPr txBox="1"/>
          <p:nvPr/>
        </p:nvSpPr>
        <p:spPr>
          <a:xfrm>
            <a:off x="4983480" y="1855152"/>
            <a:ext cx="6385255" cy="701929"/>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Ўзгаришсиз сценарийда 2027 йилда ≈16 600 киши кутилади. 2026 йилда рақобат кучайди: болалар интерактив музейи, CCA Tashkent, янгиланган Тарих музейи.</a:t>
            </a:r>
          </a:p>
        </p:txBody>
      </p:sp>
      <p:cxnSp>
        <p:nvCxnSpPr>
          <p:cNvPr id="10" name="Connector 9"/>
          <p:cNvCxnSpPr/>
          <p:nvPr/>
        </p:nvCxnSpPr>
        <p:spPr>
          <a:xfrm>
            <a:off x="548640" y="2704465"/>
            <a:ext cx="11094415" cy="0"/>
          </a:xfrm>
          <a:prstGeom prst="line">
            <a:avLst/>
          </a:prstGeom>
          <a:ln w="12700">
            <a:solidFill>
              <a:srgbClr val="CECAC8"/>
            </a:solidFill>
          </a:ln>
        </p:spPr>
      </p:cxnSp>
      <p:sp>
        <p:nvSpPr>
          <p:cNvPr id="11" name="Rounded Rectangle 10"/>
          <p:cNvSpPr/>
          <p:nvPr/>
        </p:nvSpPr>
        <p:spPr>
          <a:xfrm>
            <a:off x="822960" y="2867978"/>
            <a:ext cx="51206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02</a:t>
            </a:r>
          </a:p>
        </p:txBody>
      </p:sp>
      <p:sp>
        <p:nvSpPr>
          <p:cNvPr id="12" name="TextBox 11"/>
          <p:cNvSpPr txBox="1"/>
          <p:nvPr/>
        </p:nvSpPr>
        <p:spPr>
          <a:xfrm>
            <a:off x="1600200" y="2849690"/>
            <a:ext cx="2926080" cy="701929"/>
          </a:xfrm>
          <a:prstGeom prst="rect">
            <a:avLst/>
          </a:prstGeom>
          <a:noFill/>
        </p:spPr>
        <p:txBody>
          <a:bodyPr wrap="square" lIns="0" rIns="0" tIns="0" bIns="0" anchor="t">
            <a:noAutofit/>
          </a:bodyPr>
          <a:lstStyle/>
          <a:p>
            <a:pPr algn="l">
              <a:lnSpc>
                <a:spcPts val="2400"/>
              </a:lnSpc>
            </a:pPr>
            <a:r>
              <a:rPr sz="2000" b="0" i="0" lang="uz-Cyrl-UZ" spc="-40">
                <a:solidFill>
                  <a:srgbClr val="242424"/>
                </a:solidFill>
                <a:latin typeface="Cambria"/>
              </a:rPr>
              <a:t>Иккинчи қават ҳақида салбий фикрлар</a:t>
            </a:r>
          </a:p>
        </p:txBody>
      </p:sp>
      <p:sp>
        <p:nvSpPr>
          <p:cNvPr id="13" name="TextBox 12"/>
          <p:cNvSpPr txBox="1"/>
          <p:nvPr/>
        </p:nvSpPr>
        <p:spPr>
          <a:xfrm>
            <a:off x="4983480" y="2867978"/>
            <a:ext cx="6385255" cy="701929"/>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2025 йилги фикрлардаги асосий эътироз — экспонатларнинг аксарияти ишламаслиги. Рейтинг асосан 1-қават автомобиллари ҳисобига сақланмоқда.</a:t>
            </a:r>
          </a:p>
        </p:txBody>
      </p:sp>
      <p:cxnSp>
        <p:nvCxnSpPr>
          <p:cNvPr id="14" name="Connector 13"/>
          <p:cNvCxnSpPr/>
          <p:nvPr/>
        </p:nvCxnSpPr>
        <p:spPr>
          <a:xfrm>
            <a:off x="548640" y="3717290"/>
            <a:ext cx="11094415" cy="0"/>
          </a:xfrm>
          <a:prstGeom prst="line">
            <a:avLst/>
          </a:prstGeom>
          <a:ln w="12700">
            <a:solidFill>
              <a:srgbClr val="CECAC8"/>
            </a:solidFill>
          </a:ln>
        </p:spPr>
      </p:cxnSp>
      <p:sp>
        <p:nvSpPr>
          <p:cNvPr id="15" name="Rounded Rectangle 14"/>
          <p:cNvSpPr/>
          <p:nvPr/>
        </p:nvSpPr>
        <p:spPr>
          <a:xfrm>
            <a:off x="822960" y="3880803"/>
            <a:ext cx="51206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03</a:t>
            </a:r>
          </a:p>
        </p:txBody>
      </p:sp>
      <p:sp>
        <p:nvSpPr>
          <p:cNvPr id="16" name="TextBox 15"/>
          <p:cNvSpPr txBox="1"/>
          <p:nvPr/>
        </p:nvSpPr>
        <p:spPr>
          <a:xfrm>
            <a:off x="1600200" y="3862515"/>
            <a:ext cx="2926080" cy="701929"/>
          </a:xfrm>
          <a:prstGeom prst="rect">
            <a:avLst/>
          </a:prstGeom>
          <a:noFill/>
        </p:spPr>
        <p:txBody>
          <a:bodyPr wrap="square" lIns="0" rIns="0" tIns="0" bIns="0" anchor="t">
            <a:noAutofit/>
          </a:bodyPr>
          <a:lstStyle/>
          <a:p>
            <a:pPr algn="l">
              <a:lnSpc>
                <a:spcPts val="2400"/>
              </a:lnSpc>
            </a:pPr>
            <a:r>
              <a:rPr sz="2000" b="0" i="0" lang="uz-Cyrl-UZ" spc="-40">
                <a:solidFill>
                  <a:srgbClr val="242424"/>
                </a:solidFill>
                <a:latin typeface="Cambria"/>
              </a:rPr>
              <a:t>Солиқ хатари</a:t>
            </a:r>
          </a:p>
        </p:txBody>
      </p:sp>
      <p:sp>
        <p:nvSpPr>
          <p:cNvPr id="17" name="TextBox 16"/>
          <p:cNvSpPr txBox="1"/>
          <p:nvPr/>
        </p:nvSpPr>
        <p:spPr>
          <a:xfrm>
            <a:off x="4983480" y="3880803"/>
            <a:ext cx="6385255" cy="701929"/>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2025 йил ва 2026 йилнинг 8 ойида муассис биноси учун 2 342,8 млн сўм сарфланган (амалда). Солиқ маслаҳатчиси хулосаси талаб этилади.</a:t>
            </a:r>
          </a:p>
        </p:txBody>
      </p:sp>
      <p:cxnSp>
        <p:nvCxnSpPr>
          <p:cNvPr id="18" name="Connector 17"/>
          <p:cNvCxnSpPr/>
          <p:nvPr/>
        </p:nvCxnSpPr>
        <p:spPr>
          <a:xfrm>
            <a:off x="548640" y="4730115"/>
            <a:ext cx="11094415" cy="0"/>
          </a:xfrm>
          <a:prstGeom prst="line">
            <a:avLst/>
          </a:prstGeom>
          <a:ln w="12700">
            <a:solidFill>
              <a:srgbClr val="CECAC8"/>
            </a:solidFill>
          </a:ln>
        </p:spPr>
      </p:cxnSp>
      <p:sp>
        <p:nvSpPr>
          <p:cNvPr id="19" name="Highlighted risk"/>
          <p:cNvSpPr/>
          <p:nvPr/>
        </p:nvSpPr>
        <p:spPr>
          <a:xfrm>
            <a:off x="548640" y="4821555"/>
            <a:ext cx="11094415" cy="921385"/>
          </a:xfrm>
          <a:prstGeom prst="roundRect">
            <a:avLst>
              <a:gd name="adj" fmla="val 39696"/>
            </a:avLst>
          </a:prstGeom>
          <a:solidFill>
            <a:srgbClr val="CFDAF5"/>
          </a:solidFill>
          <a:ln>
            <a:noFill/>
          </a:ln>
          <a:effectLst/>
        </p:spPr>
        <p:txBody>
          <a:bodyPr rtlCol="0" anchor="ctr" lIns="0" rIns="0" tIns="0" bIns="0"/>
          <a:lstStyle/>
          <a:p>
            <a:pPr algn="ctr"/>
          </a:p>
        </p:txBody>
      </p:sp>
      <p:sp>
        <p:nvSpPr>
          <p:cNvPr id="20" name="Rounded Rectangle 19"/>
          <p:cNvSpPr/>
          <p:nvPr/>
        </p:nvSpPr>
        <p:spPr>
          <a:xfrm>
            <a:off x="822960" y="4939348"/>
            <a:ext cx="512064" cy="274320"/>
          </a:xfrm>
          <a:prstGeom prst="roundRect">
            <a:avLst>
              <a:gd name="adj" fmla="val 50000"/>
            </a:avLst>
          </a:prstGeom>
          <a:solidFill>
            <a:srgbClr val="2B59D1"/>
          </a:solidFill>
          <a:ln>
            <a:noFill/>
          </a:ln>
          <a:effectLst/>
        </p:spPr>
        <p:txBody>
          <a:bodyPr rtlCol="0" anchor="ctr" lIns="0" rIns="0" tIns="0" bIns="0" wrap="none"/>
          <a:lstStyle/>
          <a:p>
            <a:pPr algn="ctr">
              <a:lnSpc>
                <a:spcPts val="1300"/>
              </a:lnSpc>
            </a:pPr>
            <a:r>
              <a:rPr sz="1000" b="0" i="0" lang="uz-Cyrl-UZ">
                <a:solidFill>
                  <a:srgbClr val="F6F3F1"/>
                </a:solidFill>
                <a:latin typeface="Consolas"/>
              </a:rPr>
              <a:t>04</a:t>
            </a:r>
          </a:p>
        </p:txBody>
      </p:sp>
      <p:sp>
        <p:nvSpPr>
          <p:cNvPr id="21" name="TextBox 20"/>
          <p:cNvSpPr txBox="1"/>
          <p:nvPr/>
        </p:nvSpPr>
        <p:spPr>
          <a:xfrm>
            <a:off x="1600200" y="4921060"/>
            <a:ext cx="2926080" cy="701929"/>
          </a:xfrm>
          <a:prstGeom prst="rect">
            <a:avLst/>
          </a:prstGeom>
          <a:noFill/>
        </p:spPr>
        <p:txBody>
          <a:bodyPr wrap="square" lIns="0" rIns="0" tIns="0" bIns="0" anchor="t">
            <a:noAutofit/>
          </a:bodyPr>
          <a:lstStyle/>
          <a:p>
            <a:pPr algn="l">
              <a:lnSpc>
                <a:spcPts val="2400"/>
              </a:lnSpc>
            </a:pPr>
            <a:r>
              <a:rPr sz="2000" b="0" i="0" lang="uz-Cyrl-UZ" spc="-40">
                <a:solidFill>
                  <a:srgbClr val="242424"/>
                </a:solidFill>
                <a:latin typeface="Cambria"/>
              </a:rPr>
              <a:t>Бино вазифаси ўзгариши</a:t>
            </a:r>
          </a:p>
        </p:txBody>
      </p:sp>
      <p:sp>
        <p:nvSpPr>
          <p:cNvPr id="22" name="TextBox 21"/>
          <p:cNvSpPr txBox="1"/>
          <p:nvPr/>
        </p:nvSpPr>
        <p:spPr>
          <a:xfrm>
            <a:off x="4983480" y="4939348"/>
            <a:ext cx="6385255" cy="701929"/>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Nur Alem (Остона) 22.12.2024 йилдан ташрифчи қабул қилмайди, бино бошқа мақсадга берилган. Музей бўйича бу масала назорат нуқтасида (15.10.2027) натижалар асосида баҳоланади.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1689112"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03 · 2027 ЙИЛ РЕЖАСИ</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“Ўзавтосаноат” 2027 йилдаёқ самара олади</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05 / 20</a:t>
            </a:r>
          </a:p>
        </p:txBody>
      </p:sp>
      <p:sp>
        <p:nvSpPr>
          <p:cNvPr id="5" name="Source"/>
          <p:cNvSpPr txBox="1"/>
          <p:nvPr/>
        </p:nvSpPr>
        <p:spPr>
          <a:xfrm>
            <a:off x="548640" y="6017260"/>
            <a:ext cx="9905695" cy="29210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Олий таълим муассасалари билан келишувлар ҳали имзоланмаган. Манба: М5 “Ташрифчилар 2027”, “Бюджет 2027”, “Пул режаси”; Экспозицияни янгилаш дастури (20.09.2026), 1-босқич; Бошқарув ҳисоботи, 8.1, 8.5.</a:t>
            </a:r>
          </a:p>
        </p:txBody>
      </p:sp>
      <p:sp>
        <p:nvSpPr>
          <p:cNvPr id="6" name="Rounded Rectangle 5"/>
          <p:cNvSpPr/>
          <p:nvPr/>
        </p:nvSpPr>
        <p:spPr>
          <a:xfrm>
            <a:off x="548640" y="1691640"/>
            <a:ext cx="51206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01</a:t>
            </a:r>
          </a:p>
        </p:txBody>
      </p:sp>
      <p:sp>
        <p:nvSpPr>
          <p:cNvPr id="7" name="TextBox 6"/>
          <p:cNvSpPr txBox="1"/>
          <p:nvPr/>
        </p:nvSpPr>
        <p:spPr>
          <a:xfrm>
            <a:off x="548640" y="2103120"/>
            <a:ext cx="1999427" cy="584200"/>
          </a:xfrm>
          <a:prstGeom prst="rect">
            <a:avLst/>
          </a:prstGeom>
          <a:noFill/>
        </p:spPr>
        <p:txBody>
          <a:bodyPr wrap="square" lIns="0" rIns="0" tIns="0" bIns="0" anchor="t">
            <a:noAutofit/>
          </a:bodyPr>
          <a:lstStyle/>
          <a:p>
            <a:pPr algn="l">
              <a:lnSpc>
                <a:spcPts val="2300"/>
              </a:lnSpc>
            </a:pPr>
            <a:r>
              <a:rPr sz="2000" b="0" i="0" lang="uz-Cyrl-UZ" spc="-40">
                <a:solidFill>
                  <a:srgbClr val="242424"/>
                </a:solidFill>
                <a:latin typeface="Cambria"/>
              </a:rPr>
              <a:t>Шаффоф ҳисоб</a:t>
            </a:r>
          </a:p>
        </p:txBody>
      </p:sp>
      <p:sp>
        <p:nvSpPr>
          <p:cNvPr id="8" name="TextBox 7"/>
          <p:cNvSpPr txBox="1"/>
          <p:nvPr/>
        </p:nvSpPr>
        <p:spPr>
          <a:xfrm>
            <a:off x="548640" y="2797048"/>
            <a:ext cx="1999427" cy="18288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Алоҳида ҳисоб — 01.01.2027 йилдан; нопрофил харажатлар — 0 %; 2025–2026 йиллар бўйича солиқ хулосаси — 31.01.2027</a:t>
            </a:r>
          </a:p>
        </p:txBody>
      </p:sp>
      <p:sp>
        <p:nvSpPr>
          <p:cNvPr id="9" name="Rounded Rectangle 8"/>
          <p:cNvSpPr/>
          <p:nvPr/>
        </p:nvSpPr>
        <p:spPr>
          <a:xfrm>
            <a:off x="2822387" y="1691640"/>
            <a:ext cx="51206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02</a:t>
            </a:r>
          </a:p>
        </p:txBody>
      </p:sp>
      <p:sp>
        <p:nvSpPr>
          <p:cNvPr id="10" name="TextBox 9"/>
          <p:cNvSpPr txBox="1"/>
          <p:nvPr/>
        </p:nvSpPr>
        <p:spPr>
          <a:xfrm>
            <a:off x="2822387" y="2103120"/>
            <a:ext cx="1999427" cy="584200"/>
          </a:xfrm>
          <a:prstGeom prst="rect">
            <a:avLst/>
          </a:prstGeom>
          <a:noFill/>
        </p:spPr>
        <p:txBody>
          <a:bodyPr wrap="square" lIns="0" rIns="0" tIns="0" bIns="0" anchor="t">
            <a:noAutofit/>
          </a:bodyPr>
          <a:lstStyle/>
          <a:p>
            <a:pPr algn="l">
              <a:lnSpc>
                <a:spcPts val="2300"/>
              </a:lnSpc>
            </a:pPr>
            <a:r>
              <a:rPr sz="2000" b="0" i="0" lang="uz-Cyrl-UZ" spc="-40">
                <a:solidFill>
                  <a:srgbClr val="242424"/>
                </a:solidFill>
                <a:latin typeface="Cambria"/>
              </a:rPr>
              <a:t>Ишлайдиган иккинчи қават</a:t>
            </a:r>
          </a:p>
        </p:txBody>
      </p:sp>
      <p:sp>
        <p:nvSpPr>
          <p:cNvPr id="11" name="TextBox 10"/>
          <p:cNvSpPr txBox="1"/>
          <p:nvPr/>
        </p:nvSpPr>
        <p:spPr>
          <a:xfrm>
            <a:off x="2822387" y="2797048"/>
            <a:ext cx="1999427" cy="18288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13 янги интерактив экспонат, ҳар бири кунларнинг камида 95 фоизида соз ҳолатда</a:t>
            </a:r>
          </a:p>
        </p:txBody>
      </p:sp>
      <p:cxnSp>
        <p:nvCxnSpPr>
          <p:cNvPr id="12" name="Connector 11"/>
          <p:cNvCxnSpPr/>
          <p:nvPr/>
        </p:nvCxnSpPr>
        <p:spPr>
          <a:xfrm>
            <a:off x="2685227" y="1691640"/>
            <a:ext cx="0" cy="2934208"/>
          </a:xfrm>
          <a:prstGeom prst="line">
            <a:avLst/>
          </a:prstGeom>
          <a:ln w="12700">
            <a:solidFill>
              <a:srgbClr val="CECAC8"/>
            </a:solidFill>
          </a:ln>
        </p:spPr>
      </p:cxnSp>
      <p:sp>
        <p:nvSpPr>
          <p:cNvPr id="13" name="Rounded Rectangle 12"/>
          <p:cNvSpPr/>
          <p:nvPr/>
        </p:nvSpPr>
        <p:spPr>
          <a:xfrm>
            <a:off x="5096134" y="1691640"/>
            <a:ext cx="51206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03</a:t>
            </a:r>
          </a:p>
        </p:txBody>
      </p:sp>
      <p:sp>
        <p:nvSpPr>
          <p:cNvPr id="14" name="TextBox 13"/>
          <p:cNvSpPr txBox="1"/>
          <p:nvPr/>
        </p:nvSpPr>
        <p:spPr>
          <a:xfrm>
            <a:off x="5096134" y="2103120"/>
            <a:ext cx="1999427" cy="584200"/>
          </a:xfrm>
          <a:prstGeom prst="rect">
            <a:avLst/>
          </a:prstGeom>
          <a:noFill/>
        </p:spPr>
        <p:txBody>
          <a:bodyPr wrap="square" lIns="0" rIns="0" tIns="0" bIns="0" anchor="t">
            <a:noAutofit/>
          </a:bodyPr>
          <a:lstStyle/>
          <a:p>
            <a:pPr algn="l">
              <a:lnSpc>
                <a:spcPts val="2300"/>
              </a:lnSpc>
            </a:pPr>
            <a:r>
              <a:rPr sz="2000" b="0" i="0" lang="uz-Cyrl-UZ" spc="-40">
                <a:solidFill>
                  <a:srgbClr val="242424"/>
                </a:solidFill>
                <a:latin typeface="Cambria"/>
              </a:rPr>
              <a:t>Делегациялар учун майдон</a:t>
            </a:r>
          </a:p>
        </p:txBody>
      </p:sp>
      <p:sp>
        <p:nvSpPr>
          <p:cNvPr id="15" name="TextBox 14"/>
          <p:cNvSpPr txBox="1"/>
          <p:nvPr/>
        </p:nvSpPr>
        <p:spPr>
          <a:xfrm>
            <a:off x="5096134" y="2797048"/>
            <a:ext cx="1999427" cy="18288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8 та тадбир ва 1 000 нафар корпоратив меҳмон; тадбирлар учун жиҳоз</a:t>
            </a:r>
          </a:p>
        </p:txBody>
      </p:sp>
      <p:cxnSp>
        <p:nvCxnSpPr>
          <p:cNvPr id="16" name="Connector 15"/>
          <p:cNvCxnSpPr/>
          <p:nvPr/>
        </p:nvCxnSpPr>
        <p:spPr>
          <a:xfrm>
            <a:off x="4958974" y="1691640"/>
            <a:ext cx="0" cy="2934208"/>
          </a:xfrm>
          <a:prstGeom prst="line">
            <a:avLst/>
          </a:prstGeom>
          <a:ln w="12700">
            <a:solidFill>
              <a:srgbClr val="CECAC8"/>
            </a:solidFill>
          </a:ln>
        </p:spPr>
      </p:cxnSp>
      <p:sp>
        <p:nvSpPr>
          <p:cNvPr id="17" name="Rounded Rectangle 16"/>
          <p:cNvSpPr/>
          <p:nvPr/>
        </p:nvSpPr>
        <p:spPr>
          <a:xfrm>
            <a:off x="7369881" y="1691640"/>
            <a:ext cx="51206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04</a:t>
            </a:r>
          </a:p>
        </p:txBody>
      </p:sp>
      <p:sp>
        <p:nvSpPr>
          <p:cNvPr id="18" name="TextBox 17"/>
          <p:cNvSpPr txBox="1"/>
          <p:nvPr/>
        </p:nvSpPr>
        <p:spPr>
          <a:xfrm>
            <a:off x="7369881" y="2103120"/>
            <a:ext cx="1999427" cy="584200"/>
          </a:xfrm>
          <a:prstGeom prst="rect">
            <a:avLst/>
          </a:prstGeom>
          <a:noFill/>
        </p:spPr>
        <p:txBody>
          <a:bodyPr wrap="square" lIns="0" rIns="0" tIns="0" bIns="0" anchor="t">
            <a:noAutofit/>
          </a:bodyPr>
          <a:lstStyle/>
          <a:p>
            <a:pPr algn="l">
              <a:lnSpc>
                <a:spcPts val="2300"/>
              </a:lnSpc>
            </a:pPr>
            <a:r>
              <a:rPr sz="2000" b="0" i="0" lang="uz-Cyrl-UZ" spc="-40">
                <a:solidFill>
                  <a:srgbClr val="242424"/>
                </a:solidFill>
                <a:latin typeface="Cambria"/>
              </a:rPr>
              <a:t>Кадрлар заҳираси</a:t>
            </a:r>
          </a:p>
        </p:txBody>
      </p:sp>
      <p:sp>
        <p:nvSpPr>
          <p:cNvPr id="19" name="TextBox 18"/>
          <p:cNvSpPr txBox="1"/>
          <p:nvPr/>
        </p:nvSpPr>
        <p:spPr>
          <a:xfrm>
            <a:off x="7369881" y="2797048"/>
            <a:ext cx="1999427" cy="18288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Мактаб дастури — 4 000 нафар ўқувчи; II чоракда 3 та олий таълим муассасаси билан келишув (режа)</a:t>
            </a:r>
          </a:p>
        </p:txBody>
      </p:sp>
      <p:cxnSp>
        <p:nvCxnSpPr>
          <p:cNvPr id="20" name="Connector 19"/>
          <p:cNvCxnSpPr/>
          <p:nvPr/>
        </p:nvCxnSpPr>
        <p:spPr>
          <a:xfrm>
            <a:off x="7232721" y="1691640"/>
            <a:ext cx="0" cy="2934208"/>
          </a:xfrm>
          <a:prstGeom prst="line">
            <a:avLst/>
          </a:prstGeom>
          <a:ln w="12700">
            <a:solidFill>
              <a:srgbClr val="CECAC8"/>
            </a:solidFill>
          </a:ln>
        </p:spPr>
      </p:cxnSp>
      <p:sp>
        <p:nvSpPr>
          <p:cNvPr id="21" name="Rounded Rectangle 20"/>
          <p:cNvSpPr/>
          <p:nvPr/>
        </p:nvSpPr>
        <p:spPr>
          <a:xfrm>
            <a:off x="9643628" y="1691640"/>
            <a:ext cx="512064" cy="274320"/>
          </a:xfrm>
          <a:prstGeom prst="roundRect">
            <a:avLst>
              <a:gd name="adj" fmla="val 50000"/>
            </a:avLst>
          </a:prstGeom>
          <a:solidFill>
            <a:srgbClr val="2B59D1"/>
          </a:solidFill>
          <a:ln>
            <a:noFill/>
          </a:ln>
          <a:effectLst/>
        </p:spPr>
        <p:txBody>
          <a:bodyPr rtlCol="0" anchor="ctr" lIns="0" rIns="0" tIns="0" bIns="0" wrap="none"/>
          <a:lstStyle/>
          <a:p>
            <a:pPr algn="ctr">
              <a:lnSpc>
                <a:spcPts val="1300"/>
              </a:lnSpc>
            </a:pPr>
            <a:r>
              <a:rPr sz="1000" b="0" i="0" lang="uz-Cyrl-UZ">
                <a:solidFill>
                  <a:srgbClr val="F6F3F1"/>
                </a:solidFill>
                <a:latin typeface="Consolas"/>
              </a:rPr>
              <a:t>05</a:t>
            </a:r>
          </a:p>
        </p:txBody>
      </p:sp>
      <p:sp>
        <p:nvSpPr>
          <p:cNvPr id="22" name="TextBox 21"/>
          <p:cNvSpPr txBox="1"/>
          <p:nvPr/>
        </p:nvSpPr>
        <p:spPr>
          <a:xfrm>
            <a:off x="9643628" y="2103120"/>
            <a:ext cx="1999427" cy="584200"/>
          </a:xfrm>
          <a:prstGeom prst="rect">
            <a:avLst/>
          </a:prstGeom>
          <a:noFill/>
        </p:spPr>
        <p:txBody>
          <a:bodyPr wrap="square" lIns="0" rIns="0" tIns="0" bIns="0" anchor="t">
            <a:noAutofit/>
          </a:bodyPr>
          <a:lstStyle/>
          <a:p>
            <a:pPr algn="l">
              <a:lnSpc>
                <a:spcPts val="2300"/>
              </a:lnSpc>
            </a:pPr>
            <a:r>
              <a:rPr sz="2000" b="0" i="0" lang="uz-Cyrl-UZ" spc="-40">
                <a:solidFill>
                  <a:srgbClr val="242424"/>
                </a:solidFill>
                <a:latin typeface="Cambria"/>
              </a:rPr>
              <a:t>Давлат бюджети маблағларисиз</a:t>
            </a:r>
          </a:p>
        </p:txBody>
      </p:sp>
      <p:sp>
        <p:nvSpPr>
          <p:cNvPr id="23" name="TextBox 22"/>
          <p:cNvSpPr txBox="1"/>
          <p:nvPr/>
        </p:nvSpPr>
        <p:spPr>
          <a:xfrm>
            <a:off x="9643628" y="2797048"/>
            <a:ext cx="1999427" cy="18288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Ривожланиш ижара тушуми ва депозитлар ҳисобидан</a:t>
            </a:r>
          </a:p>
        </p:txBody>
      </p:sp>
      <p:cxnSp>
        <p:nvCxnSpPr>
          <p:cNvPr id="24" name="Connector 23"/>
          <p:cNvCxnSpPr/>
          <p:nvPr/>
        </p:nvCxnSpPr>
        <p:spPr>
          <a:xfrm>
            <a:off x="9506468" y="1691640"/>
            <a:ext cx="0" cy="2934208"/>
          </a:xfrm>
          <a:prstGeom prst="line">
            <a:avLst/>
          </a:prstGeom>
          <a:ln w="12700">
            <a:solidFill>
              <a:srgbClr val="CECAC8"/>
            </a:solidFill>
          </a:ln>
        </p:spPr>
      </p:cxnSp>
      <p:sp>
        <p:nvSpPr>
          <p:cNvPr id="25" name="Positioning card"/>
          <p:cNvSpPr/>
          <p:nvPr/>
        </p:nvSpPr>
        <p:spPr>
          <a:xfrm>
            <a:off x="548640" y="4883404"/>
            <a:ext cx="11094415" cy="859536"/>
          </a:xfrm>
          <a:prstGeom prst="roundRect">
            <a:avLst>
              <a:gd name="adj" fmla="val 42553"/>
            </a:avLst>
          </a:prstGeom>
          <a:solidFill>
            <a:srgbClr val="CFDAF5"/>
          </a:solidFill>
          <a:ln>
            <a:noFill/>
          </a:ln>
          <a:effectLst/>
        </p:spPr>
        <p:txBody>
          <a:bodyPr rtlCol="0" anchor="ctr" lIns="0" rIns="0" tIns="0" bIns="0"/>
          <a:lstStyle/>
          <a:p>
            <a:pPr algn="ctr"/>
          </a:p>
        </p:txBody>
      </p:sp>
      <p:sp>
        <p:nvSpPr>
          <p:cNvPr id="26" name="Rounded Rectangle 25"/>
          <p:cNvSpPr/>
          <p:nvPr/>
        </p:nvSpPr>
        <p:spPr>
          <a:xfrm>
            <a:off x="822960" y="5057140"/>
            <a:ext cx="64173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МАВҚЕ</a:t>
            </a:r>
          </a:p>
        </p:txBody>
      </p:sp>
      <p:sp>
        <p:nvSpPr>
          <p:cNvPr id="27" name="TextBox 26"/>
          <p:cNvSpPr txBox="1"/>
          <p:nvPr/>
        </p:nvSpPr>
        <p:spPr>
          <a:xfrm>
            <a:off x="1965960" y="5084572"/>
            <a:ext cx="9402775" cy="4572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Музей болалар марказлари билан рақобатлашмайди. Унинг таянчи — 30 тадан ортиқ ретро-автомобиль, ишлайдиган интерактив экспонатлар ва автосаноат билан бевосита алоқа.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42424"/>
        </a:solidFill>
        <a:effectLst/>
      </p:bgPr>
    </p:bg>
    <p:spTree>
      <p:nvGrpSpPr>
        <p:cNvPr id="1" name=""/>
        <p:cNvGrpSpPr/>
        <p:nvPr/>
      </p:nvGrpSpPr>
      <p:grpSpPr/>
      <p:sp>
        <p:nvSpPr>
          <p:cNvPr id="2" name="Section"/>
          <p:cNvSpPr/>
          <p:nvPr/>
        </p:nvSpPr>
        <p:spPr>
          <a:xfrm>
            <a:off x="548640" y="548640"/>
            <a:ext cx="1689112"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F6F3F1"/>
                </a:solidFill>
                <a:latin typeface="Consolas"/>
              </a:rPr>
              <a:t>03 · 2027 ЙИЛ РЕЖАСИ</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F6F3F1"/>
                </a:solidFill>
                <a:latin typeface="Cambria"/>
              </a:rPr>
              <a:t>Ҳар бир чорак аниқ натижа билан якунланади</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CECAC8"/>
                </a:solidFill>
                <a:latin typeface="Consolas"/>
              </a:rPr>
              <a:t>06 / 20</a:t>
            </a:r>
          </a:p>
        </p:txBody>
      </p:sp>
      <p:sp>
        <p:nvSpPr>
          <p:cNvPr id="5" name="Source"/>
          <p:cNvSpPr txBox="1"/>
          <p:nvPr/>
        </p:nvSpPr>
        <p:spPr>
          <a:xfrm>
            <a:off x="548640" y="5871210"/>
            <a:ext cx="9905695" cy="438150"/>
          </a:xfrm>
          <a:prstGeom prst="rect">
            <a:avLst/>
          </a:prstGeom>
          <a:noFill/>
        </p:spPr>
        <p:txBody>
          <a:bodyPr wrap="square" lIns="0" rIns="0" tIns="0" bIns="0" anchor="b">
            <a:noAutofit/>
          </a:bodyPr>
          <a:lstStyle/>
          <a:p>
            <a:pPr algn="l">
              <a:lnSpc>
                <a:spcPts val="1150"/>
              </a:lnSpc>
            </a:pPr>
            <a:r>
              <a:rPr sz="900" b="0" i="0" lang="uz-Cyrl-UZ">
                <a:solidFill>
                  <a:srgbClr val="CECAC8"/>
                </a:solidFill>
                <a:latin typeface="Consolas"/>
              </a:rPr>
              <a:t>III чорак — паст мавсум: 2025 йилда 3 284 киши (йилнинг 14,6 %); 2027 йил III чорак режаси — 2025 йилга нисбатан +64,4 %. 0-босқич — кутилиш: 2025 × (1 − 17,3 %). Муддатлар 20.10.2026 йилдан ҳисобланган. Манба: М5 “Ташрифчилар 2027”, “Кўрсаткичлар 2027”; Экспозицияни янгилаш дастури (дастлабки 90 кун режаси).</a:t>
            </a:r>
          </a:p>
        </p:txBody>
      </p:sp>
      <p:sp>
        <p:nvSpPr>
          <p:cNvPr id="6" name="TextBox 5"/>
          <p:cNvSpPr txBox="1"/>
          <p:nvPr/>
        </p:nvSpPr>
        <p:spPr>
          <a:xfrm>
            <a:off x="548640" y="1691640"/>
            <a:ext cx="11094415" cy="237744"/>
          </a:xfrm>
          <a:prstGeom prst="rect">
            <a:avLst/>
          </a:prstGeom>
          <a:noFill/>
        </p:spPr>
        <p:txBody>
          <a:bodyPr wrap="square" lIns="0" rIns="0" tIns="0" bIns="0" anchor="t">
            <a:noAutofit/>
          </a:bodyPr>
          <a:lstStyle/>
          <a:p>
            <a:pPr algn="l">
              <a:lnSpc>
                <a:spcPts val="1800"/>
              </a:lnSpc>
            </a:pPr>
            <a:r>
              <a:rPr sz="1400" b="0" i="0" lang="uz-Cyrl-UZ">
                <a:solidFill>
                  <a:srgbClr val="CECAC8"/>
                </a:solidFill>
                <a:latin typeface="Consolas"/>
              </a:rPr>
              <a:t>Йил мақсади — ишлайдиган 2-қават ва 29 000 ташрифчи, давлат бюджети маблағларисиз</a:t>
            </a:r>
          </a:p>
        </p:txBody>
      </p:sp>
      <p:sp>
        <p:nvSpPr>
          <p:cNvPr id="7" name="Rounded Rectangle 6"/>
          <p:cNvSpPr/>
          <p:nvPr/>
        </p:nvSpPr>
        <p:spPr>
          <a:xfrm>
            <a:off x="548640" y="2148840"/>
            <a:ext cx="1999427" cy="292608"/>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F6F3F1"/>
                </a:solidFill>
                <a:latin typeface="Consolas"/>
              </a:rPr>
              <a:t>0-БОСҚИЧ · ОКТ–ДЕК 2026</a:t>
            </a:r>
          </a:p>
        </p:txBody>
      </p:sp>
      <p:sp>
        <p:nvSpPr>
          <p:cNvPr id="8" name="TextBox 7"/>
          <p:cNvSpPr txBox="1"/>
          <p:nvPr/>
        </p:nvSpPr>
        <p:spPr>
          <a:xfrm>
            <a:off x="548640" y="2606040"/>
            <a:ext cx="1999427" cy="1600200"/>
          </a:xfrm>
          <a:prstGeom prst="rect">
            <a:avLst/>
          </a:prstGeom>
          <a:noFill/>
        </p:spPr>
        <p:txBody>
          <a:bodyPr wrap="square" lIns="0" rIns="0" tIns="0" bIns="0" anchor="t">
            <a:noAutofit/>
          </a:bodyPr>
          <a:lstStyle/>
          <a:p>
            <a:pPr algn="l">
              <a:lnSpc>
                <a:spcPts val="1800"/>
              </a:lnSpc>
            </a:pPr>
            <a:r>
              <a:rPr sz="1400" b="0" i="0" lang="uz-Cyrl-UZ">
                <a:solidFill>
                  <a:srgbClr val="F6F3F1"/>
                </a:solidFill>
                <a:latin typeface="Consolas"/>
              </a:rPr>
              <a:t>Олтита қарор қабул қилинган, дастур раҳбари тайинланган, хатлов ўтказилган, биринчи тўлқинга буюртма берилган</a:t>
            </a:r>
          </a:p>
        </p:txBody>
      </p:sp>
      <p:sp>
        <p:nvSpPr>
          <p:cNvPr id="9" name="TextBox 8"/>
          <p:cNvSpPr txBox="1"/>
          <p:nvPr/>
        </p:nvSpPr>
        <p:spPr>
          <a:xfrm>
            <a:off x="548640" y="4407408"/>
            <a:ext cx="1999427" cy="182880"/>
          </a:xfrm>
          <a:prstGeom prst="rect">
            <a:avLst/>
          </a:prstGeom>
          <a:noFill/>
        </p:spPr>
        <p:txBody>
          <a:bodyPr wrap="square" lIns="0" rIns="0" tIns="0" bIns="0" anchor="t">
            <a:noAutofit/>
          </a:bodyPr>
          <a:lstStyle/>
          <a:p>
            <a:pPr algn="l">
              <a:lnSpc>
                <a:spcPts val="1300"/>
              </a:lnSpc>
            </a:pPr>
            <a:r>
              <a:rPr sz="1000" b="0" i="0" lang="uz-Cyrl-UZ">
                <a:solidFill>
                  <a:srgbClr val="CECAC8"/>
                </a:solidFill>
                <a:latin typeface="Consolas"/>
              </a:rPr>
              <a:t>ТАШРИФЧИЛАР, КУТИЛИШ</a:t>
            </a:r>
          </a:p>
        </p:txBody>
      </p:sp>
      <p:sp>
        <p:nvSpPr>
          <p:cNvPr id="10" name="TextBox 9"/>
          <p:cNvSpPr txBox="1"/>
          <p:nvPr/>
        </p:nvSpPr>
        <p:spPr>
          <a:xfrm>
            <a:off x="548640" y="4645152"/>
            <a:ext cx="1999427" cy="512064"/>
          </a:xfrm>
          <a:prstGeom prst="rect">
            <a:avLst/>
          </a:prstGeom>
          <a:noFill/>
        </p:spPr>
        <p:txBody>
          <a:bodyPr wrap="square" lIns="0" rIns="0" tIns="0" bIns="0" anchor="t">
            <a:noAutofit/>
          </a:bodyPr>
          <a:lstStyle/>
          <a:p>
            <a:pPr algn="l">
              <a:lnSpc>
                <a:spcPts val="4000"/>
              </a:lnSpc>
            </a:pPr>
            <a:r>
              <a:rPr sz="3800" b="0" i="0" lang="uz-Cyrl-UZ" spc="-76">
                <a:solidFill>
                  <a:srgbClr val="F6F3F1"/>
                </a:solidFill>
                <a:latin typeface="Cambria"/>
              </a:rPr>
              <a:t>≈5 200</a:t>
            </a:r>
          </a:p>
        </p:txBody>
      </p:sp>
      <p:sp>
        <p:nvSpPr>
          <p:cNvPr id="11" name="Rounded Rectangle 10"/>
          <p:cNvSpPr/>
          <p:nvPr/>
        </p:nvSpPr>
        <p:spPr>
          <a:xfrm>
            <a:off x="2822387" y="2148840"/>
            <a:ext cx="1999427" cy="292608"/>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F6F3F1"/>
                </a:solidFill>
                <a:latin typeface="Consolas"/>
              </a:rPr>
              <a:t>I ЧОРАК · ЯНВ–МАР 2027</a:t>
            </a:r>
          </a:p>
        </p:txBody>
      </p:sp>
      <p:cxnSp>
        <p:nvCxnSpPr>
          <p:cNvPr id="12" name="Connector 11"/>
          <p:cNvCxnSpPr/>
          <p:nvPr/>
        </p:nvCxnSpPr>
        <p:spPr>
          <a:xfrm>
            <a:off x="2548067" y="2295144"/>
            <a:ext cx="274320" cy="0"/>
          </a:xfrm>
          <a:prstGeom prst="line">
            <a:avLst/>
          </a:prstGeom>
          <a:ln w="12700">
            <a:solidFill>
              <a:srgbClr val="CECAC8"/>
            </a:solidFill>
          </a:ln>
        </p:spPr>
      </p:cxnSp>
      <p:sp>
        <p:nvSpPr>
          <p:cNvPr id="13" name="TextBox 12"/>
          <p:cNvSpPr txBox="1"/>
          <p:nvPr/>
        </p:nvSpPr>
        <p:spPr>
          <a:xfrm>
            <a:off x="2822387" y="2606040"/>
            <a:ext cx="1999427" cy="1600200"/>
          </a:xfrm>
          <a:prstGeom prst="rect">
            <a:avLst/>
          </a:prstGeom>
          <a:noFill/>
        </p:spPr>
        <p:txBody>
          <a:bodyPr wrap="square" lIns="0" rIns="0" tIns="0" bIns="0" anchor="t">
            <a:noAutofit/>
          </a:bodyPr>
          <a:lstStyle/>
          <a:p>
            <a:pPr algn="l">
              <a:lnSpc>
                <a:spcPts val="1800"/>
              </a:lnSpc>
            </a:pPr>
            <a:r>
              <a:rPr sz="1400" b="0" i="0" lang="uz-Cyrl-UZ">
                <a:solidFill>
                  <a:srgbClr val="F6F3F1"/>
                </a:solidFill>
                <a:latin typeface="Consolas"/>
              </a:rPr>
              <a:t>Нопрофил харажатлар — 0 %, янги штат тўлдирилган, таъмир бошланган, 5 экспонат ишга туширилган</a:t>
            </a:r>
          </a:p>
        </p:txBody>
      </p:sp>
      <p:sp>
        <p:nvSpPr>
          <p:cNvPr id="14" name="TextBox 13"/>
          <p:cNvSpPr txBox="1"/>
          <p:nvPr/>
        </p:nvSpPr>
        <p:spPr>
          <a:xfrm>
            <a:off x="2822387" y="4407408"/>
            <a:ext cx="1999427" cy="182880"/>
          </a:xfrm>
          <a:prstGeom prst="rect">
            <a:avLst/>
          </a:prstGeom>
          <a:noFill/>
        </p:spPr>
        <p:txBody>
          <a:bodyPr wrap="square" lIns="0" rIns="0" tIns="0" bIns="0" anchor="t">
            <a:noAutofit/>
          </a:bodyPr>
          <a:lstStyle/>
          <a:p>
            <a:pPr algn="l">
              <a:lnSpc>
                <a:spcPts val="1300"/>
              </a:lnSpc>
            </a:pPr>
            <a:r>
              <a:rPr sz="1000" b="0" i="0" lang="uz-Cyrl-UZ">
                <a:solidFill>
                  <a:srgbClr val="CECAC8"/>
                </a:solidFill>
                <a:latin typeface="Consolas"/>
              </a:rPr>
              <a:t>ТАШРИФЧИЛАР, РЕЖА</a:t>
            </a:r>
          </a:p>
        </p:txBody>
      </p:sp>
      <p:sp>
        <p:nvSpPr>
          <p:cNvPr id="15" name="TextBox 14"/>
          <p:cNvSpPr txBox="1"/>
          <p:nvPr/>
        </p:nvSpPr>
        <p:spPr>
          <a:xfrm>
            <a:off x="2822387" y="4645152"/>
            <a:ext cx="1999427" cy="512064"/>
          </a:xfrm>
          <a:prstGeom prst="rect">
            <a:avLst/>
          </a:prstGeom>
          <a:noFill/>
        </p:spPr>
        <p:txBody>
          <a:bodyPr wrap="square" lIns="0" rIns="0" tIns="0" bIns="0" anchor="t">
            <a:noAutofit/>
          </a:bodyPr>
          <a:lstStyle/>
          <a:p>
            <a:pPr algn="l">
              <a:lnSpc>
                <a:spcPts val="4000"/>
              </a:lnSpc>
            </a:pPr>
            <a:r>
              <a:rPr sz="3800" b="0" i="0" lang="uz-Cyrl-UZ" spc="-76">
                <a:solidFill>
                  <a:srgbClr val="F6F3F1"/>
                </a:solidFill>
                <a:latin typeface="Cambria"/>
              </a:rPr>
              <a:t>5 800</a:t>
            </a:r>
          </a:p>
        </p:txBody>
      </p:sp>
      <p:sp>
        <p:nvSpPr>
          <p:cNvPr id="16" name="Rounded Rectangle 15"/>
          <p:cNvSpPr/>
          <p:nvPr/>
        </p:nvSpPr>
        <p:spPr>
          <a:xfrm>
            <a:off x="5096134" y="2148840"/>
            <a:ext cx="1999427" cy="292608"/>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F6F3F1"/>
                </a:solidFill>
                <a:latin typeface="Consolas"/>
              </a:rPr>
              <a:t>II ЧОРАК · АПР–ИЮН</a:t>
            </a:r>
          </a:p>
        </p:txBody>
      </p:sp>
      <p:cxnSp>
        <p:nvCxnSpPr>
          <p:cNvPr id="17" name="Connector 16"/>
          <p:cNvCxnSpPr/>
          <p:nvPr/>
        </p:nvCxnSpPr>
        <p:spPr>
          <a:xfrm>
            <a:off x="4821814" y="2295144"/>
            <a:ext cx="274320" cy="0"/>
          </a:xfrm>
          <a:prstGeom prst="line">
            <a:avLst/>
          </a:prstGeom>
          <a:ln w="12700">
            <a:solidFill>
              <a:srgbClr val="CECAC8"/>
            </a:solidFill>
          </a:ln>
        </p:spPr>
      </p:cxnSp>
      <p:sp>
        <p:nvSpPr>
          <p:cNvPr id="18" name="TextBox 17"/>
          <p:cNvSpPr txBox="1"/>
          <p:nvPr/>
        </p:nvSpPr>
        <p:spPr>
          <a:xfrm>
            <a:off x="5096134" y="2606040"/>
            <a:ext cx="1999427" cy="1600200"/>
          </a:xfrm>
          <a:prstGeom prst="rect">
            <a:avLst/>
          </a:prstGeom>
          <a:noFill/>
        </p:spPr>
        <p:txBody>
          <a:bodyPr wrap="square" lIns="0" rIns="0" tIns="0" bIns="0" anchor="t">
            <a:noAutofit/>
          </a:bodyPr>
          <a:lstStyle/>
          <a:p>
            <a:pPr algn="l">
              <a:lnSpc>
                <a:spcPts val="1800"/>
              </a:lnSpc>
            </a:pPr>
            <a:r>
              <a:rPr sz="1400" b="0" i="0" lang="uz-Cyrl-UZ">
                <a:solidFill>
                  <a:srgbClr val="F6F3F1"/>
                </a:solidFill>
                <a:latin typeface="Consolas"/>
              </a:rPr>
              <a:t>Тарифлар ва онлайн сотув жорий этилган, 13 экспонат ишга туширилган</a:t>
            </a:r>
          </a:p>
        </p:txBody>
      </p:sp>
      <p:sp>
        <p:nvSpPr>
          <p:cNvPr id="19" name="TextBox 18"/>
          <p:cNvSpPr txBox="1"/>
          <p:nvPr/>
        </p:nvSpPr>
        <p:spPr>
          <a:xfrm>
            <a:off x="5096134" y="4407408"/>
            <a:ext cx="1999427" cy="182880"/>
          </a:xfrm>
          <a:prstGeom prst="rect">
            <a:avLst/>
          </a:prstGeom>
          <a:noFill/>
        </p:spPr>
        <p:txBody>
          <a:bodyPr wrap="square" lIns="0" rIns="0" tIns="0" bIns="0" anchor="t">
            <a:noAutofit/>
          </a:bodyPr>
          <a:lstStyle/>
          <a:p>
            <a:pPr algn="l">
              <a:lnSpc>
                <a:spcPts val="1300"/>
              </a:lnSpc>
            </a:pPr>
            <a:r>
              <a:rPr sz="1000" b="0" i="0" lang="uz-Cyrl-UZ">
                <a:solidFill>
                  <a:srgbClr val="CECAC8"/>
                </a:solidFill>
                <a:latin typeface="Consolas"/>
              </a:rPr>
              <a:t>ТАШРИФЧИЛАР, РЕЖА</a:t>
            </a:r>
          </a:p>
        </p:txBody>
      </p:sp>
      <p:sp>
        <p:nvSpPr>
          <p:cNvPr id="20" name="TextBox 19"/>
          <p:cNvSpPr txBox="1"/>
          <p:nvPr/>
        </p:nvSpPr>
        <p:spPr>
          <a:xfrm>
            <a:off x="5096134" y="4645152"/>
            <a:ext cx="1999427" cy="512064"/>
          </a:xfrm>
          <a:prstGeom prst="rect">
            <a:avLst/>
          </a:prstGeom>
          <a:noFill/>
        </p:spPr>
        <p:txBody>
          <a:bodyPr wrap="square" lIns="0" rIns="0" tIns="0" bIns="0" anchor="t">
            <a:noAutofit/>
          </a:bodyPr>
          <a:lstStyle/>
          <a:p>
            <a:pPr algn="l">
              <a:lnSpc>
                <a:spcPts val="4000"/>
              </a:lnSpc>
            </a:pPr>
            <a:r>
              <a:rPr sz="3800" b="0" i="0" lang="uz-Cyrl-UZ" spc="-76">
                <a:solidFill>
                  <a:srgbClr val="F6F3F1"/>
                </a:solidFill>
                <a:latin typeface="Cambria"/>
              </a:rPr>
              <a:t>8 300</a:t>
            </a:r>
          </a:p>
        </p:txBody>
      </p:sp>
      <p:sp>
        <p:nvSpPr>
          <p:cNvPr id="21" name="Rounded Rectangle 20"/>
          <p:cNvSpPr/>
          <p:nvPr/>
        </p:nvSpPr>
        <p:spPr>
          <a:xfrm>
            <a:off x="7369881" y="2148840"/>
            <a:ext cx="1999427" cy="292608"/>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F6F3F1"/>
                </a:solidFill>
                <a:latin typeface="Consolas"/>
              </a:rPr>
              <a:t>III ЧОРАК · ИЮЛ–СЕН</a:t>
            </a:r>
          </a:p>
        </p:txBody>
      </p:sp>
      <p:cxnSp>
        <p:nvCxnSpPr>
          <p:cNvPr id="22" name="Connector 21"/>
          <p:cNvCxnSpPr/>
          <p:nvPr/>
        </p:nvCxnSpPr>
        <p:spPr>
          <a:xfrm>
            <a:off x="7095561" y="2295144"/>
            <a:ext cx="274320" cy="0"/>
          </a:xfrm>
          <a:prstGeom prst="line">
            <a:avLst/>
          </a:prstGeom>
          <a:ln w="12700">
            <a:solidFill>
              <a:srgbClr val="CECAC8"/>
            </a:solidFill>
          </a:ln>
        </p:spPr>
      </p:cxnSp>
      <p:sp>
        <p:nvSpPr>
          <p:cNvPr id="23" name="TextBox 22"/>
          <p:cNvSpPr txBox="1"/>
          <p:nvPr/>
        </p:nvSpPr>
        <p:spPr>
          <a:xfrm>
            <a:off x="7369881" y="2606040"/>
            <a:ext cx="1999427" cy="1600200"/>
          </a:xfrm>
          <a:prstGeom prst="rect">
            <a:avLst/>
          </a:prstGeom>
          <a:noFill/>
        </p:spPr>
        <p:txBody>
          <a:bodyPr wrap="square" lIns="0" rIns="0" tIns="0" bIns="0" anchor="t">
            <a:noAutofit/>
          </a:bodyPr>
          <a:lstStyle/>
          <a:p>
            <a:pPr algn="l">
              <a:lnSpc>
                <a:spcPts val="1800"/>
              </a:lnSpc>
            </a:pPr>
            <a:r>
              <a:rPr sz="1400" b="0" i="0" lang="uz-Cyrl-UZ">
                <a:solidFill>
                  <a:srgbClr val="F6F3F1"/>
                </a:solidFill>
                <a:latin typeface="Consolas"/>
              </a:rPr>
              <a:t>Ёзги дастурлар ўтказилган, 9 ой якунида 19 500 ташрифчи</a:t>
            </a:r>
          </a:p>
        </p:txBody>
      </p:sp>
      <p:sp>
        <p:nvSpPr>
          <p:cNvPr id="24" name="TextBox 23"/>
          <p:cNvSpPr txBox="1"/>
          <p:nvPr/>
        </p:nvSpPr>
        <p:spPr>
          <a:xfrm>
            <a:off x="7369881" y="4407408"/>
            <a:ext cx="1999427" cy="182880"/>
          </a:xfrm>
          <a:prstGeom prst="rect">
            <a:avLst/>
          </a:prstGeom>
          <a:noFill/>
        </p:spPr>
        <p:txBody>
          <a:bodyPr wrap="square" lIns="0" rIns="0" tIns="0" bIns="0" anchor="t">
            <a:noAutofit/>
          </a:bodyPr>
          <a:lstStyle/>
          <a:p>
            <a:pPr algn="l">
              <a:lnSpc>
                <a:spcPts val="1300"/>
              </a:lnSpc>
            </a:pPr>
            <a:r>
              <a:rPr sz="1000" b="0" i="0" lang="uz-Cyrl-UZ">
                <a:solidFill>
                  <a:srgbClr val="CECAC8"/>
                </a:solidFill>
                <a:latin typeface="Consolas"/>
              </a:rPr>
              <a:t>ТАШРИФЧИЛАР, РЕЖА</a:t>
            </a:r>
          </a:p>
        </p:txBody>
      </p:sp>
      <p:sp>
        <p:nvSpPr>
          <p:cNvPr id="25" name="TextBox 24"/>
          <p:cNvSpPr txBox="1"/>
          <p:nvPr/>
        </p:nvSpPr>
        <p:spPr>
          <a:xfrm>
            <a:off x="7369881" y="4645152"/>
            <a:ext cx="1999427" cy="512064"/>
          </a:xfrm>
          <a:prstGeom prst="rect">
            <a:avLst/>
          </a:prstGeom>
          <a:noFill/>
        </p:spPr>
        <p:txBody>
          <a:bodyPr wrap="square" lIns="0" rIns="0" tIns="0" bIns="0" anchor="t">
            <a:noAutofit/>
          </a:bodyPr>
          <a:lstStyle/>
          <a:p>
            <a:pPr algn="l">
              <a:lnSpc>
                <a:spcPts val="4000"/>
              </a:lnSpc>
            </a:pPr>
            <a:r>
              <a:rPr sz="3800" b="0" i="0" lang="uz-Cyrl-UZ" spc="-76">
                <a:solidFill>
                  <a:srgbClr val="F6F3F1"/>
                </a:solidFill>
                <a:latin typeface="Cambria"/>
              </a:rPr>
              <a:t>5 400</a:t>
            </a:r>
          </a:p>
        </p:txBody>
      </p:sp>
      <p:sp>
        <p:nvSpPr>
          <p:cNvPr id="26" name="Rounded Rectangle 25"/>
          <p:cNvSpPr/>
          <p:nvPr/>
        </p:nvSpPr>
        <p:spPr>
          <a:xfrm>
            <a:off x="9643628" y="2148840"/>
            <a:ext cx="1999427" cy="292608"/>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F6F3F1"/>
                </a:solidFill>
                <a:latin typeface="Consolas"/>
              </a:rPr>
              <a:t>IV ЧОРАК · ОКТ–ДЕК</a:t>
            </a:r>
          </a:p>
        </p:txBody>
      </p:sp>
      <p:cxnSp>
        <p:nvCxnSpPr>
          <p:cNvPr id="27" name="Connector 26"/>
          <p:cNvCxnSpPr/>
          <p:nvPr/>
        </p:nvCxnSpPr>
        <p:spPr>
          <a:xfrm>
            <a:off x="9369308" y="2295144"/>
            <a:ext cx="274320" cy="0"/>
          </a:xfrm>
          <a:prstGeom prst="line">
            <a:avLst/>
          </a:prstGeom>
          <a:ln w="12700">
            <a:solidFill>
              <a:srgbClr val="CECAC8"/>
            </a:solidFill>
          </a:ln>
        </p:spPr>
      </p:cxnSp>
      <p:sp>
        <p:nvSpPr>
          <p:cNvPr id="28" name="TextBox 27"/>
          <p:cNvSpPr txBox="1"/>
          <p:nvPr/>
        </p:nvSpPr>
        <p:spPr>
          <a:xfrm>
            <a:off x="9643628" y="2606040"/>
            <a:ext cx="1999427" cy="1600200"/>
          </a:xfrm>
          <a:prstGeom prst="rect">
            <a:avLst/>
          </a:prstGeom>
          <a:noFill/>
        </p:spPr>
        <p:txBody>
          <a:bodyPr wrap="square" lIns="0" rIns="0" tIns="0" bIns="0" anchor="t">
            <a:noAutofit/>
          </a:bodyPr>
          <a:lstStyle/>
          <a:p>
            <a:pPr algn="l">
              <a:lnSpc>
                <a:spcPts val="1800"/>
              </a:lnSpc>
            </a:pPr>
            <a:r>
              <a:rPr sz="1400" b="0" i="0" lang="uz-Cyrl-UZ">
                <a:solidFill>
                  <a:srgbClr val="F6F3F1"/>
                </a:solidFill>
                <a:latin typeface="Consolas"/>
              </a:rPr>
              <a:t>Назорат нуқтаси ўтказилган, йил якунида 29 000 ташрифчи</a:t>
            </a:r>
          </a:p>
        </p:txBody>
      </p:sp>
      <p:sp>
        <p:nvSpPr>
          <p:cNvPr id="29" name="TextBox 28"/>
          <p:cNvSpPr txBox="1"/>
          <p:nvPr/>
        </p:nvSpPr>
        <p:spPr>
          <a:xfrm>
            <a:off x="9643628" y="4407408"/>
            <a:ext cx="1999427" cy="182880"/>
          </a:xfrm>
          <a:prstGeom prst="rect">
            <a:avLst/>
          </a:prstGeom>
          <a:noFill/>
        </p:spPr>
        <p:txBody>
          <a:bodyPr wrap="square" lIns="0" rIns="0" tIns="0" bIns="0" anchor="t">
            <a:noAutofit/>
          </a:bodyPr>
          <a:lstStyle/>
          <a:p>
            <a:pPr algn="l">
              <a:lnSpc>
                <a:spcPts val="1300"/>
              </a:lnSpc>
            </a:pPr>
            <a:r>
              <a:rPr sz="1000" b="0" i="0" lang="uz-Cyrl-UZ">
                <a:solidFill>
                  <a:srgbClr val="CECAC8"/>
                </a:solidFill>
                <a:latin typeface="Consolas"/>
              </a:rPr>
              <a:t>ТАШРИФЧИЛАР, РЕЖА</a:t>
            </a:r>
          </a:p>
        </p:txBody>
      </p:sp>
      <p:sp>
        <p:nvSpPr>
          <p:cNvPr id="30" name="TextBox 29"/>
          <p:cNvSpPr txBox="1"/>
          <p:nvPr/>
        </p:nvSpPr>
        <p:spPr>
          <a:xfrm>
            <a:off x="9643628" y="4645152"/>
            <a:ext cx="1999427" cy="512064"/>
          </a:xfrm>
          <a:prstGeom prst="rect">
            <a:avLst/>
          </a:prstGeom>
          <a:noFill/>
        </p:spPr>
        <p:txBody>
          <a:bodyPr wrap="square" lIns="0" rIns="0" tIns="0" bIns="0" anchor="t">
            <a:noAutofit/>
          </a:bodyPr>
          <a:lstStyle/>
          <a:p>
            <a:pPr algn="l">
              <a:lnSpc>
                <a:spcPts val="4000"/>
              </a:lnSpc>
            </a:pPr>
            <a:r>
              <a:rPr sz="3800" b="0" i="0" lang="uz-Cyrl-UZ" spc="-76">
                <a:solidFill>
                  <a:srgbClr val="F6F3F1"/>
                </a:solidFill>
                <a:latin typeface="Cambria"/>
              </a:rPr>
              <a:t>9 500</a:t>
            </a:r>
          </a:p>
        </p:txBody>
      </p:sp>
      <p:sp>
        <p:nvSpPr>
          <p:cNvPr id="31" name="Control point"/>
          <p:cNvSpPr txBox="1"/>
          <p:nvPr/>
        </p:nvSpPr>
        <p:spPr>
          <a:xfrm>
            <a:off x="5790895" y="5368290"/>
            <a:ext cx="5852160" cy="228600"/>
          </a:xfrm>
          <a:prstGeom prst="rect">
            <a:avLst/>
          </a:prstGeom>
          <a:noFill/>
        </p:spPr>
        <p:txBody>
          <a:bodyPr wrap="square" lIns="0" rIns="0" tIns="0" bIns="0" anchor="t">
            <a:noAutofit/>
          </a:bodyPr>
          <a:lstStyle/>
          <a:p>
            <a:pPr algn="r">
              <a:lnSpc>
                <a:spcPts val="1800"/>
              </a:lnSpc>
            </a:pPr>
            <a:r>
              <a:rPr sz="1400" b="0" i="0" lang="uz-Cyrl-UZ">
                <a:solidFill>
                  <a:srgbClr val="F6F3F1"/>
                </a:solidFill>
                <a:latin typeface="Consolas"/>
              </a:rPr>
              <a:t>15.10.2027 — назорат нуқтаси ва 2-босқич бўйича қарор</a:t>
            </a:r>
          </a:p>
        </p:txBody>
      </p:sp>
      <p:sp>
        <p:nvSpPr>
          <p:cNvPr id="32" name="Control point marker"/>
          <p:cNvSpPr/>
          <p:nvPr/>
        </p:nvSpPr>
        <p:spPr>
          <a:xfrm>
            <a:off x="6187706" y="5409438"/>
            <a:ext cx="146304" cy="146304"/>
          </a:xfrm>
          <a:prstGeom prst="ellipse">
            <a:avLst/>
          </a:prstGeom>
          <a:solidFill>
            <a:srgbClr val="2B59D1"/>
          </a:solidFill>
          <a:ln>
            <a:noFill/>
          </a:ln>
          <a:effectLst/>
        </p:spPr>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1689112"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03 · 2027 ЙИЛ РЕЖАСИ</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13 янги экспонат олти ой ичида ишга туширилади</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07 / 20</a:t>
            </a:r>
          </a:p>
        </p:txBody>
      </p:sp>
      <p:sp>
        <p:nvSpPr>
          <p:cNvPr id="5" name="Source"/>
          <p:cNvSpPr txBox="1"/>
          <p:nvPr/>
        </p:nvSpPr>
        <p:spPr>
          <a:xfrm>
            <a:off x="548640" y="5871210"/>
            <a:ext cx="9905695" cy="43815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Эски экспонатлар: хатлов — 30.11.2026 йилгача; I–II чоракда кам харажатли таъмир (300,0 млн сўмгача: I чорак — 120,0, II чорак — 180,0), қолганлари чиқарилади. 2-босқичга тайёргарлик — июль–декабрь (558,0 млн сўм); 2-босқич бўйича қарор — назорат нуқтасида. Манба: Экспозицияни янгилаш дастури (20.09.2026), 1-босқич; смета, “Экспонаты”; М5 “Экспонатлар”, “Бюджет 2027”; тақдимот (21.09.2026), 8, 11–14-слайдлар.</a:t>
            </a:r>
          </a:p>
        </p:txBody>
      </p:sp>
      <p:sp>
        <p:nvSpPr>
          <p:cNvPr id="6" name="TextBox 5"/>
          <p:cNvSpPr txBox="1"/>
          <p:nvPr/>
        </p:nvSpPr>
        <p:spPr>
          <a:xfrm>
            <a:off x="548640"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797776"/>
                </a:solidFill>
                <a:latin typeface="Consolas"/>
              </a:rPr>
              <a:t>ОКТ 26</a:t>
            </a:r>
          </a:p>
        </p:txBody>
      </p:sp>
      <p:sp>
        <p:nvSpPr>
          <p:cNvPr id="7" name="TextBox 6"/>
          <p:cNvSpPr txBox="1"/>
          <p:nvPr/>
        </p:nvSpPr>
        <p:spPr>
          <a:xfrm>
            <a:off x="1288268"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797776"/>
                </a:solidFill>
                <a:latin typeface="Consolas"/>
              </a:rPr>
              <a:t>НОЯ 26</a:t>
            </a:r>
          </a:p>
        </p:txBody>
      </p:sp>
      <p:sp>
        <p:nvSpPr>
          <p:cNvPr id="8" name="TextBox 7"/>
          <p:cNvSpPr txBox="1"/>
          <p:nvPr/>
        </p:nvSpPr>
        <p:spPr>
          <a:xfrm>
            <a:off x="2027895"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797776"/>
                </a:solidFill>
                <a:latin typeface="Consolas"/>
              </a:rPr>
              <a:t>ДЕК 26</a:t>
            </a:r>
          </a:p>
        </p:txBody>
      </p:sp>
      <p:sp>
        <p:nvSpPr>
          <p:cNvPr id="9" name="TextBox 8"/>
          <p:cNvSpPr txBox="1"/>
          <p:nvPr/>
        </p:nvSpPr>
        <p:spPr>
          <a:xfrm>
            <a:off x="2767523"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4E4D4D"/>
                </a:solidFill>
                <a:latin typeface="Consolas"/>
              </a:rPr>
              <a:t>ЯНВ</a:t>
            </a:r>
          </a:p>
        </p:txBody>
      </p:sp>
      <p:sp>
        <p:nvSpPr>
          <p:cNvPr id="10" name="TextBox 9"/>
          <p:cNvSpPr txBox="1"/>
          <p:nvPr/>
        </p:nvSpPr>
        <p:spPr>
          <a:xfrm>
            <a:off x="3507151"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4E4D4D"/>
                </a:solidFill>
                <a:latin typeface="Consolas"/>
              </a:rPr>
              <a:t>ФЕВ</a:t>
            </a:r>
          </a:p>
        </p:txBody>
      </p:sp>
      <p:sp>
        <p:nvSpPr>
          <p:cNvPr id="11" name="TextBox 10"/>
          <p:cNvSpPr txBox="1"/>
          <p:nvPr/>
        </p:nvSpPr>
        <p:spPr>
          <a:xfrm>
            <a:off x="4246778"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4E4D4D"/>
                </a:solidFill>
                <a:latin typeface="Consolas"/>
              </a:rPr>
              <a:t>МАР</a:t>
            </a:r>
          </a:p>
        </p:txBody>
      </p:sp>
      <p:sp>
        <p:nvSpPr>
          <p:cNvPr id="12" name="TextBox 11"/>
          <p:cNvSpPr txBox="1"/>
          <p:nvPr/>
        </p:nvSpPr>
        <p:spPr>
          <a:xfrm>
            <a:off x="4986406"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4E4D4D"/>
                </a:solidFill>
                <a:latin typeface="Consolas"/>
              </a:rPr>
              <a:t>АПР</a:t>
            </a:r>
          </a:p>
        </p:txBody>
      </p:sp>
      <p:sp>
        <p:nvSpPr>
          <p:cNvPr id="13" name="TextBox 12"/>
          <p:cNvSpPr txBox="1"/>
          <p:nvPr/>
        </p:nvSpPr>
        <p:spPr>
          <a:xfrm>
            <a:off x="5726034"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4E4D4D"/>
                </a:solidFill>
                <a:latin typeface="Consolas"/>
              </a:rPr>
              <a:t>МАЙ</a:t>
            </a:r>
          </a:p>
        </p:txBody>
      </p:sp>
      <p:sp>
        <p:nvSpPr>
          <p:cNvPr id="14" name="TextBox 13"/>
          <p:cNvSpPr txBox="1"/>
          <p:nvPr/>
        </p:nvSpPr>
        <p:spPr>
          <a:xfrm>
            <a:off x="6465661"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4E4D4D"/>
                </a:solidFill>
                <a:latin typeface="Consolas"/>
              </a:rPr>
              <a:t>ИЮН</a:t>
            </a:r>
          </a:p>
        </p:txBody>
      </p:sp>
      <p:sp>
        <p:nvSpPr>
          <p:cNvPr id="15" name="TextBox 14"/>
          <p:cNvSpPr txBox="1"/>
          <p:nvPr/>
        </p:nvSpPr>
        <p:spPr>
          <a:xfrm>
            <a:off x="7205289"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4E4D4D"/>
                </a:solidFill>
                <a:latin typeface="Consolas"/>
              </a:rPr>
              <a:t>ИЮЛ</a:t>
            </a:r>
          </a:p>
        </p:txBody>
      </p:sp>
      <p:sp>
        <p:nvSpPr>
          <p:cNvPr id="16" name="TextBox 15"/>
          <p:cNvSpPr txBox="1"/>
          <p:nvPr/>
        </p:nvSpPr>
        <p:spPr>
          <a:xfrm>
            <a:off x="7944917"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4E4D4D"/>
                </a:solidFill>
                <a:latin typeface="Consolas"/>
              </a:rPr>
              <a:t>АВГ</a:t>
            </a:r>
          </a:p>
        </p:txBody>
      </p:sp>
      <p:sp>
        <p:nvSpPr>
          <p:cNvPr id="17" name="TextBox 16"/>
          <p:cNvSpPr txBox="1"/>
          <p:nvPr/>
        </p:nvSpPr>
        <p:spPr>
          <a:xfrm>
            <a:off x="8684544"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4E4D4D"/>
                </a:solidFill>
                <a:latin typeface="Consolas"/>
              </a:rPr>
              <a:t>СЕН</a:t>
            </a:r>
          </a:p>
        </p:txBody>
      </p:sp>
      <p:sp>
        <p:nvSpPr>
          <p:cNvPr id="18" name="TextBox 17"/>
          <p:cNvSpPr txBox="1"/>
          <p:nvPr/>
        </p:nvSpPr>
        <p:spPr>
          <a:xfrm>
            <a:off x="9424172"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4E4D4D"/>
                </a:solidFill>
                <a:latin typeface="Consolas"/>
              </a:rPr>
              <a:t>ОКТ</a:t>
            </a:r>
          </a:p>
        </p:txBody>
      </p:sp>
      <p:sp>
        <p:nvSpPr>
          <p:cNvPr id="19" name="TextBox 18"/>
          <p:cNvSpPr txBox="1"/>
          <p:nvPr/>
        </p:nvSpPr>
        <p:spPr>
          <a:xfrm>
            <a:off x="10163800"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4E4D4D"/>
                </a:solidFill>
                <a:latin typeface="Consolas"/>
              </a:rPr>
              <a:t>НОЯ</a:t>
            </a:r>
          </a:p>
        </p:txBody>
      </p:sp>
      <p:sp>
        <p:nvSpPr>
          <p:cNvPr id="20" name="TextBox 19"/>
          <p:cNvSpPr txBox="1"/>
          <p:nvPr/>
        </p:nvSpPr>
        <p:spPr>
          <a:xfrm>
            <a:off x="10903428" y="1691640"/>
            <a:ext cx="739628" cy="182880"/>
          </a:xfrm>
          <a:prstGeom prst="rect">
            <a:avLst/>
          </a:prstGeom>
          <a:noFill/>
        </p:spPr>
        <p:txBody>
          <a:bodyPr wrap="square" lIns="0" rIns="0" tIns="0" bIns="0" anchor="t">
            <a:noAutofit/>
          </a:bodyPr>
          <a:lstStyle/>
          <a:p>
            <a:pPr algn="ctr">
              <a:lnSpc>
                <a:spcPts val="1300"/>
              </a:lnSpc>
            </a:pPr>
            <a:r>
              <a:rPr sz="1000" b="0" i="0" lang="uz-Cyrl-UZ">
                <a:solidFill>
                  <a:srgbClr val="4E4D4D"/>
                </a:solidFill>
                <a:latin typeface="Consolas"/>
              </a:rPr>
              <a:t>ДЕК</a:t>
            </a:r>
          </a:p>
        </p:txBody>
      </p:sp>
      <p:cxnSp>
        <p:nvCxnSpPr>
          <p:cNvPr id="21" name="Connector 20"/>
          <p:cNvCxnSpPr/>
          <p:nvPr/>
        </p:nvCxnSpPr>
        <p:spPr>
          <a:xfrm>
            <a:off x="548640" y="1965960"/>
            <a:ext cx="11094415" cy="0"/>
          </a:xfrm>
          <a:prstGeom prst="line">
            <a:avLst/>
          </a:prstGeom>
          <a:ln w="12700">
            <a:solidFill>
              <a:srgbClr val="CECAC8"/>
            </a:solidFill>
          </a:ln>
        </p:spPr>
      </p:cxnSp>
      <p:cxnSp>
        <p:nvCxnSpPr>
          <p:cNvPr id="22" name="Connector 21"/>
          <p:cNvCxnSpPr/>
          <p:nvPr/>
        </p:nvCxnSpPr>
        <p:spPr>
          <a:xfrm>
            <a:off x="2767523" y="1645920"/>
            <a:ext cx="0" cy="320040"/>
          </a:xfrm>
          <a:prstGeom prst="line">
            <a:avLst/>
          </a:prstGeom>
          <a:ln w="12700">
            <a:solidFill>
              <a:srgbClr val="CECAC8"/>
            </a:solidFill>
          </a:ln>
        </p:spPr>
      </p:cxnSp>
      <p:cxnSp>
        <p:nvCxnSpPr>
          <p:cNvPr id="23" name="Connector 22"/>
          <p:cNvCxnSpPr/>
          <p:nvPr/>
        </p:nvCxnSpPr>
        <p:spPr>
          <a:xfrm>
            <a:off x="4986406" y="2350008"/>
            <a:ext cx="0" cy="1188720"/>
          </a:xfrm>
          <a:prstGeom prst="line">
            <a:avLst/>
          </a:prstGeom>
          <a:ln w="12700">
            <a:solidFill>
              <a:srgbClr val="CECAC8"/>
            </a:solidFill>
            <a:prstDash val="dash"/>
          </a:ln>
        </p:spPr>
      </p:cxnSp>
      <p:sp>
        <p:nvSpPr>
          <p:cNvPr id="24" name="Rounded Rectangle 23"/>
          <p:cNvSpPr/>
          <p:nvPr/>
        </p:nvSpPr>
        <p:spPr>
          <a:xfrm>
            <a:off x="4739518" y="2057400"/>
            <a:ext cx="493776"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5</a:t>
            </a:r>
          </a:p>
        </p:txBody>
      </p:sp>
      <p:cxnSp>
        <p:nvCxnSpPr>
          <p:cNvPr id="25" name="Connector 24"/>
          <p:cNvCxnSpPr/>
          <p:nvPr/>
        </p:nvCxnSpPr>
        <p:spPr>
          <a:xfrm>
            <a:off x="6465661" y="2350008"/>
            <a:ext cx="0" cy="1188720"/>
          </a:xfrm>
          <a:prstGeom prst="line">
            <a:avLst/>
          </a:prstGeom>
          <a:ln w="12700">
            <a:solidFill>
              <a:srgbClr val="CECAC8"/>
            </a:solidFill>
            <a:prstDash val="dash"/>
          </a:ln>
        </p:spPr>
      </p:cxnSp>
      <p:sp>
        <p:nvSpPr>
          <p:cNvPr id="26" name="Rounded Rectangle 25"/>
          <p:cNvSpPr/>
          <p:nvPr/>
        </p:nvSpPr>
        <p:spPr>
          <a:xfrm>
            <a:off x="6218773" y="2057400"/>
            <a:ext cx="493776"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+4</a:t>
            </a:r>
          </a:p>
        </p:txBody>
      </p:sp>
      <p:cxnSp>
        <p:nvCxnSpPr>
          <p:cNvPr id="27" name="Connector 26"/>
          <p:cNvCxnSpPr/>
          <p:nvPr/>
        </p:nvCxnSpPr>
        <p:spPr>
          <a:xfrm>
            <a:off x="7205289" y="2350008"/>
            <a:ext cx="0" cy="1188720"/>
          </a:xfrm>
          <a:prstGeom prst="line">
            <a:avLst/>
          </a:prstGeom>
          <a:ln w="12700">
            <a:solidFill>
              <a:srgbClr val="CECAC8"/>
            </a:solidFill>
            <a:prstDash val="dash"/>
          </a:ln>
        </p:spPr>
      </p:cxnSp>
      <p:sp>
        <p:nvSpPr>
          <p:cNvPr id="28" name="Rounded Rectangle 27"/>
          <p:cNvSpPr/>
          <p:nvPr/>
        </p:nvSpPr>
        <p:spPr>
          <a:xfrm>
            <a:off x="6958401" y="2057400"/>
            <a:ext cx="493776"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+4</a:t>
            </a:r>
          </a:p>
        </p:txBody>
      </p:sp>
      <p:cxnSp>
        <p:nvCxnSpPr>
          <p:cNvPr id="29" name="Connector 28"/>
          <p:cNvCxnSpPr/>
          <p:nvPr/>
        </p:nvCxnSpPr>
        <p:spPr>
          <a:xfrm>
            <a:off x="9758198" y="2331720"/>
            <a:ext cx="0" cy="1207008"/>
          </a:xfrm>
          <a:prstGeom prst="line">
            <a:avLst/>
          </a:prstGeom>
          <a:ln w="12700">
            <a:solidFill>
              <a:srgbClr val="CECAC8"/>
            </a:solidFill>
            <a:prstDash val="dash"/>
          </a:ln>
        </p:spPr>
      </p:cxnSp>
      <p:sp>
        <p:nvSpPr>
          <p:cNvPr id="30" name="Control point marker"/>
          <p:cNvSpPr/>
          <p:nvPr/>
        </p:nvSpPr>
        <p:spPr>
          <a:xfrm>
            <a:off x="9685046" y="2121408"/>
            <a:ext cx="146304" cy="146304"/>
          </a:xfrm>
          <a:prstGeom prst="ellipse">
            <a:avLst/>
          </a:prstGeom>
          <a:solidFill>
            <a:srgbClr val="2B59D1"/>
          </a:solidFill>
          <a:ln>
            <a:noFill/>
          </a:ln>
          <a:effectLst/>
        </p:spPr>
        <p:txBody>
          <a:bodyPr rtlCol="0" anchor="ctr"/>
          <a:lstStyle/>
          <a:p>
            <a:pPr algn="ctr"/>
          </a:p>
        </p:txBody>
      </p:sp>
      <p:sp>
        <p:nvSpPr>
          <p:cNvPr id="31" name="TextBox 30"/>
          <p:cNvSpPr txBox="1"/>
          <p:nvPr/>
        </p:nvSpPr>
        <p:spPr>
          <a:xfrm>
            <a:off x="9895358" y="2020824"/>
            <a:ext cx="1747698" cy="365760"/>
          </a:xfrm>
          <a:prstGeom prst="rect">
            <a:avLst/>
          </a:prstGeom>
          <a:noFill/>
        </p:spPr>
        <p:txBody>
          <a:bodyPr wrap="square" lIns="0" rIns="0" tIns="0" bIns="0" anchor="t">
            <a:noAutofit/>
          </a:bodyPr>
          <a:lstStyle/>
          <a:p>
            <a:pPr algn="l">
              <a:lnSpc>
                <a:spcPts val="1250"/>
              </a:lnSpc>
            </a:pPr>
            <a:r>
              <a:rPr sz="1000" b="0" i="0" lang="uz-Cyrl-UZ">
                <a:solidFill>
                  <a:srgbClr val="242424"/>
                </a:solidFill>
                <a:latin typeface="Consolas"/>
              </a:rPr>
              <a:t>15.10.2027 —</a:t>
            </a:r>
          </a:p>
          <a:p>
            <a:pPr algn="l">
              <a:lnSpc>
                <a:spcPts val="1250"/>
              </a:lnSpc>
            </a:pPr>
            <a:r>
              <a:rPr sz="1000" b="0" i="0" lang="uz-Cyrl-UZ">
                <a:solidFill>
                  <a:srgbClr val="242424"/>
                </a:solidFill>
                <a:latin typeface="Consolas"/>
              </a:rPr>
              <a:t>НАЗОРАТ НУҚТАСИ</a:t>
            </a:r>
          </a:p>
        </p:txBody>
      </p:sp>
      <p:sp>
        <p:nvSpPr>
          <p:cNvPr id="32" name="Rounded Rectangle 31"/>
          <p:cNvSpPr/>
          <p:nvPr/>
        </p:nvSpPr>
        <p:spPr>
          <a:xfrm>
            <a:off x="548640" y="2459736"/>
            <a:ext cx="6656649" cy="310896"/>
          </a:xfrm>
          <a:prstGeom prst="roundRect">
            <a:avLst>
              <a:gd name="adj" fmla="val 50000"/>
            </a:avLst>
          </a:prstGeom>
          <a:noFill/>
          <a:ln w="12700">
            <a:solidFill>
              <a:srgbClr val="CECAC8"/>
            </a:solidFill>
          </a:ln>
          <a:effectLst/>
        </p:spPr>
        <p:txBody>
          <a:bodyPr rtlCol="0" anchor="ctr" lIns="0" rIns="0" tIns="0" bIns="0"/>
          <a:lstStyle/>
          <a:p>
            <a:pPr algn="ctr"/>
          </a:p>
        </p:txBody>
      </p:sp>
      <p:sp>
        <p:nvSpPr>
          <p:cNvPr id="33" name="TextBox 32"/>
          <p:cNvSpPr txBox="1"/>
          <p:nvPr/>
        </p:nvSpPr>
        <p:spPr>
          <a:xfrm>
            <a:off x="694944" y="2459736"/>
            <a:ext cx="6382329" cy="310896"/>
          </a:xfrm>
          <a:prstGeom prst="rect">
            <a:avLst/>
          </a:prstGeom>
          <a:noFill/>
        </p:spPr>
        <p:txBody>
          <a:bodyPr wrap="square" lIns="0" rIns="0" tIns="0" bIns="0" anchor="ctr">
            <a:noAutofit/>
          </a:bodyPr>
          <a:lstStyle/>
          <a:p>
            <a:pPr algn="l">
              <a:lnSpc>
                <a:spcPts val="1800"/>
              </a:lnSpc>
            </a:pPr>
            <a:r>
              <a:rPr sz="1400" b="0" i="0" lang="uz-Cyrl-UZ">
                <a:solidFill>
                  <a:srgbClr val="242424"/>
                </a:solidFill>
                <a:latin typeface="Consolas"/>
              </a:rPr>
              <a:t>Хатлов (30.11) ва эски экспонатларни таъмирлаш</a:t>
            </a:r>
          </a:p>
        </p:txBody>
      </p:sp>
      <p:sp>
        <p:nvSpPr>
          <p:cNvPr id="34" name="Rounded Rectangle 33"/>
          <p:cNvSpPr/>
          <p:nvPr/>
        </p:nvSpPr>
        <p:spPr>
          <a:xfrm>
            <a:off x="2027895" y="2843784"/>
            <a:ext cx="5177394" cy="310896"/>
          </a:xfrm>
          <a:prstGeom prst="roundRect">
            <a:avLst>
              <a:gd name="adj" fmla="val 50000"/>
            </a:avLst>
          </a:prstGeom>
          <a:solidFill>
            <a:srgbClr val="CFDAF5"/>
          </a:solidFill>
          <a:ln>
            <a:noFill/>
          </a:ln>
          <a:effectLst/>
        </p:spPr>
        <p:txBody>
          <a:bodyPr rtlCol="0" anchor="ctr" lIns="0" rIns="0" tIns="0" bIns="0"/>
          <a:lstStyle/>
          <a:p>
            <a:pPr algn="ctr"/>
          </a:p>
        </p:txBody>
      </p:sp>
      <p:sp>
        <p:nvSpPr>
          <p:cNvPr id="35" name="TextBox 34"/>
          <p:cNvSpPr txBox="1"/>
          <p:nvPr/>
        </p:nvSpPr>
        <p:spPr>
          <a:xfrm>
            <a:off x="2174199" y="2843784"/>
            <a:ext cx="4903074" cy="310896"/>
          </a:xfrm>
          <a:prstGeom prst="rect">
            <a:avLst/>
          </a:prstGeom>
          <a:noFill/>
        </p:spPr>
        <p:txBody>
          <a:bodyPr wrap="square" lIns="0" rIns="0" tIns="0" bIns="0" anchor="ctr">
            <a:noAutofit/>
          </a:bodyPr>
          <a:lstStyle/>
          <a:p>
            <a:pPr algn="l">
              <a:lnSpc>
                <a:spcPts val="1800"/>
              </a:lnSpc>
            </a:pPr>
            <a:r>
              <a:rPr sz="1400" b="0" i="0" lang="uz-Cyrl-UZ">
                <a:solidFill>
                  <a:srgbClr val="242424"/>
                </a:solidFill>
                <a:latin typeface="Consolas"/>
              </a:rPr>
              <a:t>Буюртма (15.12) → 13 янги экспонат</a:t>
            </a:r>
          </a:p>
        </p:txBody>
      </p:sp>
      <p:sp>
        <p:nvSpPr>
          <p:cNvPr id="36" name="Rounded Rectangle 35"/>
          <p:cNvSpPr/>
          <p:nvPr/>
        </p:nvSpPr>
        <p:spPr>
          <a:xfrm>
            <a:off x="7205289" y="3227832"/>
            <a:ext cx="4437766" cy="310896"/>
          </a:xfrm>
          <a:prstGeom prst="roundRect">
            <a:avLst>
              <a:gd name="adj" fmla="val 50000"/>
            </a:avLst>
          </a:prstGeom>
          <a:noFill/>
          <a:ln w="12700">
            <a:solidFill>
              <a:srgbClr val="CECAC8"/>
            </a:solidFill>
          </a:ln>
          <a:effectLst/>
        </p:spPr>
        <p:txBody>
          <a:bodyPr rtlCol="0" anchor="ctr" lIns="0" rIns="0" tIns="0" bIns="0"/>
          <a:lstStyle/>
          <a:p>
            <a:pPr algn="ctr"/>
          </a:p>
        </p:txBody>
      </p:sp>
      <p:sp>
        <p:nvSpPr>
          <p:cNvPr id="37" name="TextBox 36"/>
          <p:cNvSpPr txBox="1"/>
          <p:nvPr/>
        </p:nvSpPr>
        <p:spPr>
          <a:xfrm>
            <a:off x="7351593" y="3227832"/>
            <a:ext cx="4163446" cy="310896"/>
          </a:xfrm>
          <a:prstGeom prst="rect">
            <a:avLst/>
          </a:prstGeom>
          <a:noFill/>
        </p:spPr>
        <p:txBody>
          <a:bodyPr wrap="square" lIns="0" rIns="0" tIns="0" bIns="0" anchor="ctr">
            <a:noAutofit/>
          </a:bodyPr>
          <a:lstStyle/>
          <a:p>
            <a:pPr algn="l">
              <a:lnSpc>
                <a:spcPts val="1800"/>
              </a:lnSpc>
            </a:pPr>
            <a:r>
              <a:rPr sz="1400" b="0" i="0" lang="uz-Cyrl-UZ">
                <a:solidFill>
                  <a:srgbClr val="242424"/>
                </a:solidFill>
                <a:latin typeface="Consolas"/>
              </a:rPr>
              <a:t>2-босқичга тайёргарлик — 558,0 млн сўм</a:t>
            </a:r>
          </a:p>
        </p:txBody>
      </p:sp>
      <p:cxnSp>
        <p:nvCxnSpPr>
          <p:cNvPr id="38" name="Connector 37"/>
          <p:cNvCxnSpPr/>
          <p:nvPr/>
        </p:nvCxnSpPr>
        <p:spPr>
          <a:xfrm>
            <a:off x="548640" y="3739896"/>
            <a:ext cx="11094415" cy="0"/>
          </a:xfrm>
          <a:prstGeom prst="line">
            <a:avLst/>
          </a:prstGeom>
          <a:ln w="12700">
            <a:solidFill>
              <a:srgbClr val="CECAC8"/>
            </a:solidFill>
          </a:ln>
        </p:spPr>
      </p:cxnSp>
      <p:sp>
        <p:nvSpPr>
          <p:cNvPr id="39" name="Wave 1"/>
          <p:cNvSpPr/>
          <p:nvPr/>
        </p:nvSpPr>
        <p:spPr>
          <a:xfrm>
            <a:off x="548640" y="3922776"/>
            <a:ext cx="2247713"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31.03.2027 · 1-ТЎЛҚИН · 5 ТА</a:t>
            </a:r>
          </a:p>
        </p:txBody>
      </p:sp>
      <p:sp>
        <p:nvSpPr>
          <p:cNvPr id="40" name="TextBox 39"/>
          <p:cNvSpPr txBox="1"/>
          <p:nvPr/>
        </p:nvSpPr>
        <p:spPr>
          <a:xfrm>
            <a:off x="548640" y="4379976"/>
            <a:ext cx="3515258" cy="11430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“Нейротармоқни ўргат”</a:t>
            </a:r>
          </a:p>
          <a:p>
            <a:pPr algn="l">
              <a:lnSpc>
                <a:spcPts val="1800"/>
              </a:lnSpc>
            </a:pPr>
            <a:r>
              <a:rPr sz="1400" b="0" i="0" lang="uz-Cyrl-UZ">
                <a:solidFill>
                  <a:srgbClr val="242424"/>
                </a:solidFill>
                <a:latin typeface="Consolas"/>
              </a:rPr>
              <a:t>“AR-қумдон: рельеф ва сув”</a:t>
            </a:r>
          </a:p>
          <a:p>
            <a:pPr algn="l">
              <a:lnSpc>
                <a:spcPts val="1800"/>
              </a:lnSpc>
            </a:pPr>
            <a:r>
              <a:rPr sz="1400" b="0" i="0" lang="uz-Cyrl-UZ">
                <a:solidFill>
                  <a:srgbClr val="242424"/>
                </a:solidFill>
                <a:latin typeface="Consolas"/>
              </a:rPr>
              <a:t>“Сен неча ватт?”</a:t>
            </a:r>
          </a:p>
          <a:p>
            <a:pPr algn="l">
              <a:lnSpc>
                <a:spcPts val="1800"/>
              </a:lnSpc>
            </a:pPr>
            <a:r>
              <a:rPr sz="1400" b="0" i="0" lang="uz-Cyrl-UZ">
                <a:solidFill>
                  <a:srgbClr val="242424"/>
                </a:solidFill>
                <a:latin typeface="Consolas"/>
              </a:rPr>
              <a:t>“Очиқ 3D-босма”</a:t>
            </a:r>
          </a:p>
          <a:p>
            <a:pPr algn="l">
              <a:lnSpc>
                <a:spcPts val="1800"/>
              </a:lnSpc>
            </a:pPr>
            <a:r>
              <a:rPr sz="1400" b="0" i="0" lang="uz-Cyrl-UZ">
                <a:solidFill>
                  <a:srgbClr val="242424"/>
                </a:solidFill>
                <a:latin typeface="Consolas"/>
              </a:rPr>
              <a:t>“Ер пульси”</a:t>
            </a:r>
          </a:p>
        </p:txBody>
      </p:sp>
      <p:sp>
        <p:nvSpPr>
          <p:cNvPr id="41" name="Wave 2"/>
          <p:cNvSpPr/>
          <p:nvPr/>
        </p:nvSpPr>
        <p:spPr>
          <a:xfrm>
            <a:off x="4338218" y="3922776"/>
            <a:ext cx="2247713"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31.05.2027 · 2-ТЎЛҚИН · 4 ТА</a:t>
            </a:r>
          </a:p>
        </p:txBody>
      </p:sp>
      <p:sp>
        <p:nvSpPr>
          <p:cNvPr id="42" name="TextBox 41"/>
          <p:cNvSpPr txBox="1"/>
          <p:nvPr/>
        </p:nvSpPr>
        <p:spPr>
          <a:xfrm>
            <a:off x="4338218" y="4379976"/>
            <a:ext cx="3515258" cy="11430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“Роботни дастурла”</a:t>
            </a:r>
          </a:p>
          <a:p>
            <a:pPr algn="l">
              <a:lnSpc>
                <a:spcPts val="1800"/>
              </a:lnSpc>
            </a:pPr>
            <a:r>
              <a:rPr sz="1400" b="0" i="0" lang="uz-Cyrl-UZ">
                <a:solidFill>
                  <a:srgbClr val="242424"/>
                </a:solidFill>
                <a:latin typeface="Consolas"/>
              </a:rPr>
              <a:t>“Робо-арена”</a:t>
            </a:r>
          </a:p>
          <a:p>
            <a:pPr algn="l">
              <a:lnSpc>
                <a:spcPts val="1800"/>
              </a:lnSpc>
            </a:pPr>
            <a:r>
              <a:rPr sz="1400" b="0" i="0" lang="uz-Cyrl-UZ">
                <a:solidFill>
                  <a:srgbClr val="242424"/>
                </a:solidFill>
                <a:latin typeface="Consolas"/>
              </a:rPr>
              <a:t>“Автопилот нигоҳи”</a:t>
            </a:r>
          </a:p>
          <a:p>
            <a:pPr algn="l">
              <a:lnSpc>
                <a:spcPts val="1800"/>
              </a:lnSpc>
            </a:pPr>
            <a:r>
              <a:rPr sz="1400" b="0" i="0" lang="uz-Cyrl-UZ">
                <a:solidFill>
                  <a:srgbClr val="242424"/>
                </a:solidFill>
                <a:latin typeface="Consolas"/>
              </a:rPr>
              <a:t>“Бионик қўл”</a:t>
            </a:r>
          </a:p>
        </p:txBody>
      </p:sp>
      <p:cxnSp>
        <p:nvCxnSpPr>
          <p:cNvPr id="43" name="Connector 42"/>
          <p:cNvCxnSpPr/>
          <p:nvPr/>
        </p:nvCxnSpPr>
        <p:spPr>
          <a:xfrm>
            <a:off x="4201058" y="3922776"/>
            <a:ext cx="0" cy="1600200"/>
          </a:xfrm>
          <a:prstGeom prst="line">
            <a:avLst/>
          </a:prstGeom>
          <a:ln w="12700">
            <a:solidFill>
              <a:srgbClr val="CECAC8"/>
            </a:solidFill>
          </a:ln>
        </p:spPr>
      </p:cxnSp>
      <p:sp>
        <p:nvSpPr>
          <p:cNvPr id="44" name="Wave 3"/>
          <p:cNvSpPr/>
          <p:nvPr/>
        </p:nvSpPr>
        <p:spPr>
          <a:xfrm>
            <a:off x="8127797" y="3922776"/>
            <a:ext cx="2247713"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30.06.2027 · 3-ТЎЛҚИН · 4 ТА</a:t>
            </a:r>
          </a:p>
        </p:txBody>
      </p:sp>
      <p:sp>
        <p:nvSpPr>
          <p:cNvPr id="45" name="TextBox 44"/>
          <p:cNvSpPr txBox="1"/>
          <p:nvPr/>
        </p:nvSpPr>
        <p:spPr>
          <a:xfrm>
            <a:off x="8127797" y="4379976"/>
            <a:ext cx="3515258" cy="11430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“Машина кўради”</a:t>
            </a:r>
          </a:p>
          <a:p>
            <a:pPr algn="l">
              <a:lnSpc>
                <a:spcPts val="1800"/>
              </a:lnSpc>
            </a:pPr>
            <a:r>
              <a:rPr sz="1400" b="0" i="0" lang="uz-Cyrl-UZ">
                <a:solidFill>
                  <a:srgbClr val="242424"/>
                </a:solidFill>
                <a:latin typeface="Consolas"/>
              </a:rPr>
              <a:t>“Тошкент узра парвоз” (VR)</a:t>
            </a:r>
          </a:p>
          <a:p>
            <a:pPr algn="l">
              <a:lnSpc>
                <a:spcPts val="1800"/>
              </a:lnSpc>
            </a:pPr>
            <a:r>
              <a:rPr sz="1400" b="0" i="0" lang="uz-Cyrl-UZ">
                <a:solidFill>
                  <a:srgbClr val="242424"/>
                </a:solidFill>
                <a:latin typeface="Consolas"/>
              </a:rPr>
              <a:t>“Чорраҳани бошқар”</a:t>
            </a:r>
          </a:p>
          <a:p>
            <a:pPr algn="l">
              <a:lnSpc>
                <a:spcPts val="1800"/>
              </a:lnSpc>
            </a:pPr>
            <a:r>
              <a:rPr sz="1400" b="0" i="0" lang="uz-Cyrl-UZ">
                <a:solidFill>
                  <a:srgbClr val="242424"/>
                </a:solidFill>
                <a:latin typeface="Consolas"/>
              </a:rPr>
              <a:t>“Дрон-қафас”</a:t>
            </a:r>
          </a:p>
        </p:txBody>
      </p:sp>
      <p:cxnSp>
        <p:nvCxnSpPr>
          <p:cNvPr id="46" name="Connector 45"/>
          <p:cNvCxnSpPr/>
          <p:nvPr/>
        </p:nvCxnSpPr>
        <p:spPr>
          <a:xfrm>
            <a:off x="7990637" y="3922776"/>
            <a:ext cx="0" cy="1600200"/>
          </a:xfrm>
          <a:prstGeom prst="line">
            <a:avLst/>
          </a:prstGeom>
          <a:ln w="12700">
            <a:solidFill>
              <a:srgbClr val="CECAC8"/>
            </a:solidFill>
          </a:ln>
        </p:spPr>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pic>
        <p:nvPicPr>
          <p:cNvPr id="2" name="Gradient" descr="">
            <a:extLst>
              <a:ext uri="{C183D7F6-B498-43B3-948B-1728B52AA6E4}">
                <ns0:decorative xmlns:ns0="http://schemas.microsoft.com/office/drawing/2017/decorative" val="1"/>
              </a:ext>
            </a:extLst>
          </p:cNvPr>
          <p:cNvPicPr>
            <a:picLocks noChangeAspect="1"/>
          </p:cNvPicPr>
          <p:nvPr/>
        </p:nvPicPr>
        <p:blipFill>
          <a:blip r:embed="rId2"/>
          <a:srcRect l="1" r="1"/>
          <a:stretch>
            <a:fillRect/>
          </a:stretch>
        </p:blipFill>
        <p:spPr>
          <a:xfrm>
            <a:off x="0" y="0"/>
            <a:ext cx="12191695" cy="6858000"/>
          </a:xfrm>
          <a:prstGeom prst="rect">
            <a:avLst/>
          </a:prstGeom>
        </p:spPr>
      </p:pic>
      <p:sp>
        <p:nvSpPr>
          <p:cNvPr id="3" name="Section"/>
          <p:cNvSpPr/>
          <p:nvPr/>
        </p:nvSpPr>
        <p:spPr>
          <a:xfrm>
            <a:off x="548640" y="548640"/>
            <a:ext cx="1689112"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03 · 2027 ЙИЛ РЕЖАСИ</a:t>
            </a:r>
          </a:p>
        </p:txBody>
      </p:sp>
      <p:sp>
        <p:nvSpPr>
          <p:cNvPr id="4"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Музей тушуми 2,3 баравар ортади</a:t>
            </a:r>
          </a:p>
        </p:txBody>
      </p:sp>
      <p:sp>
        <p:nvSpPr>
          <p:cNvPr id="5"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08 / 20</a:t>
            </a:r>
          </a:p>
        </p:txBody>
      </p:sp>
      <p:sp>
        <p:nvSpPr>
          <p:cNvPr id="6" name="Source"/>
          <p:cNvSpPr txBox="1"/>
          <p:nvPr/>
        </p:nvSpPr>
        <p:spPr>
          <a:xfrm>
            <a:off x="548640" y="5579110"/>
            <a:ext cx="9905695" cy="73025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Ўзгариш — 2026 йилга нисбатан; 2025 йилга нисбатан ташрифчилар ×1,3. Тушум, ўртача чек ва қопланиш модель ҳажми (29 399 киши) бўйича ҳисобланган; ташрифчилар режаси 29 000 кишигача пастга яхлитланган. Қопланиш — музей тушумининг тўғридан-тўғри харажатларга нисбати (1 389,9 → 2 673,6 млн сўм; янги штат ва дастурлар январдан); меценатлик билан — 54,1 %; ф.п. — фоиз пункти. 2026 йил: январь–август амалда + сентябрь–декабрь 2025 × (1 − 17,3 %). Чипта тушуми — 795,9 млн сўм (×1,7). Яхлитлаш сабабли чораклар йиғиндисида ±0,1 фарқ бўлиши мумкин. Бошқарув ҳисоботи (12.09.2026) сценарийлари — 2-иловада. Манба: М5 “Ташрифчилар 2027”, “Кириш”.</a:t>
            </a:r>
          </a:p>
        </p:txBody>
      </p:sp>
      <p:sp>
        <p:nvSpPr>
          <p:cNvPr id="7" name="TextBox 6"/>
          <p:cNvSpPr txBox="1"/>
          <p:nvPr/>
        </p:nvSpPr>
        <p:spPr>
          <a:xfrm>
            <a:off x="548640" y="1783080"/>
            <a:ext cx="3291840"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МУЗЕЙ ТУШУМИ · 2027 / 2026</a:t>
            </a:r>
          </a:p>
        </p:txBody>
      </p:sp>
      <p:sp>
        <p:nvSpPr>
          <p:cNvPr id="8" name="Key figure"/>
          <p:cNvSpPr txBox="1"/>
          <p:nvPr/>
        </p:nvSpPr>
        <p:spPr>
          <a:xfrm>
            <a:off x="502920" y="2103120"/>
            <a:ext cx="3566160" cy="1737360"/>
          </a:xfrm>
          <a:prstGeom prst="rect">
            <a:avLst/>
          </a:prstGeom>
          <a:noFill/>
        </p:spPr>
        <p:txBody>
          <a:bodyPr wrap="square" lIns="0" rIns="0" tIns="0" bIns="0" anchor="t">
            <a:noAutofit/>
          </a:bodyPr>
          <a:lstStyle/>
          <a:p>
            <a:pPr algn="l">
              <a:lnSpc>
                <a:spcPts val="13000"/>
              </a:lnSpc>
            </a:pPr>
            <a:r>
              <a:rPr sz="13000" b="0" i="0" lang="uz-Cyrl-UZ" spc="-260">
                <a:solidFill>
                  <a:srgbClr val="2B59D1"/>
                </a:solidFill>
                <a:latin typeface="Cambria"/>
              </a:rPr>
              <a:t>×2,3</a:t>
            </a:r>
          </a:p>
        </p:txBody>
      </p:sp>
      <p:sp>
        <p:nvSpPr>
          <p:cNvPr id="9" name="TextBox 8"/>
          <p:cNvSpPr txBox="1"/>
          <p:nvPr/>
        </p:nvSpPr>
        <p:spPr>
          <a:xfrm>
            <a:off x="548640" y="3931920"/>
            <a:ext cx="3291840" cy="411480"/>
          </a:xfrm>
          <a:prstGeom prst="rect">
            <a:avLst/>
          </a:prstGeom>
          <a:noFill/>
        </p:spPr>
        <p:txBody>
          <a:bodyPr wrap="square" lIns="0" rIns="0" tIns="0" bIns="0" anchor="t">
            <a:noAutofit/>
          </a:bodyPr>
          <a:lstStyle/>
          <a:p>
            <a:pPr algn="l">
              <a:lnSpc>
                <a:spcPts val="1400"/>
              </a:lnSpc>
            </a:pPr>
            <a:r>
              <a:rPr sz="1100" b="0" i="0" lang="uz-Cyrl-UZ">
                <a:solidFill>
                  <a:srgbClr val="4E4D4D"/>
                </a:solidFill>
                <a:latin typeface="Consolas"/>
              </a:rPr>
              <a:t>464,6 → 1 046,3 МЛН СЎМ</a:t>
            </a:r>
          </a:p>
        </p:txBody>
      </p:sp>
      <p:graphicFrame>
        <p:nvGraphicFramePr>
          <p:cNvPr id="10" name="Revenue table"/>
          <p:cNvGraphicFramePr>
            <a:graphicFrameLocks noGrp="1"/>
          </p:cNvGraphicFramePr>
          <p:nvPr/>
        </p:nvGraphicFramePr>
        <p:xfrm>
          <a:off x="4297680" y="1691640"/>
          <a:ext cx="7345375" cy="1793240"/>
        </p:xfrm>
        <a:graphic>
          <a:graphicData uri="http://schemas.openxmlformats.org/drawingml/2006/table">
            <a:tbl>
              <a:tblPr firstRow="0" bandRow="0">
                <a:tableStyleId>{2D5ABB26-0587-4C30-8999-92F81FD0307C}</a:tableStyleId>
              </a:tblPr>
              <a:tblGrid>
                <a:gridCol w="2331720"/>
                <a:gridCol w="1188720"/>
                <a:gridCol w="1188720"/>
                <a:gridCol w="1325880"/>
                <a:gridCol w="1310335"/>
              </a:tblGrid>
              <a:tr h="439928">
                <a:tc>
                  <a:txBody>
                    <a:bodyPr wrap="square"/>
                    <a:lstStyle/>
                    <a:p>
                      <a:pPr algn="l">
                        <a:lnSpc>
                          <a:spcPts val="1300"/>
                        </a:lnSpc>
                      </a:pPr>
                      <a:r>
                        <a:rPr sz="1000" b="0" i="0" lang="uz-Cyrl-UZ">
                          <a:solidFill>
                            <a:srgbClr val="4E4D4D"/>
                          </a:solidFill>
                          <a:latin typeface="Consolas"/>
                        </a:rPr>
                        <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2025
АМАЛДА</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2026
КУТИЛИШ</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2027
РЕЖА</a:t>
                      </a:r>
                    </a:p>
                  </a:txBody>
                  <a:tcPr marL="73152" marR="73152" marT="54864" marB="54864" anchor="t">
                    <a:lnL w="12700">
                      <a:noFill/>
                    </a:lnL>
                    <a:lnR w="12700">
                      <a:noFill/>
                    </a:lnR>
                    <a:lnT w="12700">
                      <a:solidFill>
                        <a:srgbClr val="CECAC8"/>
                      </a:solidFill>
                    </a:lnT>
                    <a:lnB w="12700">
                      <a:solidFill>
                        <a:srgbClr val="CECAC8"/>
                      </a:solidFill>
                    </a:lnB>
                    <a:solidFill>
                      <a:srgbClr val="CFDAF5"/>
                    </a:solidFill>
                  </a:tcPr>
                </a:tc>
                <a:tc>
                  <a:txBody>
                    <a:bodyPr wrap="square"/>
                    <a:lstStyle/>
                    <a:p>
                      <a:pPr algn="r">
                        <a:lnSpc>
                          <a:spcPts val="1300"/>
                        </a:lnSpc>
                      </a:pPr>
                      <a:r>
                        <a:rPr sz="1000" b="0" i="0" lang="uz-Cyrl-UZ">
                          <a:solidFill>
                            <a:srgbClr val="4E4D4D"/>
                          </a:solidFill>
                          <a:latin typeface="Consolas"/>
                        </a:rPr>
                        <a:t>ЎЗГАРИШ
2027 / 2026</a:t>
                      </a:r>
                    </a:p>
                  </a:txBody>
                  <a:tcPr marL="73152" marR="73152" marT="54864" marB="54864" anchor="t">
                    <a:lnL w="12700">
                      <a:noFill/>
                    </a:lnL>
                    <a:lnR w="12700">
                      <a:noFill/>
                    </a:lnR>
                    <a:lnT w="12700">
                      <a:solidFill>
                        <a:srgbClr val="CECAC8"/>
                      </a:solidFill>
                    </a:lnT>
                    <a:lnB w="12700">
                      <a:solidFill>
                        <a:srgbClr val="CECAC8"/>
                      </a:solidFill>
                    </a:lnB>
                    <a:noFill/>
                  </a:tcPr>
                </a:tc>
              </a:tr>
              <a:tr h="338328">
                <a:tc>
                  <a:txBody>
                    <a:bodyPr wrap="square"/>
                    <a:lstStyle/>
                    <a:p>
                      <a:pPr algn="l">
                        <a:lnSpc>
                          <a:spcPts val="1800"/>
                        </a:lnSpc>
                      </a:pPr>
                      <a:r>
                        <a:rPr sz="1400" b="0" i="0" lang="uz-Cyrl-UZ">
                          <a:solidFill>
                            <a:srgbClr val="242424"/>
                          </a:solidFill>
                          <a:latin typeface="Consolas"/>
                        </a:rPr>
                        <a:t>Ташрифчилар, киши</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22 437</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20 083</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29 000</a:t>
                      </a:r>
                    </a:p>
                  </a:txBody>
                  <a:tcPr marL="73152" marR="73152" marT="54864" marB="54864" anchor="t">
                    <a:lnL w="12700">
                      <a:noFill/>
                    </a:lnL>
                    <a:lnR w="12700">
                      <a:noFill/>
                    </a:lnR>
                    <a:lnT w="12700">
                      <a:noFill/>
                    </a:lnT>
                    <a:lnB w="12700">
                      <a:solidFill>
                        <a:srgbClr val="CECAC8"/>
                      </a:solidFill>
                    </a:lnB>
                    <a:solidFill>
                      <a:srgbClr val="CFDAF5"/>
                    </a:solidFill>
                  </a:tcPr>
                </a:tc>
                <a:tc>
                  <a:txBody>
                    <a:bodyPr wrap="square"/>
                    <a:lstStyle/>
                    <a:p>
                      <a:pPr algn="r">
                        <a:lnSpc>
                          <a:spcPts val="1800"/>
                        </a:lnSpc>
                      </a:pPr>
                      <a:r>
                        <a:rPr sz="1400" b="0" i="0" lang="uz-Cyrl-UZ">
                          <a:solidFill>
                            <a:srgbClr val="242424"/>
                          </a:solidFill>
                          <a:latin typeface="Consolas"/>
                        </a:rPr>
                        <a:t>×1,4</a:t>
                      </a:r>
                    </a:p>
                  </a:txBody>
                  <a:tcPr marL="73152" marR="73152" marT="54864" marB="54864" anchor="t">
                    <a:lnL w="12700">
                      <a:noFill/>
                    </a:lnL>
                    <a:lnR w="12700">
                      <a:noFill/>
                    </a:lnR>
                    <a:lnT w="12700">
                      <a:noFill/>
                    </a:lnT>
                    <a:lnB w="12700">
                      <a:solidFill>
                        <a:srgbClr val="CECAC8"/>
                      </a:solidFill>
                    </a:lnB>
                    <a:noFill/>
                  </a:tcPr>
                </a:tc>
              </a:tr>
              <a:tr h="338328">
                <a:tc>
                  <a:txBody>
                    <a:bodyPr wrap="square"/>
                    <a:lstStyle/>
                    <a:p>
                      <a:pPr algn="l">
                        <a:lnSpc>
                          <a:spcPts val="1800"/>
                        </a:lnSpc>
                      </a:pPr>
                      <a:r>
                        <a:rPr sz="1400" b="0" i="0" lang="uz-Cyrl-UZ">
                          <a:solidFill>
                            <a:srgbClr val="242424"/>
                          </a:solidFill>
                          <a:latin typeface="Consolas"/>
                        </a:rPr>
                        <a:t>Ўртача чек, сўм</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25 044</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23 136</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27 071</a:t>
                      </a:r>
                    </a:p>
                  </a:txBody>
                  <a:tcPr marL="73152" marR="73152" marT="54864" marB="54864" anchor="t">
                    <a:lnL w="12700">
                      <a:noFill/>
                    </a:lnL>
                    <a:lnR w="12700">
                      <a:noFill/>
                    </a:lnR>
                    <a:lnT w="12700">
                      <a:noFill/>
                    </a:lnT>
                    <a:lnB w="12700">
                      <a:solidFill>
                        <a:srgbClr val="CECAC8"/>
                      </a:solidFill>
                    </a:lnB>
                    <a:solidFill>
                      <a:srgbClr val="CFDAF5"/>
                    </a:solidFill>
                  </a:tcPr>
                </a:tc>
                <a:tc>
                  <a:txBody>
                    <a:bodyPr wrap="square"/>
                    <a:lstStyle/>
                    <a:p>
                      <a:pPr algn="r">
                        <a:lnSpc>
                          <a:spcPts val="1800"/>
                        </a:lnSpc>
                      </a:pPr>
                      <a:r>
                        <a:rPr sz="1400" b="0" i="0" lang="uz-Cyrl-UZ">
                          <a:solidFill>
                            <a:srgbClr val="242424"/>
                          </a:solidFill>
                          <a:latin typeface="Consolas"/>
                        </a:rPr>
                        <a:t>×1,2</a:t>
                      </a:r>
                    </a:p>
                  </a:txBody>
                  <a:tcPr marL="73152" marR="73152" marT="54864" marB="54864" anchor="t">
                    <a:lnL w="12700">
                      <a:noFill/>
                    </a:lnL>
                    <a:lnR w="12700">
                      <a:noFill/>
                    </a:lnR>
                    <a:lnT w="12700">
                      <a:noFill/>
                    </a:lnT>
                    <a:lnB w="12700">
                      <a:solidFill>
                        <a:srgbClr val="CECAC8"/>
                      </a:solidFill>
                    </a:lnB>
                    <a:noFill/>
                  </a:tcPr>
                </a:tc>
              </a:tr>
              <a:tr h="338328">
                <a:tc>
                  <a:txBody>
                    <a:bodyPr wrap="square"/>
                    <a:lstStyle/>
                    <a:p>
                      <a:pPr algn="l">
                        <a:lnSpc>
                          <a:spcPts val="1800"/>
                        </a:lnSpc>
                      </a:pPr>
                      <a:r>
                        <a:rPr sz="1400" b="0" i="0" lang="uz-Cyrl-UZ">
                          <a:solidFill>
                            <a:srgbClr val="242424"/>
                          </a:solidFill>
                          <a:latin typeface="Consolas"/>
                        </a:rPr>
                        <a:t>Музей тушуми, млн сўм</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561,9</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464,6</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1 046,3</a:t>
                      </a:r>
                    </a:p>
                  </a:txBody>
                  <a:tcPr marL="73152" marR="73152" marT="54864" marB="54864" anchor="t">
                    <a:lnL w="12700">
                      <a:noFill/>
                    </a:lnL>
                    <a:lnR w="12700">
                      <a:noFill/>
                    </a:lnR>
                    <a:lnT w="12700">
                      <a:noFill/>
                    </a:lnT>
                    <a:lnB w="12700">
                      <a:solidFill>
                        <a:srgbClr val="CECAC8"/>
                      </a:solidFill>
                    </a:lnB>
                    <a:solidFill>
                      <a:srgbClr val="CFDAF5"/>
                    </a:solidFill>
                  </a:tcPr>
                </a:tc>
                <a:tc>
                  <a:txBody>
                    <a:bodyPr wrap="square"/>
                    <a:lstStyle/>
                    <a:p>
                      <a:pPr algn="r">
                        <a:lnSpc>
                          <a:spcPts val="1800"/>
                        </a:lnSpc>
                      </a:pPr>
                      <a:r>
                        <a:rPr sz="1400" b="0" i="0" lang="uz-Cyrl-UZ">
                          <a:solidFill>
                            <a:srgbClr val="242424"/>
                          </a:solidFill>
                          <a:latin typeface="Consolas"/>
                        </a:rPr>
                        <a:t>×2,3</a:t>
                      </a:r>
                    </a:p>
                  </a:txBody>
                  <a:tcPr marL="73152" marR="73152" marT="54864" marB="54864" anchor="t">
                    <a:lnL w="12700">
                      <a:noFill/>
                    </a:lnL>
                    <a:lnR w="12700">
                      <a:noFill/>
                    </a:lnR>
                    <a:lnT w="12700">
                      <a:noFill/>
                    </a:lnT>
                    <a:lnB w="12700">
                      <a:solidFill>
                        <a:srgbClr val="CECAC8"/>
                      </a:solidFill>
                    </a:lnB>
                    <a:noFill/>
                  </a:tcPr>
                </a:tc>
              </a:tr>
              <a:tr h="338328">
                <a:tc>
                  <a:txBody>
                    <a:bodyPr wrap="square"/>
                    <a:lstStyle/>
                    <a:p>
                      <a:pPr algn="l">
                        <a:lnSpc>
                          <a:spcPts val="1800"/>
                        </a:lnSpc>
                      </a:pPr>
                      <a:r>
                        <a:rPr sz="1400" b="0" i="0" lang="uz-Cyrl-UZ">
                          <a:solidFill>
                            <a:srgbClr val="242424"/>
                          </a:solidFill>
                          <a:latin typeface="Consolas"/>
                        </a:rPr>
                        <a:t>Харажатлар қопланиши</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40,0 %</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33,4 %</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39,1 %</a:t>
                      </a:r>
                    </a:p>
                  </a:txBody>
                  <a:tcPr marL="73152" marR="73152" marT="54864" marB="54864" anchor="t">
                    <a:lnL w="12700">
                      <a:noFill/>
                    </a:lnL>
                    <a:lnR w="12700">
                      <a:noFill/>
                    </a:lnR>
                    <a:lnT w="12700">
                      <a:noFill/>
                    </a:lnT>
                    <a:lnB w="12700">
                      <a:solidFill>
                        <a:srgbClr val="CECAC8"/>
                      </a:solidFill>
                    </a:lnB>
                    <a:solidFill>
                      <a:srgbClr val="CFDAF5"/>
                    </a:solidFill>
                  </a:tcPr>
                </a:tc>
                <a:tc>
                  <a:txBody>
                    <a:bodyPr wrap="square"/>
                    <a:lstStyle/>
                    <a:p>
                      <a:pPr algn="r">
                        <a:lnSpc>
                          <a:spcPts val="1800"/>
                        </a:lnSpc>
                      </a:pPr>
                      <a:r>
                        <a:rPr sz="1400" b="0" i="0" lang="uz-Cyrl-UZ">
                          <a:solidFill>
                            <a:srgbClr val="242424"/>
                          </a:solidFill>
                          <a:latin typeface="Consolas"/>
                        </a:rPr>
                        <a:t>+5,7 ф.п.</a:t>
                      </a:r>
                    </a:p>
                  </a:txBody>
                  <a:tcPr marL="73152" marR="73152" marT="54864" marB="54864" anchor="t">
                    <a:lnL w="12700">
                      <a:noFill/>
                    </a:lnL>
                    <a:lnR w="12700">
                      <a:noFill/>
                    </a:lnR>
                    <a:lnT w="12700">
                      <a:noFill/>
                    </a:lnT>
                    <a:lnB w="12700">
                      <a:solidFill>
                        <a:srgbClr val="CECAC8"/>
                      </a:solidFill>
                    </a:lnB>
                    <a:noFill/>
                  </a:tcPr>
                </a:tc>
              </a:tr>
            </a:tbl>
          </a:graphicData>
        </a:graphic>
      </p:graphicFrame>
      <p:sp>
        <p:nvSpPr>
          <p:cNvPr id="11" name="TextBox 10"/>
          <p:cNvSpPr txBox="1"/>
          <p:nvPr/>
        </p:nvSpPr>
        <p:spPr>
          <a:xfrm>
            <a:off x="4297680" y="3850640"/>
            <a:ext cx="7345375"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ЧОРАКЛАР БЎЙИЧА РЕЖА</a:t>
            </a:r>
          </a:p>
        </p:txBody>
      </p:sp>
      <p:graphicFrame>
        <p:nvGraphicFramePr>
          <p:cNvPr id="12" name="Quarterly plan"/>
          <p:cNvGraphicFramePr>
            <a:graphicFrameLocks noGrp="1"/>
          </p:cNvGraphicFramePr>
          <p:nvPr/>
        </p:nvGraphicFramePr>
        <p:xfrm>
          <a:off x="4297680" y="4124960"/>
          <a:ext cx="7345376" cy="1116584"/>
        </p:xfrm>
        <a:graphic>
          <a:graphicData uri="http://schemas.openxmlformats.org/drawingml/2006/table">
            <a:tbl>
              <a:tblPr firstRow="0" bandRow="0">
                <a:tableStyleId>{2D5ABB26-0587-4C30-8999-92F81FD0307C}</a:tableStyleId>
              </a:tblPr>
              <a:tblGrid>
                <a:gridCol w="2331720"/>
                <a:gridCol w="1253414"/>
                <a:gridCol w="1253414"/>
                <a:gridCol w="1253414"/>
                <a:gridCol w="1253414"/>
              </a:tblGrid>
              <a:tr h="439928">
                <a:tc>
                  <a:txBody>
                    <a:bodyPr wrap="square"/>
                    <a:lstStyle/>
                    <a:p>
                      <a:pPr algn="l">
                        <a:lnSpc>
                          <a:spcPts val="1300"/>
                        </a:lnSpc>
                      </a:pPr>
                      <a:r>
                        <a:rPr sz="1000" b="0" i="0" lang="uz-Cyrl-UZ">
                          <a:solidFill>
                            <a:srgbClr val="4E4D4D"/>
                          </a:solidFill>
                          <a:latin typeface="Consolas"/>
                        </a:rPr>
                        <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I ЧОРАК</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II ЧОРАК</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III ЧОРАК, ЁЗГИ МАВСУМ</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IV ЧОРАК</a:t>
                      </a:r>
                    </a:p>
                  </a:txBody>
                  <a:tcPr marL="73152" marR="73152" marT="54864" marB="54864" anchor="t">
                    <a:lnL w="12700">
                      <a:noFill/>
                    </a:lnL>
                    <a:lnR w="12700">
                      <a:noFill/>
                    </a:lnR>
                    <a:lnT w="12700">
                      <a:solidFill>
                        <a:srgbClr val="CECAC8"/>
                      </a:solidFill>
                    </a:lnT>
                    <a:lnB w="12700">
                      <a:solidFill>
                        <a:srgbClr val="CECAC8"/>
                      </a:solidFill>
                    </a:lnB>
                    <a:noFill/>
                  </a:tcPr>
                </a:tc>
              </a:tr>
              <a:tr h="338328">
                <a:tc>
                  <a:txBody>
                    <a:bodyPr wrap="square"/>
                    <a:lstStyle/>
                    <a:p>
                      <a:pPr algn="l">
                        <a:lnSpc>
                          <a:spcPts val="1800"/>
                        </a:lnSpc>
                      </a:pPr>
                      <a:r>
                        <a:rPr sz="1400" b="0" i="0" lang="uz-Cyrl-UZ">
                          <a:solidFill>
                            <a:srgbClr val="242424"/>
                          </a:solidFill>
                          <a:latin typeface="Consolas"/>
                        </a:rPr>
                        <a:t>Ташрифчилар, киши</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5 800</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8 300</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5 400</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9 500</a:t>
                      </a:r>
                    </a:p>
                  </a:txBody>
                  <a:tcPr marL="73152" marR="73152" marT="54864" marB="54864" anchor="t">
                    <a:lnL w="12700">
                      <a:noFill/>
                    </a:lnL>
                    <a:lnR w="12700">
                      <a:noFill/>
                    </a:lnR>
                    <a:lnT w="12700">
                      <a:noFill/>
                    </a:lnT>
                    <a:lnB w="12700">
                      <a:solidFill>
                        <a:srgbClr val="CECAC8"/>
                      </a:solidFill>
                    </a:lnB>
                    <a:noFill/>
                  </a:tcPr>
                </a:tc>
              </a:tr>
              <a:tr h="338328">
                <a:tc>
                  <a:txBody>
                    <a:bodyPr wrap="square"/>
                    <a:lstStyle/>
                    <a:p>
                      <a:pPr algn="l">
                        <a:lnSpc>
                          <a:spcPts val="1800"/>
                        </a:lnSpc>
                      </a:pPr>
                      <a:r>
                        <a:rPr sz="1400" b="0" i="0" lang="uz-Cyrl-UZ">
                          <a:solidFill>
                            <a:srgbClr val="242424"/>
                          </a:solidFill>
                          <a:latin typeface="Consolas"/>
                        </a:rPr>
                        <a:t>Музей тушуми, млн сўм</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137,6</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297,1</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259,9</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351,8</a:t>
                      </a:r>
                    </a:p>
                  </a:txBody>
                  <a:tcPr marL="73152" marR="73152" marT="54864" marB="54864" anchor="t">
                    <a:lnL w="12700">
                      <a:noFill/>
                    </a:lnL>
                    <a:lnR w="12700">
                      <a:noFill/>
                    </a:lnR>
                    <a:lnT w="12700">
                      <a:noFill/>
                    </a:lnT>
                    <a:lnB w="12700">
                      <a:solidFill>
                        <a:srgbClr val="CECAC8"/>
                      </a:solidFill>
                    </a:lnB>
                    <a:no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1060685"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04 · БЮДЖЕТ</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Ривожланиш давлат бюджети маблағларисиз</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09 / 20</a:t>
            </a:r>
          </a:p>
        </p:txBody>
      </p:sp>
      <p:sp>
        <p:nvSpPr>
          <p:cNvPr id="5" name="Source"/>
          <p:cNvSpPr txBox="1"/>
          <p:nvPr/>
        </p:nvSpPr>
        <p:spPr>
          <a:xfrm>
            <a:off x="548640" y="5871210"/>
            <a:ext cx="9905695" cy="43815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Курс: 12 000 сўм/$ (6-илова). Ижара: 01.09.2026 йилдаги шартномалар × 96,4 %. Жорий харажатлар: 2026 йил (бир марталик харажатларсиз) × 1,08 + солиқ 400,0 млн сўм. Маъмурий бино 2027 = 2025 йил амалда 1 061,9 × 1,08 = 1 146,9 млн сўм; 2026 йилнинг 8 ойидаги 1 280,9 млн сўм бир марталик таъмир ишларини ўз ичига олади. Қолдиқлар — кутилиш. Манба: М5 “Бюджет 2027”, “Пул режаси”; 4-илова.</a:t>
            </a:r>
          </a:p>
        </p:txBody>
      </p:sp>
      <p:graphicFrame>
        <p:nvGraphicFramePr>
          <p:cNvPr id="6" name="Budget table"/>
          <p:cNvGraphicFramePr>
            <a:graphicFrameLocks noGrp="1"/>
          </p:cNvGraphicFramePr>
          <p:nvPr/>
        </p:nvGraphicFramePr>
        <p:xfrm>
          <a:off x="548640" y="1691640"/>
          <a:ext cx="6675120" cy="2296668"/>
        </p:xfrm>
        <a:graphic>
          <a:graphicData uri="http://schemas.openxmlformats.org/drawingml/2006/table">
            <a:tbl>
              <a:tblPr firstRow="0" bandRow="0">
                <a:tableStyleId>{2D5ABB26-0587-4C30-8999-92F81FD0307C}</a:tableStyleId>
              </a:tblPr>
              <a:tblGrid>
                <a:gridCol w="1143000"/>
                <a:gridCol w="1234440"/>
                <a:gridCol w="1188720"/>
                <a:gridCol w="1828800"/>
                <a:gridCol w="1280160"/>
              </a:tblGrid>
              <a:tr h="605028">
                <a:tc>
                  <a:txBody>
                    <a:bodyPr wrap="square"/>
                    <a:lstStyle/>
                    <a:p>
                      <a:pPr algn="l">
                        <a:lnSpc>
                          <a:spcPts val="1300"/>
                        </a:lnSpc>
                      </a:pPr>
                      <a:r>
                        <a:rPr sz="1000" b="0" i="0" lang="uz-Cyrl-UZ">
                          <a:solidFill>
                            <a:srgbClr val="4E4D4D"/>
                          </a:solidFill>
                          <a:latin typeface="Consolas"/>
                        </a:rPr>
                        <a:t>МЛН СЎМ, 2027 РЕЖА</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РИВОЖЛАНИШ БЮДЖЕТИ (А ВАРИАНТ)</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ШУНДАН ЯНГИ ШТАТ ВА ДАСТУРЛАР</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МАНБАЛАР: ИЖАРА ВА ДЕПОЗИТЛАР / МЕЦЕНАТЛИК</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ПУЛ ВА ДЕПОЗИТЛАР, ЧОРАК ОХИРИДА</a:t>
                      </a:r>
                    </a:p>
                  </a:txBody>
                  <a:tcPr marL="73152" marR="73152" marT="54864" marB="54864" anchor="t">
                    <a:lnL w="12700">
                      <a:noFill/>
                    </a:lnL>
                    <a:lnR w="12700">
                      <a:noFill/>
                    </a:lnR>
                    <a:lnT w="12700">
                      <a:solidFill>
                        <a:srgbClr val="CECAC8"/>
                      </a:solidFill>
                    </a:lnT>
                    <a:lnB w="12700">
                      <a:solidFill>
                        <a:srgbClr val="CECAC8"/>
                      </a:solidFill>
                    </a:lnB>
                    <a:noFill/>
                  </a:tcPr>
                </a:tc>
              </a:tr>
              <a:tr h="338328">
                <a:tc>
                  <a:txBody>
                    <a:bodyPr wrap="square"/>
                    <a:lstStyle/>
                    <a:p>
                      <a:pPr algn="l">
                        <a:lnSpc>
                          <a:spcPts val="1800"/>
                        </a:lnSpc>
                      </a:pPr>
                      <a:r>
                        <a:rPr sz="1400" b="0" i="0" lang="uz-Cyrl-UZ">
                          <a:solidFill>
                            <a:srgbClr val="242424"/>
                          </a:solidFill>
                          <a:latin typeface="Consolas"/>
                        </a:rPr>
                        <a:t>I чорак</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2 966,9</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170,5</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2 966,9 / 0,0</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3 950,9</a:t>
                      </a:r>
                    </a:p>
                  </a:txBody>
                  <a:tcPr marL="73152" marR="73152" marT="54864" marB="54864" anchor="t">
                    <a:lnL w="12700">
                      <a:noFill/>
                    </a:lnL>
                    <a:lnR w="12700">
                      <a:noFill/>
                    </a:lnR>
                    <a:lnT w="12700">
                      <a:noFill/>
                    </a:lnT>
                    <a:lnB w="12700">
                      <a:solidFill>
                        <a:srgbClr val="CECAC8"/>
                      </a:solidFill>
                    </a:lnB>
                    <a:noFill/>
                  </a:tcPr>
                </a:tc>
              </a:tr>
              <a:tr h="338328">
                <a:tc>
                  <a:txBody>
                    <a:bodyPr wrap="square"/>
                    <a:lstStyle/>
                    <a:p>
                      <a:pPr algn="l">
                        <a:lnSpc>
                          <a:spcPts val="1800"/>
                        </a:lnSpc>
                      </a:pPr>
                      <a:r>
                        <a:rPr sz="1400" b="0" i="0" lang="uz-Cyrl-UZ">
                          <a:solidFill>
                            <a:srgbClr val="242424"/>
                          </a:solidFill>
                          <a:latin typeface="Consolas"/>
                        </a:rPr>
                        <a:t>II чорак</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1 696,3</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340,4</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1 596,3 / 100,0</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3 528,9</a:t>
                      </a:r>
                    </a:p>
                  </a:txBody>
                  <a:tcPr marL="73152" marR="73152" marT="54864" marB="54864" anchor="t">
                    <a:lnL w="12700">
                      <a:noFill/>
                    </a:lnL>
                    <a:lnR w="12700">
                      <a:noFill/>
                    </a:lnR>
                    <a:lnT w="12700">
                      <a:noFill/>
                    </a:lnT>
                    <a:lnB w="12700">
                      <a:solidFill>
                        <a:srgbClr val="CECAC8"/>
                      </a:solidFill>
                    </a:lnB>
                    <a:noFill/>
                  </a:tcPr>
                </a:tc>
              </a:tr>
              <a:tr h="338328">
                <a:tc>
                  <a:txBody>
                    <a:bodyPr wrap="square"/>
                    <a:lstStyle/>
                    <a:p>
                      <a:pPr algn="l">
                        <a:lnSpc>
                          <a:spcPts val="1800"/>
                        </a:lnSpc>
                      </a:pPr>
                      <a:r>
                        <a:rPr sz="1400" b="0" i="0" lang="uz-Cyrl-UZ">
                          <a:solidFill>
                            <a:srgbClr val="242424"/>
                          </a:solidFill>
                          <a:latin typeface="Consolas"/>
                        </a:rPr>
                        <a:t>III чорак</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560,6</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309,5</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460,6 / 100,0</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4 205,2</a:t>
                      </a:r>
                    </a:p>
                  </a:txBody>
                  <a:tcPr marL="73152" marR="73152" marT="54864" marB="54864" anchor="t">
                    <a:lnL w="12700">
                      <a:noFill/>
                    </a:lnL>
                    <a:lnR w="12700">
                      <a:noFill/>
                    </a:lnR>
                    <a:lnT w="12700">
                      <a:noFill/>
                    </a:lnT>
                    <a:lnB w="12700">
                      <a:solidFill>
                        <a:srgbClr val="CECAC8"/>
                      </a:solidFill>
                    </a:lnB>
                    <a:noFill/>
                  </a:tcPr>
                </a:tc>
              </a:tr>
              <a:tr h="338328">
                <a:tc>
                  <a:txBody>
                    <a:bodyPr wrap="square"/>
                    <a:lstStyle/>
                    <a:p>
                      <a:pPr algn="l">
                        <a:lnSpc>
                          <a:spcPts val="1800"/>
                        </a:lnSpc>
                      </a:pPr>
                      <a:r>
                        <a:rPr sz="1400" b="0" i="0" lang="uz-Cyrl-UZ">
                          <a:solidFill>
                            <a:srgbClr val="242424"/>
                          </a:solidFill>
                          <a:latin typeface="Consolas"/>
                        </a:rPr>
                        <a:t>IV чорак</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641,3</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334,4</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441,3 / 200,0</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5 016,1</a:t>
                      </a:r>
                    </a:p>
                  </a:txBody>
                  <a:tcPr marL="73152" marR="73152" marT="54864" marB="54864" anchor="t">
                    <a:lnL w="12700">
                      <a:noFill/>
                    </a:lnL>
                    <a:lnR w="12700">
                      <a:noFill/>
                    </a:lnR>
                    <a:lnT w="12700">
                      <a:noFill/>
                    </a:lnT>
                    <a:lnB w="12700">
                      <a:solidFill>
                        <a:srgbClr val="CECAC8"/>
                      </a:solidFill>
                    </a:lnB>
                    <a:noFill/>
                  </a:tcPr>
                </a:tc>
              </a:tr>
              <a:tr h="338328">
                <a:tc>
                  <a:txBody>
                    <a:bodyPr wrap="square"/>
                    <a:lstStyle/>
                    <a:p>
                      <a:pPr algn="l">
                        <a:lnSpc>
                          <a:spcPts val="1800"/>
                        </a:lnSpc>
                      </a:pPr>
                      <a:r>
                        <a:rPr sz="1400" b="0" i="0" lang="uz-Cyrl-UZ">
                          <a:solidFill>
                            <a:srgbClr val="242424"/>
                          </a:solidFill>
                          <a:latin typeface="Consolas"/>
                        </a:rPr>
                        <a:t>2027 йил</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B59D1"/>
                          </a:solidFill>
                          <a:latin typeface="Consolas"/>
                        </a:rPr>
                        <a:t>5 865,1</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1 154,7</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5 465,1 / 400,0</a:t>
                      </a:r>
                    </a:p>
                  </a:txBody>
                  <a:tcPr marL="73152" marR="73152" marT="54864" marB="54864"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5 016,1</a:t>
                      </a:r>
                    </a:p>
                  </a:txBody>
                  <a:tcPr marL="73152" marR="73152" marT="54864" marB="54864" anchor="t">
                    <a:lnL w="12700">
                      <a:noFill/>
                    </a:lnL>
                    <a:lnR w="12700">
                      <a:noFill/>
                    </a:lnR>
                    <a:lnT w="12700">
                      <a:noFill/>
                    </a:lnT>
                    <a:lnB w="12700">
                      <a:solidFill>
                        <a:srgbClr val="CECAC8"/>
                      </a:solidFill>
                    </a:lnB>
                    <a:noFill/>
                  </a:tcPr>
                </a:tc>
              </a:tr>
            </a:tbl>
          </a:graphicData>
        </a:graphic>
      </p:graphicFrame>
      <p:sp>
        <p:nvSpPr>
          <p:cNvPr id="7" name="TextBox 6"/>
          <p:cNvSpPr txBox="1"/>
          <p:nvPr/>
        </p:nvSpPr>
        <p:spPr>
          <a:xfrm>
            <a:off x="548640" y="4262628"/>
            <a:ext cx="6675120" cy="274320"/>
          </a:xfrm>
          <a:prstGeom prst="rect">
            <a:avLst/>
          </a:prstGeom>
          <a:noFill/>
        </p:spPr>
        <p:txBody>
          <a:bodyPr wrap="square" lIns="0" rIns="0" tIns="0" bIns="0" anchor="t">
            <a:noAutofit/>
          </a:bodyPr>
          <a:lstStyle/>
          <a:p>
            <a:pPr algn="l">
              <a:lnSpc>
                <a:spcPts val="2300"/>
              </a:lnSpc>
            </a:pPr>
            <a:r>
              <a:rPr sz="2000" b="0" i="0" lang="uz-Cyrl-UZ" spc="-40">
                <a:solidFill>
                  <a:srgbClr val="242424"/>
                </a:solidFill>
                <a:latin typeface="Cambria"/>
              </a:rPr>
              <a:t>Гуруҳ учун консолидацияланган таъсир</a:t>
            </a:r>
          </a:p>
        </p:txBody>
      </p:sp>
      <p:sp>
        <p:nvSpPr>
          <p:cNvPr id="8" name="TextBox 7"/>
          <p:cNvSpPr txBox="1"/>
          <p:nvPr/>
        </p:nvSpPr>
        <p:spPr>
          <a:xfrm>
            <a:off x="548640" y="4646676"/>
            <a:ext cx="6675120" cy="9144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Ижаранинг 70,4 фоизи гуруҳ корхоналаридан келади. Қўшимча харажат: “Ўзавтосаноат” — 1,1 млрд сўм (маъмурий бино), корхоналар — 0,4 млрд сўм (меценатлик); маблағлар гуруҳ ичида қолади. Гуруҳ ташқарисидан қўшимча тушум — 0,5 млрд сўм.</a:t>
            </a:r>
          </a:p>
        </p:txBody>
      </p:sp>
      <p:sp>
        <p:nvSpPr>
          <p:cNvPr id="9" name="TextBox 8"/>
          <p:cNvSpPr txBox="1"/>
          <p:nvPr/>
        </p:nvSpPr>
        <p:spPr>
          <a:xfrm>
            <a:off x="7680960" y="1691640"/>
            <a:ext cx="3962095"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БЮДЖЕТ ТАРКИБИ, МЛН СЎМ</a:t>
            </a:r>
          </a:p>
        </p:txBody>
      </p:sp>
      <p:graphicFrame>
        <p:nvGraphicFramePr>
          <p:cNvPr id="10" name="Budget composition"/>
          <p:cNvGraphicFramePr>
            <a:graphicFrameLocks noGrp="1"/>
          </p:cNvGraphicFramePr>
          <p:nvPr/>
        </p:nvGraphicFramePr>
        <p:xfrm>
          <a:off x="7680960" y="1947672"/>
          <a:ext cx="3962095" cy="1536192"/>
        </p:xfrm>
        <a:graphic>
          <a:graphicData uri="http://schemas.openxmlformats.org/drawingml/2006/table">
            <a:tbl>
              <a:tblPr firstRow="0" bandRow="0">
                <a:tableStyleId>{2D5ABB26-0587-4C30-8999-92F81FD0307C}</a:tableStyleId>
              </a:tblPr>
              <a:tblGrid>
                <a:gridCol w="2864815"/>
                <a:gridCol w="1097280"/>
              </a:tblGrid>
              <a:tr h="256032">
                <a:tc>
                  <a:txBody>
                    <a:bodyPr wrap="square"/>
                    <a:lstStyle/>
                    <a:p>
                      <a:pPr algn="l">
                        <a:lnSpc>
                          <a:spcPts val="1800"/>
                        </a:lnSpc>
                      </a:pPr>
                      <a:r>
                        <a:rPr sz="1400" b="0" i="0" lang="uz-Cyrl-UZ">
                          <a:solidFill>
                            <a:srgbClr val="242424"/>
                          </a:solidFill>
                          <a:latin typeface="Consolas"/>
                        </a:rPr>
                        <a:t>1-босқич</a:t>
                      </a:r>
                    </a:p>
                  </a:txBody>
                  <a:tcPr marL="73152" marR="73152" marT="13716" marB="13716" anchor="t">
                    <a:lnL w="12700">
                      <a:noFill/>
                    </a:lnL>
                    <a:lnR w="12700">
                      <a:noFill/>
                    </a:lnR>
                    <a:lnT w="12700">
                      <a:solidFill>
                        <a:srgbClr val="CECAC8"/>
                      </a:solid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3 627,4</a:t>
                      </a:r>
                    </a:p>
                  </a:txBody>
                  <a:tcPr marL="73152" marR="73152" marT="13716" marB="13716" anchor="t">
                    <a:lnL w="12700">
                      <a:noFill/>
                    </a:lnL>
                    <a:lnR w="12700">
                      <a:noFill/>
                    </a:lnR>
                    <a:lnT w="12700">
                      <a:solidFill>
                        <a:srgbClr val="CECAC8"/>
                      </a:solidFill>
                    </a:lnT>
                    <a:lnB w="12700">
                      <a:solidFill>
                        <a:srgbClr val="CECAC8"/>
                      </a:solidFill>
                    </a:lnB>
                    <a:noFill/>
                  </a:tcPr>
                </a:tc>
              </a:tr>
              <a:tr h="256032">
                <a:tc>
                  <a:txBody>
                    <a:bodyPr wrap="square"/>
                    <a:lstStyle/>
                    <a:p>
                      <a:pPr algn="l">
                        <a:lnSpc>
                          <a:spcPts val="1800"/>
                        </a:lnSpc>
                      </a:pPr>
                      <a:r>
                        <a:rPr sz="1400" b="0" i="0" lang="uz-Cyrl-UZ">
                          <a:solidFill>
                            <a:srgbClr val="242424"/>
                          </a:solidFill>
                          <a:latin typeface="Consolas"/>
                        </a:rPr>
                        <a:t>2-босқичга тайёргарлик</a:t>
                      </a:r>
                    </a:p>
                  </a:txBody>
                  <a:tcPr marL="73152" marR="73152" marT="13716" marB="13716"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558,0</a:t>
                      </a:r>
                    </a:p>
                  </a:txBody>
                  <a:tcPr marL="73152" marR="73152" marT="13716" marB="13716" anchor="t">
                    <a:lnL w="12700">
                      <a:noFill/>
                    </a:lnL>
                    <a:lnR w="12700">
                      <a:noFill/>
                    </a:lnR>
                    <a:lnT w="12700">
                      <a:noFill/>
                    </a:lnT>
                    <a:lnB w="12700">
                      <a:solidFill>
                        <a:srgbClr val="CECAC8"/>
                      </a:solidFill>
                    </a:lnB>
                    <a:noFill/>
                  </a:tcPr>
                </a:tc>
              </a:tr>
              <a:tr h="256032">
                <a:tc>
                  <a:txBody>
                    <a:bodyPr wrap="square"/>
                    <a:lstStyle/>
                    <a:p>
                      <a:pPr algn="l">
                        <a:lnSpc>
                          <a:spcPts val="1800"/>
                        </a:lnSpc>
                      </a:pPr>
                      <a:r>
                        <a:rPr sz="1400" b="0" i="0" lang="uz-Cyrl-UZ">
                          <a:solidFill>
                            <a:srgbClr val="242424"/>
                          </a:solidFill>
                          <a:latin typeface="Consolas"/>
                        </a:rPr>
                        <a:t>эски экспонатлар</a:t>
                      </a:r>
                    </a:p>
                  </a:txBody>
                  <a:tcPr marL="73152" marR="73152" marT="13716" marB="13716"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300,0</a:t>
                      </a:r>
                    </a:p>
                  </a:txBody>
                  <a:tcPr marL="73152" marR="73152" marT="13716" marB="13716" anchor="t">
                    <a:lnL w="12700">
                      <a:noFill/>
                    </a:lnL>
                    <a:lnR w="12700">
                      <a:noFill/>
                    </a:lnR>
                    <a:lnT w="12700">
                      <a:noFill/>
                    </a:lnT>
                    <a:lnB w="12700">
                      <a:solidFill>
                        <a:srgbClr val="CECAC8"/>
                      </a:solidFill>
                    </a:lnB>
                    <a:noFill/>
                  </a:tcPr>
                </a:tc>
              </a:tr>
              <a:tr h="256032">
                <a:tc>
                  <a:txBody>
                    <a:bodyPr wrap="square"/>
                    <a:lstStyle/>
                    <a:p>
                      <a:pPr algn="l">
                        <a:lnSpc>
                          <a:spcPts val="1800"/>
                        </a:lnSpc>
                      </a:pPr>
                      <a:r>
                        <a:rPr sz="1400" b="0" i="0" lang="uz-Cyrl-UZ">
                          <a:solidFill>
                            <a:srgbClr val="242424"/>
                          </a:solidFill>
                          <a:latin typeface="Consolas"/>
                        </a:rPr>
                        <a:t>сайт, жиҳоз, ҳисоблагичлар</a:t>
                      </a:r>
                    </a:p>
                  </a:txBody>
                  <a:tcPr marL="73152" marR="73152" marT="13716" marB="13716"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225,0</a:t>
                      </a:r>
                    </a:p>
                  </a:txBody>
                  <a:tcPr marL="73152" marR="73152" marT="13716" marB="13716" anchor="t">
                    <a:lnL w="12700">
                      <a:noFill/>
                    </a:lnL>
                    <a:lnR w="12700">
                      <a:noFill/>
                    </a:lnR>
                    <a:lnT w="12700">
                      <a:noFill/>
                    </a:lnT>
                    <a:lnB w="12700">
                      <a:solidFill>
                        <a:srgbClr val="CECAC8"/>
                      </a:solidFill>
                    </a:lnB>
                    <a:noFill/>
                  </a:tcPr>
                </a:tc>
              </a:tr>
              <a:tr h="256032">
                <a:tc>
                  <a:txBody>
                    <a:bodyPr wrap="square"/>
                    <a:lstStyle/>
                    <a:p>
                      <a:pPr algn="l">
                        <a:lnSpc>
                          <a:spcPts val="1800"/>
                        </a:lnSpc>
                      </a:pPr>
                      <a:r>
                        <a:rPr sz="1400" b="0" i="0" lang="uz-Cyrl-UZ">
                          <a:solidFill>
                            <a:srgbClr val="242424"/>
                          </a:solidFill>
                          <a:latin typeface="Consolas"/>
                        </a:rPr>
                        <a:t>янги штат ва дастурлар</a:t>
                      </a:r>
                    </a:p>
                  </a:txBody>
                  <a:tcPr marL="73152" marR="73152" marT="13716" marB="13716"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1 154,7</a:t>
                      </a:r>
                    </a:p>
                  </a:txBody>
                  <a:tcPr marL="73152" marR="73152" marT="13716" marB="13716" anchor="t">
                    <a:lnL w="12700">
                      <a:noFill/>
                    </a:lnL>
                    <a:lnR w="12700">
                      <a:noFill/>
                    </a:lnR>
                    <a:lnT w="12700">
                      <a:noFill/>
                    </a:lnT>
                    <a:lnB w="12700">
                      <a:solidFill>
                        <a:srgbClr val="CECAC8"/>
                      </a:solidFill>
                    </a:lnB>
                    <a:noFill/>
                  </a:tcPr>
                </a:tc>
              </a:tr>
              <a:tr h="256032">
                <a:tc>
                  <a:txBody>
                    <a:bodyPr wrap="square"/>
                    <a:lstStyle/>
                    <a:p>
                      <a:pPr algn="l">
                        <a:lnSpc>
                          <a:spcPts val="1800"/>
                        </a:lnSpc>
                      </a:pPr>
                      <a:r>
                        <a:rPr sz="1400" b="0" i="0" lang="uz-Cyrl-UZ">
                          <a:solidFill>
                            <a:srgbClr val="242424"/>
                          </a:solidFill>
                          <a:latin typeface="Consolas"/>
                        </a:rPr>
                        <a:t>=</a:t>
                      </a:r>
                    </a:p>
                  </a:txBody>
                  <a:tcPr marL="73152" marR="73152" marT="13716" marB="13716" anchor="t">
                    <a:lnL w="12700">
                      <a:noFill/>
                    </a:lnL>
                    <a:lnR w="12700">
                      <a:noFill/>
                    </a:lnR>
                    <a:lnT w="12700">
                      <a:noFill/>
                    </a:lnT>
                    <a:lnB w="12700">
                      <a:solidFill>
                        <a:srgbClr val="CECAC8"/>
                      </a:solidFill>
                    </a:lnB>
                    <a:noFill/>
                  </a:tcPr>
                </a:tc>
                <a:tc>
                  <a:txBody>
                    <a:bodyPr wrap="square"/>
                    <a:lstStyle/>
                    <a:p>
                      <a:pPr algn="r">
                        <a:lnSpc>
                          <a:spcPts val="1800"/>
                        </a:lnSpc>
                      </a:pPr>
                      <a:r>
                        <a:rPr sz="1400" b="0" i="0" lang="uz-Cyrl-UZ">
                          <a:solidFill>
                            <a:srgbClr val="242424"/>
                          </a:solidFill>
                          <a:latin typeface="Consolas"/>
                        </a:rPr>
                        <a:t>5 865,1</a:t>
                      </a:r>
                    </a:p>
                  </a:txBody>
                  <a:tcPr marL="73152" marR="73152" marT="13716" marB="13716" anchor="t">
                    <a:lnL w="12700">
                      <a:noFill/>
                    </a:lnL>
                    <a:lnR w="12700">
                      <a:noFill/>
                    </a:lnR>
                    <a:lnT w="12700">
                      <a:noFill/>
                    </a:lnT>
                    <a:lnB w="12700">
                      <a:solidFill>
                        <a:srgbClr val="CECAC8"/>
                      </a:solidFill>
                    </a:lnB>
                    <a:noFill/>
                  </a:tcPr>
                </a:tc>
              </a:tr>
            </a:tbl>
          </a:graphicData>
        </a:graphic>
      </p:graphicFrame>
      <p:sp>
        <p:nvSpPr>
          <p:cNvPr id="11" name="Recommendation"/>
          <p:cNvSpPr/>
          <p:nvPr/>
        </p:nvSpPr>
        <p:spPr>
          <a:xfrm>
            <a:off x="7680960" y="4161282"/>
            <a:ext cx="3962095" cy="1435608"/>
          </a:xfrm>
          <a:prstGeom prst="roundRect">
            <a:avLst>
              <a:gd name="adj" fmla="val 25477"/>
            </a:avLst>
          </a:prstGeom>
          <a:solidFill>
            <a:srgbClr val="CFDAF5"/>
          </a:solidFill>
          <a:ln>
            <a:noFill/>
          </a:ln>
          <a:effectLst/>
        </p:spPr>
        <p:txBody>
          <a:bodyPr rtlCol="0" anchor="ctr" lIns="0" rIns="0" tIns="0" bIns="0"/>
          <a:lstStyle/>
          <a:p>
            <a:pPr algn="ctr"/>
          </a:p>
        </p:txBody>
      </p:sp>
      <p:sp>
        <p:nvSpPr>
          <p:cNvPr id="12" name="TextBox 11"/>
          <p:cNvSpPr txBox="1"/>
          <p:nvPr/>
        </p:nvSpPr>
        <p:spPr>
          <a:xfrm>
            <a:off x="7936992" y="4325874"/>
            <a:ext cx="3450031" cy="329184"/>
          </a:xfrm>
          <a:prstGeom prst="rect">
            <a:avLst/>
          </a:prstGeom>
          <a:noFill/>
        </p:spPr>
        <p:txBody>
          <a:bodyPr wrap="square" lIns="0" rIns="0" tIns="0" bIns="0" anchor="t">
            <a:noAutofit/>
          </a:bodyPr>
          <a:lstStyle/>
          <a:p>
            <a:pPr algn="l">
              <a:lnSpc>
                <a:spcPts val="2400"/>
              </a:lnSpc>
            </a:pPr>
            <a:r>
              <a:rPr sz="2200" b="0" i="0" lang="uz-Cyrl-UZ" spc="-44">
                <a:solidFill>
                  <a:srgbClr val="242424"/>
                </a:solidFill>
                <a:latin typeface="Cambria"/>
              </a:rPr>
              <a:t>Тавсия: А</a:t>
            </a:r>
          </a:p>
        </p:txBody>
      </p:sp>
      <p:sp>
        <p:nvSpPr>
          <p:cNvPr id="13" name="TextBox 12"/>
          <p:cNvSpPr txBox="1"/>
          <p:nvPr/>
        </p:nvSpPr>
        <p:spPr>
          <a:xfrm>
            <a:off x="7936992" y="4728210"/>
            <a:ext cx="3450031" cy="6858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А вариантда энг паст заҳира — 3 528,9 млн сўм (3,6 ойлик жорий харажат).</a:t>
            </a:r>
          </a:p>
        </p:txBody>
      </p:sp>
      <p:sp>
        <p:nvSpPr>
          <p:cNvPr id="14" name="TextBox 13"/>
          <p:cNvSpPr txBox="1"/>
          <p:nvPr/>
        </p:nvSpPr>
        <p:spPr>
          <a:xfrm>
            <a:off x="7680960" y="3593592"/>
            <a:ext cx="3962095" cy="39370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Ривожланиш бюджети ижара тушумининг (15 032,7 млн сўм) 39 % миқдорида белгиланган.</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1689112"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05 · ИЖРО ВА НАЗОРАТ</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Ижро ҳар ой бешта кўрсаткич бўйича баҳоланади</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10 / 20</a:t>
            </a:r>
          </a:p>
        </p:txBody>
      </p:sp>
      <p:sp>
        <p:nvSpPr>
          <p:cNvPr id="5" name="Source"/>
          <p:cNvSpPr txBox="1"/>
          <p:nvPr/>
        </p:nvSpPr>
        <p:spPr>
          <a:xfrm>
            <a:off x="548640" y="6017260"/>
            <a:ext cx="9905695" cy="29210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Директор лавозими 2026 йил штат жадвалида бўш. Манба: Бошқарув ҳисоботи, 12.1–12.2; М5 “Кўрсаткичлар 2027”, “Ташрифчилар 2027”; 2026_ШТАТКА.xlsx; М3, 1–11-бандлар.</a:t>
            </a:r>
          </a:p>
        </p:txBody>
      </p:sp>
      <p:sp>
        <p:nvSpPr>
          <p:cNvPr id="6" name="TextBox 5"/>
          <p:cNvSpPr txBox="1"/>
          <p:nvPr/>
        </p:nvSpPr>
        <p:spPr>
          <a:xfrm>
            <a:off x="822960" y="1691640"/>
            <a:ext cx="2743200" cy="274320"/>
          </a:xfrm>
          <a:prstGeom prst="rect">
            <a:avLst/>
          </a:prstGeom>
          <a:noFill/>
        </p:spPr>
        <p:txBody>
          <a:bodyPr wrap="square" lIns="0" rIns="0" tIns="0" bIns="0" anchor="t">
            <a:noAutofit/>
          </a:bodyPr>
          <a:lstStyle/>
          <a:p>
            <a:pPr algn="l">
              <a:lnSpc>
                <a:spcPts val="2000"/>
              </a:lnSpc>
            </a:pPr>
            <a:r>
              <a:rPr sz="1800" b="0" i="0" lang="uz-Cyrl-UZ" spc="-36">
                <a:solidFill>
                  <a:srgbClr val="242424"/>
                </a:solidFill>
                <a:latin typeface="Cambria"/>
              </a:rPr>
              <a:t>Бошқарув раиси</a:t>
            </a:r>
          </a:p>
        </p:txBody>
      </p:sp>
      <p:sp>
        <p:nvSpPr>
          <p:cNvPr id="7" name="TextBox 6"/>
          <p:cNvSpPr txBox="1"/>
          <p:nvPr/>
        </p:nvSpPr>
        <p:spPr>
          <a:xfrm>
            <a:off x="822960" y="1956816"/>
            <a:ext cx="2743200" cy="1968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қарорлар ва назорат нуқтаси</a:t>
            </a:r>
          </a:p>
        </p:txBody>
      </p:sp>
      <p:sp>
        <p:nvSpPr>
          <p:cNvPr id="8" name="TextBox 7"/>
          <p:cNvSpPr txBox="1"/>
          <p:nvPr/>
        </p:nvSpPr>
        <p:spPr>
          <a:xfrm>
            <a:off x="822960" y="2217674"/>
            <a:ext cx="2743200" cy="274320"/>
          </a:xfrm>
          <a:prstGeom prst="rect">
            <a:avLst/>
          </a:prstGeom>
          <a:noFill/>
        </p:spPr>
        <p:txBody>
          <a:bodyPr wrap="square" lIns="0" rIns="0" tIns="0" bIns="0" anchor="t">
            <a:noAutofit/>
          </a:bodyPr>
          <a:lstStyle/>
          <a:p>
            <a:pPr algn="l">
              <a:lnSpc>
                <a:spcPts val="2000"/>
              </a:lnSpc>
            </a:pPr>
            <a:r>
              <a:rPr sz="1800" b="0" i="0" lang="uz-Cyrl-UZ" spc="-36">
                <a:solidFill>
                  <a:srgbClr val="242424"/>
                </a:solidFill>
                <a:latin typeface="Cambria"/>
              </a:rPr>
              <a:t>Васийлик кенгаши</a:t>
            </a:r>
          </a:p>
        </p:txBody>
      </p:sp>
      <p:sp>
        <p:nvSpPr>
          <p:cNvPr id="9" name="TextBox 8"/>
          <p:cNvSpPr txBox="1"/>
          <p:nvPr/>
        </p:nvSpPr>
        <p:spPr>
          <a:xfrm>
            <a:off x="822960" y="2482850"/>
            <a:ext cx="2743200" cy="1968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ҳар чоракда</a:t>
            </a:r>
          </a:p>
        </p:txBody>
      </p:sp>
      <p:sp>
        <p:nvSpPr>
          <p:cNvPr id="10" name="TextBox 9"/>
          <p:cNvSpPr txBox="1"/>
          <p:nvPr/>
        </p:nvSpPr>
        <p:spPr>
          <a:xfrm>
            <a:off x="822960" y="2743708"/>
            <a:ext cx="2743200" cy="274320"/>
          </a:xfrm>
          <a:prstGeom prst="rect">
            <a:avLst/>
          </a:prstGeom>
          <a:noFill/>
        </p:spPr>
        <p:txBody>
          <a:bodyPr wrap="square" lIns="0" rIns="0" tIns="0" bIns="0" anchor="t">
            <a:noAutofit/>
          </a:bodyPr>
          <a:lstStyle/>
          <a:p>
            <a:pPr algn="l">
              <a:lnSpc>
                <a:spcPts val="2000"/>
              </a:lnSpc>
            </a:pPr>
            <a:r>
              <a:rPr sz="1800" b="0" i="0" lang="uz-Cyrl-UZ" spc="-36">
                <a:solidFill>
                  <a:srgbClr val="242424"/>
                </a:solidFill>
                <a:latin typeface="Cambria"/>
              </a:rPr>
              <a:t>Музей директори</a:t>
            </a:r>
          </a:p>
        </p:txBody>
      </p:sp>
      <p:sp>
        <p:nvSpPr>
          <p:cNvPr id="11" name="TextBox 10"/>
          <p:cNvSpPr txBox="1"/>
          <p:nvPr/>
        </p:nvSpPr>
        <p:spPr>
          <a:xfrm>
            <a:off x="822960" y="3008884"/>
            <a:ext cx="2743200" cy="39370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ойлик ҳисобот; лавозим бўш (3-қарор)</a:t>
            </a:r>
          </a:p>
        </p:txBody>
      </p:sp>
      <p:sp>
        <p:nvSpPr>
          <p:cNvPr id="12" name="TextBox 11"/>
          <p:cNvSpPr txBox="1"/>
          <p:nvPr/>
        </p:nvSpPr>
        <p:spPr>
          <a:xfrm>
            <a:off x="1115568" y="3612896"/>
            <a:ext cx="2450592" cy="274320"/>
          </a:xfrm>
          <a:prstGeom prst="rect">
            <a:avLst/>
          </a:prstGeom>
          <a:noFill/>
        </p:spPr>
        <p:txBody>
          <a:bodyPr wrap="square" lIns="0" rIns="0" tIns="0" bIns="0" anchor="t">
            <a:noAutofit/>
          </a:bodyPr>
          <a:lstStyle/>
          <a:p>
            <a:pPr algn="l">
              <a:lnSpc>
                <a:spcPts val="2000"/>
              </a:lnSpc>
            </a:pPr>
            <a:r>
              <a:rPr sz="1800" b="0" i="0" lang="uz-Cyrl-UZ" spc="-36">
                <a:solidFill>
                  <a:srgbClr val="242424"/>
                </a:solidFill>
                <a:latin typeface="Cambria"/>
              </a:rPr>
              <a:t>Дастур раҳбари</a:t>
            </a:r>
          </a:p>
        </p:txBody>
      </p:sp>
      <p:sp>
        <p:nvSpPr>
          <p:cNvPr id="13" name="TextBox 12"/>
          <p:cNvSpPr txBox="1"/>
          <p:nvPr/>
        </p:nvSpPr>
        <p:spPr>
          <a:xfrm>
            <a:off x="1115568" y="3878072"/>
            <a:ext cx="2450592" cy="1968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13 экспонат ва бюджет</a:t>
            </a:r>
          </a:p>
        </p:txBody>
      </p:sp>
      <p:sp>
        <p:nvSpPr>
          <p:cNvPr id="14" name="TextBox 13"/>
          <p:cNvSpPr txBox="1"/>
          <p:nvPr/>
        </p:nvSpPr>
        <p:spPr>
          <a:xfrm>
            <a:off x="1115568" y="4138930"/>
            <a:ext cx="2450592" cy="274320"/>
          </a:xfrm>
          <a:prstGeom prst="rect">
            <a:avLst/>
          </a:prstGeom>
          <a:noFill/>
        </p:spPr>
        <p:txBody>
          <a:bodyPr wrap="square" lIns="0" rIns="0" tIns="0" bIns="0" anchor="t">
            <a:noAutofit/>
          </a:bodyPr>
          <a:lstStyle/>
          <a:p>
            <a:pPr algn="l">
              <a:lnSpc>
                <a:spcPts val="2000"/>
              </a:lnSpc>
            </a:pPr>
            <a:r>
              <a:rPr sz="1800" b="0" i="0" lang="uz-Cyrl-UZ" spc="-36">
                <a:solidFill>
                  <a:srgbClr val="242424"/>
                </a:solidFill>
                <a:latin typeface="Cambria"/>
              </a:rPr>
              <a:t>Тижорат раҳбари</a:t>
            </a:r>
          </a:p>
        </p:txBody>
      </p:sp>
      <p:sp>
        <p:nvSpPr>
          <p:cNvPr id="15" name="TextBox 14"/>
          <p:cNvSpPr txBox="1"/>
          <p:nvPr/>
        </p:nvSpPr>
        <p:spPr>
          <a:xfrm>
            <a:off x="1115568" y="4404106"/>
            <a:ext cx="2450592" cy="1968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тарифлар, сотув, тадбирлар</a:t>
            </a:r>
          </a:p>
        </p:txBody>
      </p:sp>
      <p:sp>
        <p:nvSpPr>
          <p:cNvPr id="16" name="TextBox 15"/>
          <p:cNvSpPr txBox="1"/>
          <p:nvPr/>
        </p:nvSpPr>
        <p:spPr>
          <a:xfrm>
            <a:off x="1115568" y="4664964"/>
            <a:ext cx="2450592" cy="274320"/>
          </a:xfrm>
          <a:prstGeom prst="rect">
            <a:avLst/>
          </a:prstGeom>
          <a:noFill/>
        </p:spPr>
        <p:txBody>
          <a:bodyPr wrap="square" lIns="0" rIns="0" tIns="0" bIns="0" anchor="t">
            <a:noAutofit/>
          </a:bodyPr>
          <a:lstStyle/>
          <a:p>
            <a:pPr algn="l">
              <a:lnSpc>
                <a:spcPts val="2000"/>
              </a:lnSpc>
            </a:pPr>
            <a:r>
              <a:rPr sz="1800" b="0" i="0" lang="uz-Cyrl-UZ" spc="-36">
                <a:solidFill>
                  <a:srgbClr val="242424"/>
                </a:solidFill>
                <a:latin typeface="Cambria"/>
              </a:rPr>
              <a:t>Таълим раҳбари</a:t>
            </a:r>
          </a:p>
        </p:txBody>
      </p:sp>
      <p:sp>
        <p:nvSpPr>
          <p:cNvPr id="17" name="TextBox 16"/>
          <p:cNvSpPr txBox="1"/>
          <p:nvPr/>
        </p:nvSpPr>
        <p:spPr>
          <a:xfrm>
            <a:off x="1115568" y="4930140"/>
            <a:ext cx="2450592" cy="1968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мактаблар, 4 000 ўқувчи</a:t>
            </a:r>
          </a:p>
        </p:txBody>
      </p:sp>
      <p:sp>
        <p:nvSpPr>
          <p:cNvPr id="18" name="TextBox 17"/>
          <p:cNvSpPr txBox="1"/>
          <p:nvPr/>
        </p:nvSpPr>
        <p:spPr>
          <a:xfrm>
            <a:off x="1115568" y="5190998"/>
            <a:ext cx="2450592" cy="274320"/>
          </a:xfrm>
          <a:prstGeom prst="rect">
            <a:avLst/>
          </a:prstGeom>
          <a:noFill/>
        </p:spPr>
        <p:txBody>
          <a:bodyPr wrap="square" lIns="0" rIns="0" tIns="0" bIns="0" anchor="t">
            <a:noAutofit/>
          </a:bodyPr>
          <a:lstStyle/>
          <a:p>
            <a:pPr algn="l">
              <a:lnSpc>
                <a:spcPts val="2000"/>
              </a:lnSpc>
            </a:pPr>
            <a:r>
              <a:rPr sz="1800" b="0" i="0" lang="uz-Cyrl-UZ" spc="-36">
                <a:solidFill>
                  <a:srgbClr val="242424"/>
                </a:solidFill>
                <a:latin typeface="Cambria"/>
              </a:rPr>
              <a:t>Бош ҳисобчи, техник</a:t>
            </a:r>
          </a:p>
        </p:txBody>
      </p:sp>
      <p:sp>
        <p:nvSpPr>
          <p:cNvPr id="19" name="TextBox 18"/>
          <p:cNvSpPr txBox="1"/>
          <p:nvPr/>
        </p:nvSpPr>
        <p:spPr>
          <a:xfrm>
            <a:off x="1115568" y="5456174"/>
            <a:ext cx="2450592" cy="196850"/>
          </a:xfrm>
          <a:prstGeom prst="rect">
            <a:avLst/>
          </a:prstGeom>
          <a:noFill/>
        </p:spPr>
        <p:txBody>
          <a:bodyPr wrap="square" lIns="0" rIns="0" tIns="0" bIns="0" anchor="t">
            <a:noAutofit/>
          </a:bodyPr>
          <a:lstStyle/>
          <a:p>
            <a:pPr algn="l">
              <a:lnSpc>
                <a:spcPts val="1550"/>
              </a:lnSpc>
            </a:pPr>
            <a:r>
              <a:rPr sz="1200" b="0" i="0" lang="uz-Cyrl-UZ">
                <a:solidFill>
                  <a:srgbClr val="4E4D4D"/>
                </a:solidFill>
                <a:latin typeface="Consolas"/>
              </a:rPr>
              <a:t>алоҳида ҳисоб, техник хизмат</a:t>
            </a:r>
          </a:p>
        </p:txBody>
      </p:sp>
      <p:cxnSp>
        <p:nvCxnSpPr>
          <p:cNvPr id="20" name="Connector 19"/>
          <p:cNvCxnSpPr/>
          <p:nvPr/>
        </p:nvCxnSpPr>
        <p:spPr>
          <a:xfrm>
            <a:off x="612648" y="1828800"/>
            <a:ext cx="0" cy="1656080"/>
          </a:xfrm>
          <a:prstGeom prst="line">
            <a:avLst/>
          </a:prstGeom>
          <a:ln w="12700">
            <a:solidFill>
              <a:srgbClr val="CECAC8"/>
            </a:solidFill>
          </a:ln>
        </p:spPr>
      </p:cxnSp>
      <p:cxnSp>
        <p:nvCxnSpPr>
          <p:cNvPr id="21" name="Connector 20"/>
          <p:cNvCxnSpPr/>
          <p:nvPr/>
        </p:nvCxnSpPr>
        <p:spPr>
          <a:xfrm>
            <a:off x="612648" y="3484880"/>
            <a:ext cx="292608" cy="0"/>
          </a:xfrm>
          <a:prstGeom prst="line">
            <a:avLst/>
          </a:prstGeom>
          <a:ln w="12700">
            <a:solidFill>
              <a:srgbClr val="CECAC8"/>
            </a:solidFill>
          </a:ln>
        </p:spPr>
      </p:cxnSp>
      <p:cxnSp>
        <p:nvCxnSpPr>
          <p:cNvPr id="22" name="Connector 21"/>
          <p:cNvCxnSpPr/>
          <p:nvPr/>
        </p:nvCxnSpPr>
        <p:spPr>
          <a:xfrm>
            <a:off x="905256" y="3484880"/>
            <a:ext cx="0" cy="1843278"/>
          </a:xfrm>
          <a:prstGeom prst="line">
            <a:avLst/>
          </a:prstGeom>
          <a:ln w="12700">
            <a:solidFill>
              <a:srgbClr val="CECAC8"/>
            </a:solidFill>
          </a:ln>
        </p:spPr>
      </p:cxnSp>
      <p:sp>
        <p:nvSpPr>
          <p:cNvPr id="23" name="Oval 22"/>
          <p:cNvSpPr/>
          <p:nvPr/>
        </p:nvSpPr>
        <p:spPr>
          <a:xfrm>
            <a:off x="557784" y="1773936"/>
            <a:ext cx="109728" cy="109728"/>
          </a:xfrm>
          <a:prstGeom prst="ellipse">
            <a:avLst/>
          </a:prstGeom>
          <a:solidFill>
            <a:srgbClr val="F6F3F1"/>
          </a:solidFill>
          <a:ln w="12700">
            <a:solidFill>
              <a:srgbClr val="4E4D4D"/>
            </a:solidFill>
          </a:ln>
          <a:effectLst/>
        </p:spPr>
        <p:txBody>
          <a:bodyPr rtlCol="0" anchor="ctr"/>
          <a:lstStyle/>
          <a:p>
            <a:pPr algn="ctr"/>
          </a:p>
        </p:txBody>
      </p:sp>
      <p:sp>
        <p:nvSpPr>
          <p:cNvPr id="24" name="Oval 23"/>
          <p:cNvSpPr/>
          <p:nvPr/>
        </p:nvSpPr>
        <p:spPr>
          <a:xfrm>
            <a:off x="557784" y="2299970"/>
            <a:ext cx="109728" cy="109728"/>
          </a:xfrm>
          <a:prstGeom prst="ellipse">
            <a:avLst/>
          </a:prstGeom>
          <a:solidFill>
            <a:srgbClr val="F6F3F1"/>
          </a:solidFill>
          <a:ln w="12700">
            <a:solidFill>
              <a:srgbClr val="4E4D4D"/>
            </a:solidFill>
          </a:ln>
          <a:effectLst/>
        </p:spPr>
        <p:txBody>
          <a:bodyPr rtlCol="0" anchor="ctr"/>
          <a:lstStyle/>
          <a:p>
            <a:pPr algn="ctr"/>
          </a:p>
        </p:txBody>
      </p:sp>
      <p:sp>
        <p:nvSpPr>
          <p:cNvPr id="25" name="Oval 24"/>
          <p:cNvSpPr/>
          <p:nvPr/>
        </p:nvSpPr>
        <p:spPr>
          <a:xfrm>
            <a:off x="557784" y="2826004"/>
            <a:ext cx="109728" cy="109728"/>
          </a:xfrm>
          <a:prstGeom prst="ellipse">
            <a:avLst/>
          </a:prstGeom>
          <a:solidFill>
            <a:srgbClr val="F6F3F1"/>
          </a:solidFill>
          <a:ln w="12700">
            <a:solidFill>
              <a:srgbClr val="4E4D4D"/>
            </a:solidFill>
          </a:ln>
          <a:effectLst/>
        </p:spPr>
        <p:txBody>
          <a:bodyPr rtlCol="0" anchor="ctr"/>
          <a:lstStyle/>
          <a:p>
            <a:pPr algn="ctr"/>
          </a:p>
        </p:txBody>
      </p:sp>
      <p:sp>
        <p:nvSpPr>
          <p:cNvPr id="26" name="Oval 25"/>
          <p:cNvSpPr/>
          <p:nvPr/>
        </p:nvSpPr>
        <p:spPr>
          <a:xfrm>
            <a:off x="850392" y="3695192"/>
            <a:ext cx="109728" cy="109728"/>
          </a:xfrm>
          <a:prstGeom prst="ellipse">
            <a:avLst/>
          </a:prstGeom>
          <a:solidFill>
            <a:srgbClr val="F6F3F1"/>
          </a:solidFill>
          <a:ln w="12700">
            <a:solidFill>
              <a:srgbClr val="4E4D4D"/>
            </a:solidFill>
          </a:ln>
          <a:effectLst/>
        </p:spPr>
        <p:txBody>
          <a:bodyPr rtlCol="0" anchor="ctr"/>
          <a:lstStyle/>
          <a:p>
            <a:pPr algn="ctr"/>
          </a:p>
        </p:txBody>
      </p:sp>
      <p:sp>
        <p:nvSpPr>
          <p:cNvPr id="27" name="Oval 26"/>
          <p:cNvSpPr/>
          <p:nvPr/>
        </p:nvSpPr>
        <p:spPr>
          <a:xfrm>
            <a:off x="850392" y="4221226"/>
            <a:ext cx="109728" cy="109728"/>
          </a:xfrm>
          <a:prstGeom prst="ellipse">
            <a:avLst/>
          </a:prstGeom>
          <a:solidFill>
            <a:srgbClr val="F6F3F1"/>
          </a:solidFill>
          <a:ln w="12700">
            <a:solidFill>
              <a:srgbClr val="4E4D4D"/>
            </a:solidFill>
          </a:ln>
          <a:effectLst/>
        </p:spPr>
        <p:txBody>
          <a:bodyPr rtlCol="0" anchor="ctr"/>
          <a:lstStyle/>
          <a:p>
            <a:pPr algn="ctr"/>
          </a:p>
        </p:txBody>
      </p:sp>
      <p:sp>
        <p:nvSpPr>
          <p:cNvPr id="28" name="Oval 27"/>
          <p:cNvSpPr/>
          <p:nvPr/>
        </p:nvSpPr>
        <p:spPr>
          <a:xfrm>
            <a:off x="850392" y="4747260"/>
            <a:ext cx="109728" cy="109728"/>
          </a:xfrm>
          <a:prstGeom prst="ellipse">
            <a:avLst/>
          </a:prstGeom>
          <a:solidFill>
            <a:srgbClr val="F6F3F1"/>
          </a:solidFill>
          <a:ln w="12700">
            <a:solidFill>
              <a:srgbClr val="4E4D4D"/>
            </a:solidFill>
          </a:ln>
          <a:effectLst/>
        </p:spPr>
        <p:txBody>
          <a:bodyPr rtlCol="0" anchor="ctr"/>
          <a:lstStyle/>
          <a:p>
            <a:pPr algn="ctr"/>
          </a:p>
        </p:txBody>
      </p:sp>
      <p:sp>
        <p:nvSpPr>
          <p:cNvPr id="29" name="Oval 28"/>
          <p:cNvSpPr/>
          <p:nvPr/>
        </p:nvSpPr>
        <p:spPr>
          <a:xfrm>
            <a:off x="850392" y="5273294"/>
            <a:ext cx="109728" cy="109728"/>
          </a:xfrm>
          <a:prstGeom prst="ellipse">
            <a:avLst/>
          </a:prstGeom>
          <a:solidFill>
            <a:srgbClr val="F6F3F1"/>
          </a:solidFill>
          <a:ln w="12700">
            <a:solidFill>
              <a:srgbClr val="4E4D4D"/>
            </a:solidFill>
          </a:ln>
          <a:effectLst/>
        </p:spPr>
        <p:txBody>
          <a:bodyPr rtlCol="0" anchor="ctr"/>
          <a:lstStyle/>
          <a:p>
            <a:pPr algn="ctr"/>
          </a:p>
        </p:txBody>
      </p:sp>
      <p:sp>
        <p:nvSpPr>
          <p:cNvPr id="30" name="TextBox 29"/>
          <p:cNvSpPr txBox="1"/>
          <p:nvPr/>
        </p:nvSpPr>
        <p:spPr>
          <a:xfrm>
            <a:off x="3840480" y="1691640"/>
            <a:ext cx="3657600" cy="36576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БИР САҲИФАЛИК ОЙЛИК ҲИСОБОТ, 10-САНАСИГАЧА</a:t>
            </a:r>
          </a:p>
        </p:txBody>
      </p:sp>
      <p:graphicFrame>
        <p:nvGraphicFramePr>
          <p:cNvPr id="31" name="Monthly report"/>
          <p:cNvGraphicFramePr>
            <a:graphicFrameLocks noGrp="1"/>
          </p:cNvGraphicFramePr>
          <p:nvPr/>
        </p:nvGraphicFramePr>
        <p:xfrm>
          <a:off x="3840480" y="1984248"/>
          <a:ext cx="3657600" cy="3503168"/>
        </p:xfrm>
        <a:graphic>
          <a:graphicData uri="http://schemas.openxmlformats.org/drawingml/2006/table">
            <a:tbl>
              <a:tblPr firstRow="0" bandRow="0">
                <a:tableStyleId>{2D5ABB26-0587-4C30-8999-92F81FD0307C}</a:tableStyleId>
              </a:tblPr>
              <a:tblGrid>
                <a:gridCol w="1463040"/>
                <a:gridCol w="914400"/>
                <a:gridCol w="685800"/>
                <a:gridCol w="594360"/>
              </a:tblGrid>
              <a:tr h="439928">
                <a:tc>
                  <a:txBody>
                    <a:bodyPr wrap="square"/>
                    <a:lstStyle/>
                    <a:p>
                      <a:pPr algn="l">
                        <a:lnSpc>
                          <a:spcPts val="1300"/>
                        </a:lnSpc>
                      </a:pPr>
                      <a:r>
                        <a:rPr sz="1000" b="0" i="0" lang="uz-Cyrl-UZ">
                          <a:solidFill>
                            <a:srgbClr val="4E4D4D"/>
                          </a:solidFill>
                          <a:latin typeface="Consolas"/>
                        </a:rPr>
                        <a:t>КЎРСАТКИЧ</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ЙИЛ МАҚСАДИ</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ОЙ РЕЖАСИ</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АМАЛДА</a:t>
                      </a:r>
                    </a:p>
                  </a:txBody>
                  <a:tcPr marL="73152" marR="73152" marT="54864" marB="54864" anchor="t">
                    <a:lnL w="12700">
                      <a:noFill/>
                    </a:lnL>
                    <a:lnR w="12700">
                      <a:noFill/>
                    </a:lnR>
                    <a:lnT w="12700">
                      <a:solidFill>
                        <a:srgbClr val="CECAC8"/>
                      </a:solidFill>
                    </a:lnT>
                    <a:lnB w="12700">
                      <a:solidFill>
                        <a:srgbClr val="CECAC8"/>
                      </a:solidFill>
                    </a:lnB>
                    <a:noFill/>
                  </a:tcPr>
                </a:tc>
              </a:tr>
              <a:tr h="338328">
                <a:tc>
                  <a:txBody>
                    <a:bodyPr wrap="square"/>
                    <a:lstStyle/>
                    <a:p>
                      <a:pPr algn="l">
                        <a:lnSpc>
                          <a:spcPts val="1800"/>
                        </a:lnSpc>
                      </a:pPr>
                      <a:r>
                        <a:rPr sz="1400" b="0" i="0" lang="uz-Cyrl-UZ">
                          <a:solidFill>
                            <a:srgbClr val="242424"/>
                          </a:solidFill>
                          <a:latin typeface="Consolas"/>
                        </a:rPr>
                        <a:t>Ташрифчилар</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29 000</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
                      </a:r>
                    </a:p>
                  </a:txBody>
                  <a:tcPr marL="73152" marR="73152" marT="54864" marB="54864" anchor="t">
                    <a:lnL w="12700">
                      <a:noFill/>
                    </a:lnL>
                    <a:lnR w="12700">
                      <a:noFill/>
                    </a:lnR>
                    <a:lnT w="12700">
                      <a:noFill/>
                    </a:lnT>
                    <a:lnB w="12700">
                      <a:solidFill>
                        <a:srgbClr val="CECAC8"/>
                      </a:solidFill>
                    </a:lnB>
                    <a:noFill/>
                  </a:tcPr>
                </a:tc>
              </a:tr>
              <a:tr h="566928">
                <a:tc>
                  <a:txBody>
                    <a:bodyPr wrap="square"/>
                    <a:lstStyle/>
                    <a:p>
                      <a:pPr algn="l">
                        <a:lnSpc>
                          <a:spcPts val="1800"/>
                        </a:lnSpc>
                      </a:pPr>
                      <a:r>
                        <a:rPr sz="1400" b="0" i="0" lang="uz-Cyrl-UZ">
                          <a:solidFill>
                            <a:srgbClr val="242424"/>
                          </a:solidFill>
                          <a:latin typeface="Consolas"/>
                        </a:rPr>
                        <a:t>Музей тушуми, млн сўм</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1 046,3</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
                      </a:r>
                    </a:p>
                  </a:txBody>
                  <a:tcPr marL="73152" marR="73152" marT="54864" marB="54864" anchor="t">
                    <a:lnL w="12700">
                      <a:noFill/>
                    </a:lnL>
                    <a:lnR w="12700">
                      <a:noFill/>
                    </a:lnR>
                    <a:lnT w="12700">
                      <a:noFill/>
                    </a:lnT>
                    <a:lnB w="12700">
                      <a:solidFill>
                        <a:srgbClr val="CECAC8"/>
                      </a:solidFill>
                    </a:lnB>
                    <a:noFill/>
                  </a:tcPr>
                </a:tc>
              </a:tr>
              <a:tr h="566928">
                <a:tc>
                  <a:txBody>
                    <a:bodyPr wrap="square"/>
                    <a:lstStyle/>
                    <a:p>
                      <a:pPr algn="l">
                        <a:lnSpc>
                          <a:spcPts val="1800"/>
                        </a:lnSpc>
                      </a:pPr>
                      <a:r>
                        <a:rPr sz="1400" b="0" i="0" lang="uz-Cyrl-UZ">
                          <a:solidFill>
                            <a:srgbClr val="242424"/>
                          </a:solidFill>
                          <a:latin typeface="Consolas"/>
                        </a:rPr>
                        <a:t>Экспонатлар ишлаши</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13 та; ≥95 %</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
                      </a:r>
                    </a:p>
                  </a:txBody>
                  <a:tcPr marL="73152" marR="73152" marT="54864" marB="54864" anchor="t">
                    <a:lnL w="12700">
                      <a:noFill/>
                    </a:lnL>
                    <a:lnR w="12700">
                      <a:noFill/>
                    </a:lnR>
                    <a:lnT w="12700">
                      <a:noFill/>
                    </a:lnT>
                    <a:lnB w="12700">
                      <a:solidFill>
                        <a:srgbClr val="CECAC8"/>
                      </a:solidFill>
                    </a:lnB>
                    <a:noFill/>
                  </a:tcPr>
                </a:tc>
              </a:tr>
              <a:tr h="795528">
                <a:tc>
                  <a:txBody>
                    <a:bodyPr wrap="square"/>
                    <a:lstStyle/>
                    <a:p>
                      <a:pPr algn="l">
                        <a:lnSpc>
                          <a:spcPts val="1800"/>
                        </a:lnSpc>
                      </a:pPr>
                      <a:r>
                        <a:rPr sz="1400" b="0" i="0" lang="uz-Cyrl-UZ">
                          <a:solidFill>
                            <a:srgbClr val="242424"/>
                          </a:solidFill>
                          <a:latin typeface="Consolas"/>
                        </a:rPr>
                        <a:t>2-қават: салбий фикрлар</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&lt;10 %</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
                      </a:r>
                    </a:p>
                  </a:txBody>
                  <a:tcPr marL="73152" marR="73152" marT="54864" marB="54864" anchor="t">
                    <a:lnL w="12700">
                      <a:noFill/>
                    </a:lnL>
                    <a:lnR w="12700">
                      <a:noFill/>
                    </a:lnR>
                    <a:lnT w="12700">
                      <a:noFill/>
                    </a:lnT>
                    <a:lnB w="12700">
                      <a:solidFill>
                        <a:srgbClr val="CECAC8"/>
                      </a:solidFill>
                    </a:lnB>
                    <a:noFill/>
                  </a:tcPr>
                </a:tc>
              </a:tr>
              <a:tr h="795528">
                <a:tc>
                  <a:txBody>
                    <a:bodyPr wrap="square"/>
                    <a:lstStyle/>
                    <a:p>
                      <a:pPr algn="l">
                        <a:lnSpc>
                          <a:spcPts val="1800"/>
                        </a:lnSpc>
                      </a:pPr>
                      <a:r>
                        <a:rPr sz="1400" b="0" i="0" lang="uz-Cyrl-UZ">
                          <a:solidFill>
                            <a:srgbClr val="242424"/>
                          </a:solidFill>
                          <a:latin typeface="Consolas"/>
                        </a:rPr>
                        <a:t>Нопрофил харажатлар / бюджет ижроси</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0 % / ≥90 %</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
                      </a:r>
                    </a:p>
                  </a:txBody>
                  <a:tcPr marL="73152" marR="73152" marT="54864" marB="54864" anchor="t">
                    <a:lnL w="12700">
                      <a:noFill/>
                    </a:lnL>
                    <a:lnR w="12700">
                      <a:noFill/>
                    </a:lnR>
                    <a:lnT w="12700">
                      <a:noFill/>
                    </a:lnT>
                    <a:lnB w="12700">
                      <a:solidFill>
                        <a:srgbClr val="CECAC8"/>
                      </a:solidFill>
                    </a:lnB>
                    <a:noFill/>
                  </a:tcPr>
                </a:tc>
              </a:tr>
            </a:tbl>
          </a:graphicData>
        </a:graphic>
      </p:graphicFrame>
      <p:sp>
        <p:nvSpPr>
          <p:cNvPr id="32" name="Control point card"/>
          <p:cNvSpPr/>
          <p:nvPr/>
        </p:nvSpPr>
        <p:spPr>
          <a:xfrm>
            <a:off x="7772400" y="1691640"/>
            <a:ext cx="3870655" cy="4051300"/>
          </a:xfrm>
          <a:prstGeom prst="roundRect">
            <a:avLst>
              <a:gd name="adj" fmla="val 9449"/>
            </a:avLst>
          </a:prstGeom>
          <a:solidFill>
            <a:srgbClr val="CFDAF5"/>
          </a:solidFill>
          <a:ln>
            <a:noFill/>
          </a:ln>
          <a:effectLst/>
        </p:spPr>
        <p:txBody>
          <a:bodyPr rtlCol="0" anchor="ctr" lIns="0" rIns="0" tIns="0" bIns="0"/>
          <a:lstStyle/>
          <a:p>
            <a:pPr algn="ctr"/>
          </a:p>
        </p:txBody>
      </p:sp>
      <p:sp>
        <p:nvSpPr>
          <p:cNvPr id="33" name="TextBox 32"/>
          <p:cNvSpPr txBox="1"/>
          <p:nvPr/>
        </p:nvSpPr>
        <p:spPr>
          <a:xfrm>
            <a:off x="8028432" y="1938528"/>
            <a:ext cx="3358591" cy="411480"/>
          </a:xfrm>
          <a:prstGeom prst="rect">
            <a:avLst/>
          </a:prstGeom>
          <a:noFill/>
        </p:spPr>
        <p:txBody>
          <a:bodyPr wrap="square" lIns="0" rIns="0" tIns="0" bIns="0" anchor="t">
            <a:noAutofit/>
          </a:bodyPr>
          <a:lstStyle/>
          <a:p>
            <a:pPr algn="l">
              <a:lnSpc>
                <a:spcPts val="3000"/>
              </a:lnSpc>
            </a:pPr>
            <a:r>
              <a:rPr sz="2800" b="0" i="0" lang="uz-Cyrl-UZ" spc="-56">
                <a:solidFill>
                  <a:srgbClr val="2B59D1"/>
                </a:solidFill>
                <a:latin typeface="Cambria"/>
              </a:rPr>
              <a:t>15.10.2027</a:t>
            </a:r>
          </a:p>
        </p:txBody>
      </p:sp>
      <p:sp>
        <p:nvSpPr>
          <p:cNvPr id="34" name="TextBox 33"/>
          <p:cNvSpPr txBox="1"/>
          <p:nvPr/>
        </p:nvSpPr>
        <p:spPr>
          <a:xfrm>
            <a:off x="8028432" y="2395728"/>
            <a:ext cx="3358591"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НАЗОРАТ НУҚТАСИ</a:t>
            </a:r>
          </a:p>
        </p:txBody>
      </p:sp>
      <p:sp>
        <p:nvSpPr>
          <p:cNvPr id="35" name="TextBox 34"/>
          <p:cNvSpPr txBox="1"/>
          <p:nvPr/>
        </p:nvSpPr>
        <p:spPr>
          <a:xfrm>
            <a:off x="8028432" y="2679192"/>
            <a:ext cx="3358591" cy="1714500"/>
          </a:xfrm>
          <a:prstGeom prst="rect">
            <a:avLst/>
          </a:prstGeom>
          <a:noFill/>
        </p:spPr>
        <p:txBody>
          <a:bodyPr wrap="square" lIns="0" rIns="0" tIns="0" bIns="0" anchor="t">
            <a:noAutofit/>
          </a:bodyPr>
          <a:lstStyle/>
          <a:p>
            <a:pPr algn="l">
              <a:lnSpc>
                <a:spcPts val="1800"/>
              </a:lnSpc>
              <a:spcAft>
                <a:spcPts val="300"/>
              </a:spcAft>
            </a:pPr>
            <a:r>
              <a:rPr sz="1400" b="0" i="0" lang="uz-Cyrl-UZ">
                <a:solidFill>
                  <a:srgbClr val="242424"/>
                </a:solidFill>
                <a:latin typeface="Consolas"/>
              </a:rPr>
              <a:t>1. 9 ойда камида 19 500 ташрифчи</a:t>
            </a:r>
          </a:p>
          <a:p>
            <a:pPr algn="l">
              <a:lnSpc>
                <a:spcPts val="1800"/>
              </a:lnSpc>
              <a:spcAft>
                <a:spcPts val="300"/>
              </a:spcAft>
            </a:pPr>
            <a:r>
              <a:rPr sz="1400" b="0" i="0" lang="uz-Cyrl-UZ">
                <a:solidFill>
                  <a:srgbClr val="242424"/>
                </a:solidFill>
                <a:latin typeface="Consolas"/>
              </a:rPr>
              <a:t>2. 13 экспонат кунларнинг камида 95 фоизида соз</a:t>
            </a:r>
          </a:p>
          <a:p>
            <a:pPr algn="l">
              <a:lnSpc>
                <a:spcPts val="1800"/>
              </a:lnSpc>
              <a:spcAft>
                <a:spcPts val="300"/>
              </a:spcAft>
            </a:pPr>
            <a:r>
              <a:rPr sz="1400" b="0" i="0" lang="uz-Cyrl-UZ">
                <a:solidFill>
                  <a:srgbClr val="242424"/>
                </a:solidFill>
                <a:latin typeface="Consolas"/>
              </a:rPr>
              <a:t>3. М3 топшириқлари (2–10-бандлар) бажарилган</a:t>
            </a:r>
          </a:p>
          <a:p>
            <a:pPr algn="l">
              <a:lnSpc>
                <a:spcPts val="1800"/>
              </a:lnSpc>
            </a:pPr>
            <a:r>
              <a:rPr sz="1400" b="0" i="0" lang="uz-Cyrl-UZ">
                <a:solidFill>
                  <a:srgbClr val="242424"/>
                </a:solidFill>
                <a:latin typeface="Consolas"/>
              </a:rPr>
              <a:t>4. 2-қават: салбий фикрлар 10 фоиздан кам</a:t>
            </a:r>
          </a:p>
        </p:txBody>
      </p:sp>
      <p:cxnSp>
        <p:nvCxnSpPr>
          <p:cNvPr id="36" name="Connector 35"/>
          <p:cNvCxnSpPr/>
          <p:nvPr/>
        </p:nvCxnSpPr>
        <p:spPr>
          <a:xfrm>
            <a:off x="8028432" y="4539996"/>
            <a:ext cx="3358591" cy="0"/>
          </a:xfrm>
          <a:prstGeom prst="line">
            <a:avLst/>
          </a:prstGeom>
          <a:ln w="12700">
            <a:solidFill>
              <a:srgbClr val="CECAC8"/>
            </a:solidFill>
          </a:ln>
        </p:spPr>
      </p:cxnSp>
      <p:sp>
        <p:nvSpPr>
          <p:cNvPr id="37" name="TextBox 36"/>
          <p:cNvSpPr txBox="1"/>
          <p:nvPr/>
        </p:nvSpPr>
        <p:spPr>
          <a:xfrm>
            <a:off x="8028432" y="4686300"/>
            <a:ext cx="3358591" cy="6858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Бажарилса — 2-босқич қарори. Бажарилмаса — маблағлар депозитда, 90 кунлик тузатиш режаси.</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1689112"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05 · ИЖРО ВА НАЗОРАТ</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Ҳар бир хатар бўйича чора ва масъул белгиланган</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11 / 20</a:t>
            </a:r>
          </a:p>
        </p:txBody>
      </p:sp>
      <p:sp>
        <p:nvSpPr>
          <p:cNvPr id="5" name="Source"/>
          <p:cNvSpPr txBox="1"/>
          <p:nvPr/>
        </p:nvSpPr>
        <p:spPr>
          <a:xfrm>
            <a:off x="548640" y="6163310"/>
            <a:ext cx="9905695" cy="14605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Манба: Экспозицияни янгилаш дастури, “Риски и меры” (хатарлар ва чоралар); Бошқарув ҳисоботи, 4.2.1, 5.2; ижарачилар реестри (Лист1!G4); М5 “Пул режаси”.</a:t>
            </a:r>
          </a:p>
        </p:txBody>
      </p:sp>
      <p:graphicFrame>
        <p:nvGraphicFramePr>
          <p:cNvPr id="6" name="Risk table"/>
          <p:cNvGraphicFramePr>
            <a:graphicFrameLocks noGrp="1"/>
          </p:cNvGraphicFramePr>
          <p:nvPr/>
        </p:nvGraphicFramePr>
        <p:xfrm>
          <a:off x="548640" y="1691640"/>
          <a:ext cx="11094415" cy="4197604"/>
        </p:xfrm>
        <a:graphic>
          <a:graphicData uri="http://schemas.openxmlformats.org/drawingml/2006/table">
            <a:tbl>
              <a:tblPr firstRow="0" bandRow="0">
                <a:tableStyleId>{2D5ABB26-0587-4C30-8999-92F81FD0307C}</a:tableStyleId>
              </a:tblPr>
              <a:tblGrid>
                <a:gridCol w="2651760"/>
                <a:gridCol w="1463040"/>
                <a:gridCol w="5257800"/>
                <a:gridCol w="1721815"/>
              </a:tblGrid>
              <a:tr h="265684">
                <a:tc>
                  <a:txBody>
                    <a:bodyPr wrap="square"/>
                    <a:lstStyle/>
                    <a:p>
                      <a:pPr algn="l">
                        <a:lnSpc>
                          <a:spcPts val="1300"/>
                        </a:lnSpc>
                      </a:pPr>
                      <a:r>
                        <a:rPr sz="1000" b="0" i="0" lang="uz-Cyrl-UZ">
                          <a:solidFill>
                            <a:srgbClr val="4E4D4D"/>
                          </a:solidFill>
                          <a:latin typeface="Consolas"/>
                        </a:rPr>
                        <a:t>ХАТАР</a:t>
                      </a:r>
                    </a:p>
                  </a:txBody>
                  <a:tcPr marL="73152" marR="73152" marT="50292" marB="50292"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ЭҲТИМОЛЛИК</a:t>
                      </a:r>
                    </a:p>
                  </a:txBody>
                  <a:tcPr marL="73152" marR="73152" marT="50292" marB="50292"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ЧОРАЛАР</a:t>
                      </a:r>
                    </a:p>
                  </a:txBody>
                  <a:tcPr marL="73152" marR="73152" marT="50292" marB="50292"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МАСЪУЛ</a:t>
                      </a:r>
                    </a:p>
                  </a:txBody>
                  <a:tcPr marL="73152" marR="73152" marT="50292" marB="50292" anchor="t">
                    <a:lnL w="12700">
                      <a:noFill/>
                    </a:lnL>
                    <a:lnR w="12700">
                      <a:noFill/>
                    </a:lnR>
                    <a:lnT w="12700">
                      <a:solidFill>
                        <a:srgbClr val="CECAC8"/>
                      </a:solidFill>
                    </a:lnT>
                    <a:lnB w="12700">
                      <a:solidFill>
                        <a:srgbClr val="CECAC8"/>
                      </a:solidFill>
                    </a:lnB>
                    <a:noFill/>
                  </a:tcPr>
                </a:tc>
              </a:tr>
              <a:tr h="1014984">
                <a:tc>
                  <a:txBody>
                    <a:bodyPr wrap="square"/>
                    <a:lstStyle/>
                    <a:p>
                      <a:pPr algn="l">
                        <a:lnSpc>
                          <a:spcPts val="1800"/>
                        </a:lnSpc>
                      </a:pPr>
                      <a:r>
                        <a:rPr sz="1400" b="0" i="0" lang="uz-Cyrl-UZ">
                          <a:solidFill>
                            <a:srgbClr val="242424"/>
                          </a:solidFill>
                          <a:latin typeface="Consolas"/>
                        </a:rPr>
                        <a:t>Экспонатлар кечикиши ёки бузилиши</a:t>
                      </a:r>
                    </a:p>
                  </a:txBody>
                  <a:tcPr marL="73152" marR="73152" marT="50292" marB="50292" anchor="t">
                    <a:lnL w="12700">
                      <a:noFill/>
                    </a:lnL>
                    <a:lnR w="12700">
                      <a:noFill/>
                    </a:lnR>
                    <a:lnT w="12700">
                      <a:noFill/>
                    </a:lnT>
                    <a:lnB w="12700">
                      <a:solidFill>
                        <a:srgbClr val="CECAC8"/>
                      </a:solidFill>
                    </a:lnB>
                    <a:solidFill>
                      <a:srgbClr val="CFDAF5"/>
                    </a:solidFill>
                  </a:tcPr>
                </a:tc>
                <a:tc>
                  <a:txBody>
                    <a:bodyPr wrap="square"/>
                    <a:lstStyle/>
                    <a:p>
                      <a:pPr algn="l">
                        <a:lnSpc>
                          <a:spcPts val="1800"/>
                        </a:lnSpc>
                      </a:pPr>
                      <a:r>
                        <a:rPr sz="1400" b="0" i="0" lang="uz-Cyrl-UZ">
                          <a:solidFill>
                            <a:srgbClr val="2B59D1"/>
                          </a:solidFill>
                          <a:latin typeface="Consolas"/>
                        </a:rPr>
                        <a:t>юқори, чоралар кўрилмаса</a:t>
                      </a:r>
                    </a:p>
                  </a:txBody>
                  <a:tcPr marL="73152" marR="73152" marT="50292" marB="50292" anchor="t">
                    <a:lnL w="12700">
                      <a:noFill/>
                    </a:lnL>
                    <a:lnR w="12700">
                      <a:noFill/>
                    </a:lnR>
                    <a:lnT w="12700">
                      <a:noFill/>
                    </a:lnT>
                    <a:lnB w="12700">
                      <a:solidFill>
                        <a:srgbClr val="CECAC8"/>
                      </a:solidFill>
                    </a:lnB>
                    <a:solidFill>
                      <a:srgbClr val="CFDAF5"/>
                    </a:solidFill>
                  </a:tcPr>
                </a:tc>
                <a:tc>
                  <a:txBody>
                    <a:bodyPr wrap="square"/>
                    <a:lstStyle/>
                    <a:p>
                      <a:pPr algn="l">
                        <a:lnSpc>
                          <a:spcPts val="1800"/>
                        </a:lnSpc>
                      </a:pPr>
                      <a:r>
                        <a:rPr sz="1400" b="0" i="0" lang="uz-Cyrl-UZ">
                          <a:solidFill>
                            <a:srgbClr val="242424"/>
                          </a:solidFill>
                          <a:latin typeface="Consolas"/>
                        </a:rPr>
                        <a:t>1-тўлқинга буюртма 15.12.2026 йилгача (31.03.2027 йилда очиш учун охирги муддат, божхона учун 8 ҳафта); 2027 йилдан штатда техник, 3D-устахона, 10 % эҳтиёт қисм, кунлик текширув</a:t>
                      </a:r>
                    </a:p>
                  </a:txBody>
                  <a:tcPr marL="73152" marR="73152" marT="50292" marB="50292" anchor="t">
                    <a:lnL w="12700">
                      <a:noFill/>
                    </a:lnL>
                    <a:lnR w="12700">
                      <a:noFill/>
                    </a:lnR>
                    <a:lnT w="12700">
                      <a:noFill/>
                    </a:lnT>
                    <a:lnB w="12700">
                      <a:solidFill>
                        <a:srgbClr val="CECAC8"/>
                      </a:solidFill>
                    </a:lnB>
                    <a:solidFill>
                      <a:srgbClr val="CFDAF5"/>
                    </a:solidFill>
                  </a:tcPr>
                </a:tc>
                <a:tc>
                  <a:txBody>
                    <a:bodyPr wrap="square"/>
                    <a:lstStyle/>
                    <a:p>
                      <a:pPr algn="l">
                        <a:lnSpc>
                          <a:spcPts val="1800"/>
                        </a:lnSpc>
                      </a:pPr>
                      <a:r>
                        <a:rPr sz="1400" b="0" i="0" lang="uz-Cyrl-UZ">
                          <a:solidFill>
                            <a:srgbClr val="242424"/>
                          </a:solidFill>
                          <a:latin typeface="Consolas"/>
                        </a:rPr>
                        <a:t>Дастур раҳбари</a:t>
                      </a:r>
                    </a:p>
                  </a:txBody>
                  <a:tcPr marL="73152" marR="73152" marT="50292" marB="50292" anchor="t">
                    <a:lnL w="12700">
                      <a:noFill/>
                    </a:lnL>
                    <a:lnR w="12700">
                      <a:noFill/>
                    </a:lnR>
                    <a:lnT w="12700">
                      <a:noFill/>
                    </a:lnT>
                    <a:lnB w="12700">
                      <a:solidFill>
                        <a:srgbClr val="CECAC8"/>
                      </a:solidFill>
                    </a:lnB>
                    <a:solidFill>
                      <a:srgbClr val="CFDAF5"/>
                    </a:solidFill>
                  </a:tcPr>
                </a:tc>
              </a:tr>
              <a:tr h="786384">
                <a:tc>
                  <a:txBody>
                    <a:bodyPr wrap="square"/>
                    <a:lstStyle/>
                    <a:p>
                      <a:pPr algn="l">
                        <a:lnSpc>
                          <a:spcPts val="1800"/>
                        </a:lnSpc>
                      </a:pPr>
                      <a:r>
                        <a:rPr sz="1400" b="0" i="0" lang="uz-Cyrl-UZ">
                          <a:solidFill>
                            <a:srgbClr val="242424"/>
                          </a:solidFill>
                          <a:latin typeface="Consolas"/>
                        </a:rPr>
                        <a:t>0-босқич қарорлари кечикиши</a:t>
                      </a:r>
                    </a:p>
                  </a:txBody>
                  <a:tcPr marL="73152" marR="73152" marT="50292" marB="50292"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ўрта</a:t>
                      </a:r>
                    </a:p>
                  </a:txBody>
                  <a:tcPr marL="73152" marR="73152" marT="50292" marB="50292"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Муддатли топшириқлар; 1-қарор қабул қилинмаса ҳам, А вариантда заҳира йил охирида 3,8 млрд сўм, энг паст нуқтада 2,9 млрд сўм</a:t>
                      </a:r>
                    </a:p>
                  </a:txBody>
                  <a:tcPr marL="73152" marR="73152" marT="50292" marB="50292"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“Ўзавтосаноат” аппарати</a:t>
                      </a:r>
                    </a:p>
                  </a:txBody>
                  <a:tcPr marL="73152" marR="73152" marT="50292" marB="50292" anchor="t">
                    <a:lnL w="12700">
                      <a:noFill/>
                    </a:lnL>
                    <a:lnR w="12700">
                      <a:noFill/>
                    </a:lnR>
                    <a:lnT w="12700">
                      <a:noFill/>
                    </a:lnT>
                    <a:lnB w="12700">
                      <a:solidFill>
                        <a:srgbClr val="CECAC8"/>
                      </a:solidFill>
                    </a:lnB>
                    <a:noFill/>
                  </a:tcPr>
                </a:tc>
              </a:tr>
              <a:tr h="557784">
                <a:tc>
                  <a:txBody>
                    <a:bodyPr wrap="square"/>
                    <a:lstStyle/>
                    <a:p>
                      <a:pPr algn="l">
                        <a:lnSpc>
                          <a:spcPts val="1800"/>
                        </a:lnSpc>
                      </a:pPr>
                      <a:r>
                        <a:rPr sz="1400" b="0" i="0" lang="uz-Cyrl-UZ">
                          <a:solidFill>
                            <a:srgbClr val="242424"/>
                          </a:solidFill>
                          <a:latin typeface="Consolas"/>
                        </a:rPr>
                        <a:t>Ташрифчилар режадан кам</a:t>
                      </a:r>
                    </a:p>
                  </a:txBody>
                  <a:tcPr marL="73152" marR="73152" marT="50292" marB="50292"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ўрта</a:t>
                      </a:r>
                    </a:p>
                  </a:txBody>
                  <a:tcPr marL="73152" marR="73152" marT="50292" marB="50292"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Сайт ва онлайн сотув (01.04.2027 йилдан), тарифлар, мактаб дастури, фикрларга 48 соат ичида жавоб</a:t>
                      </a:r>
                    </a:p>
                  </a:txBody>
                  <a:tcPr marL="73152" marR="73152" marT="50292" marB="50292"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Тижорат раҳбари</a:t>
                      </a:r>
                    </a:p>
                  </a:txBody>
                  <a:tcPr marL="73152" marR="73152" marT="50292" marB="50292" anchor="t">
                    <a:lnL w="12700">
                      <a:noFill/>
                    </a:lnL>
                    <a:lnR w="12700">
                      <a:noFill/>
                    </a:lnR>
                    <a:lnT w="12700">
                      <a:noFill/>
                    </a:lnT>
                    <a:lnB w="12700">
                      <a:solidFill>
                        <a:srgbClr val="CECAC8"/>
                      </a:solidFill>
                    </a:lnB>
                    <a:noFill/>
                  </a:tcPr>
                </a:tc>
              </a:tr>
              <a:tr h="786384">
                <a:tc>
                  <a:txBody>
                    <a:bodyPr wrap="square"/>
                    <a:lstStyle/>
                    <a:p>
                      <a:pPr algn="l">
                        <a:lnSpc>
                          <a:spcPts val="1800"/>
                        </a:lnSpc>
                      </a:pPr>
                      <a:r>
                        <a:rPr sz="1400" b="0" i="0" lang="uz-Cyrl-UZ">
                          <a:solidFill>
                            <a:srgbClr val="242424"/>
                          </a:solidFill>
                          <a:latin typeface="Consolas"/>
                        </a:rPr>
                        <a:t>Солиқ хатари (2025–2026 йил харажатлари)</a:t>
                      </a:r>
                    </a:p>
                  </a:txBody>
                  <a:tcPr marL="73152" marR="73152" marT="50292" marB="50292"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баҳоланмаган</a:t>
                      </a:r>
                    </a:p>
                  </a:txBody>
                  <a:tcPr marL="73152" marR="73152" marT="50292" marB="50292"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Солиқ маслаҳатчиси хулосаси: дастлабки — 25.11.2026, якуний — 31.01.2027; 01.01.2027 йилдан алоҳида ҳисоб</a:t>
                      </a:r>
                    </a:p>
                  </a:txBody>
                  <a:tcPr marL="73152" marR="73152" marT="50292" marB="50292"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Бош ҳисобчи</a:t>
                      </a:r>
                    </a:p>
                  </a:txBody>
                  <a:tcPr marL="73152" marR="73152" marT="50292" marB="50292" anchor="t">
                    <a:lnL w="12700">
                      <a:noFill/>
                    </a:lnL>
                    <a:lnR w="12700">
                      <a:noFill/>
                    </a:lnR>
                    <a:lnT w="12700">
                      <a:noFill/>
                    </a:lnT>
                    <a:lnB w="12700">
                      <a:solidFill>
                        <a:srgbClr val="CECAC8"/>
                      </a:solidFill>
                    </a:lnB>
                    <a:noFill/>
                  </a:tcPr>
                </a:tc>
              </a:tr>
              <a:tr h="786384">
                <a:tc>
                  <a:txBody>
                    <a:bodyPr wrap="square"/>
                    <a:lstStyle/>
                    <a:p>
                      <a:pPr algn="l">
                        <a:lnSpc>
                          <a:spcPts val="1800"/>
                        </a:lnSpc>
                      </a:pPr>
                      <a:r>
                        <a:rPr sz="1400" b="0" i="0" lang="uz-Cyrl-UZ">
                          <a:solidFill>
                            <a:srgbClr val="242424"/>
                          </a:solidFill>
                          <a:latin typeface="Consolas"/>
                        </a:rPr>
                        <a:t>Энг йирик ижарачининг 01.07.2027 йилдан чиқиши (ижаранинг 34,2 %)</a:t>
                      </a:r>
                    </a:p>
                  </a:txBody>
                  <a:tcPr marL="73152" marR="73152" marT="50292" marB="50292"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паст</a:t>
                      </a:r>
                    </a:p>
                  </a:txBody>
                  <a:tcPr marL="73152" marR="73152" marT="50292" marB="50292"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Гуруҳ корхоналари билан 3–5 йиллик шартномалар; А вариантда заҳира 2,4 млрд сўм сақланади</a:t>
                      </a:r>
                    </a:p>
                  </a:txBody>
                  <a:tcPr marL="73152" marR="73152" marT="50292" marB="50292" anchor="t">
                    <a:lnL w="12700">
                      <a:noFill/>
                    </a:lnL>
                    <a:lnR w="12700">
                      <a:noFill/>
                    </a:lnR>
                    <a:lnT w="12700">
                      <a:noFill/>
                    </a:lnT>
                    <a:lnB w="12700">
                      <a:solidFill>
                        <a:srgbClr val="CECAC8"/>
                      </a:solidFill>
                    </a:lnB>
                    <a:noFill/>
                  </a:tcPr>
                </a:tc>
                <a:tc>
                  <a:txBody>
                    <a:bodyPr wrap="square"/>
                    <a:lstStyle/>
                    <a:p>
                      <a:pPr algn="l">
                        <a:lnSpc>
                          <a:spcPts val="1800"/>
                        </a:lnSpc>
                      </a:pPr>
                      <a:r>
                        <a:rPr sz="1400" b="0" i="0" lang="uz-Cyrl-UZ">
                          <a:solidFill>
                            <a:srgbClr val="242424"/>
                          </a:solidFill>
                          <a:latin typeface="Consolas"/>
                        </a:rPr>
                        <a:t>Директор, “Ўзавтосаноат”</a:t>
                      </a:r>
                    </a:p>
                  </a:txBody>
                  <a:tcPr marL="73152" marR="73152" marT="50292" marB="50292" anchor="t">
                    <a:lnL w="12700">
                      <a:noFill/>
                    </a:lnL>
                    <a:lnR w="12700">
                      <a:noFill/>
                    </a:lnR>
                    <a:lnT w="12700">
                      <a:noFill/>
                    </a:lnT>
                    <a:lnB w="12700">
                      <a:solidFill>
                        <a:srgbClr val="CECAC8"/>
                      </a:solidFill>
                    </a:lnB>
                    <a:no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1619287"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06 · ҚАРОРЛАР · 1/2</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Кўриб чиқиш учун олтита қарор таклиф этилади</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12 / 20</a:t>
            </a:r>
          </a:p>
        </p:txBody>
      </p:sp>
      <p:sp>
        <p:nvSpPr>
          <p:cNvPr id="5" name="Source"/>
          <p:cNvSpPr txBox="1"/>
          <p:nvPr/>
        </p:nvSpPr>
        <p:spPr>
          <a:xfrm>
            <a:off x="548640" y="6163310"/>
            <a:ext cx="9905695" cy="14605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Муддатлар тақдимот санасидан (20.10.2026) қайта ҳисобланган. Топшириқлар матни — М3. Манба: Бошқарув ҳисоботи, 1.4 ва 9-бўлимлар; М5 “Солиштирув”, 5-қатор.</a:t>
            </a:r>
          </a:p>
        </p:txBody>
      </p:sp>
      <p:graphicFrame>
        <p:nvGraphicFramePr>
          <p:cNvPr id="6" name="Decisions table"/>
          <p:cNvGraphicFramePr>
            <a:graphicFrameLocks noGrp="1"/>
          </p:cNvGraphicFramePr>
          <p:nvPr/>
        </p:nvGraphicFramePr>
        <p:xfrm>
          <a:off x="548640" y="1691640"/>
          <a:ext cx="11094415" cy="3722624"/>
        </p:xfrm>
        <a:graphic>
          <a:graphicData uri="http://schemas.openxmlformats.org/drawingml/2006/table">
            <a:tbl>
              <a:tblPr firstRow="0" bandRow="0">
                <a:tableStyleId>{2D5ABB26-0587-4C30-8999-92F81FD0307C}</a:tableStyleId>
              </a:tblPr>
              <a:tblGrid>
                <a:gridCol w="457200"/>
                <a:gridCol w="5120640"/>
                <a:gridCol w="2331720"/>
                <a:gridCol w="2331720"/>
                <a:gridCol w="853135"/>
              </a:tblGrid>
              <a:tr h="397256">
                <a:tc>
                  <a:txBody>
                    <a:bodyPr wrap="square"/>
                    <a:lstStyle/>
                    <a:p>
                      <a:pPr algn="l">
                        <a:lnSpc>
                          <a:spcPts val="1400"/>
                        </a:lnSpc>
                      </a:pPr>
                      <a:r>
                        <a:rPr sz="1100" b="0" i="0" lang="uz-Cyrl-UZ">
                          <a:solidFill>
                            <a:srgbClr val="4E4D4D"/>
                          </a:solidFill>
                          <a:latin typeface="Consolas"/>
                        </a:rPr>
                        <a:t>№</a:t>
                      </a:r>
                    </a:p>
                  </a:txBody>
                  <a:tcPr marL="73152" marR="73152" marT="109728" marB="109728" anchor="t">
                    <a:lnL w="12700">
                      <a:noFill/>
                    </a:lnL>
                    <a:lnR w="12700">
                      <a:noFill/>
                    </a:lnR>
                    <a:lnT w="12700">
                      <a:solidFill>
                        <a:srgbClr val="CECAC8"/>
                      </a:solidFill>
                    </a:lnT>
                    <a:lnB w="12700">
                      <a:solidFill>
                        <a:srgbClr val="CECAC8"/>
                      </a:solidFill>
                    </a:lnB>
                    <a:noFill/>
                  </a:tcPr>
                </a:tc>
                <a:tc>
                  <a:txBody>
                    <a:bodyPr wrap="square"/>
                    <a:lstStyle/>
                    <a:p>
                      <a:pPr algn="l">
                        <a:lnSpc>
                          <a:spcPts val="1400"/>
                        </a:lnSpc>
                      </a:pPr>
                      <a:r>
                        <a:rPr sz="1100" b="0" i="0" lang="uz-Cyrl-UZ">
                          <a:solidFill>
                            <a:srgbClr val="4E4D4D"/>
                          </a:solidFill>
                          <a:latin typeface="Consolas"/>
                        </a:rPr>
                        <a:t>ҚАРОР</a:t>
                      </a:r>
                    </a:p>
                  </a:txBody>
                  <a:tcPr marL="73152" marR="73152" marT="109728" marB="109728" anchor="t">
                    <a:lnL w="12700">
                      <a:noFill/>
                    </a:lnL>
                    <a:lnR w="12700">
                      <a:noFill/>
                    </a:lnR>
                    <a:lnT w="12700">
                      <a:solidFill>
                        <a:srgbClr val="CECAC8"/>
                      </a:solidFill>
                    </a:lnT>
                    <a:lnB w="12700">
                      <a:solidFill>
                        <a:srgbClr val="CECAC8"/>
                      </a:solidFill>
                    </a:lnB>
                    <a:noFill/>
                  </a:tcPr>
                </a:tc>
                <a:tc>
                  <a:txBody>
                    <a:bodyPr wrap="square"/>
                    <a:lstStyle/>
                    <a:p>
                      <a:pPr algn="l">
                        <a:lnSpc>
                          <a:spcPts val="1400"/>
                        </a:lnSpc>
                      </a:pPr>
                      <a:r>
                        <a:rPr sz="1100" b="0" i="0" lang="uz-Cyrl-UZ">
                          <a:solidFill>
                            <a:srgbClr val="4E4D4D"/>
                          </a:solidFill>
                          <a:latin typeface="Consolas"/>
                        </a:rPr>
                        <a:t>ИЖРОЧИ</a:t>
                      </a:r>
                    </a:p>
                  </a:txBody>
                  <a:tcPr marL="73152" marR="73152" marT="109728" marB="109728" anchor="t">
                    <a:lnL w="12700">
                      <a:noFill/>
                    </a:lnL>
                    <a:lnR w="12700">
                      <a:noFill/>
                    </a:lnR>
                    <a:lnT w="12700">
                      <a:solidFill>
                        <a:srgbClr val="CECAC8"/>
                      </a:solidFill>
                    </a:lnT>
                    <a:lnB w="12700">
                      <a:solidFill>
                        <a:srgbClr val="CECAC8"/>
                      </a:solidFill>
                    </a:lnB>
                    <a:noFill/>
                  </a:tcPr>
                </a:tc>
                <a:tc>
                  <a:txBody>
                    <a:bodyPr wrap="square"/>
                    <a:lstStyle/>
                    <a:p>
                      <a:pPr algn="l">
                        <a:lnSpc>
                          <a:spcPts val="1400"/>
                        </a:lnSpc>
                      </a:pPr>
                      <a:r>
                        <a:rPr sz="1100" b="0" i="0" lang="uz-Cyrl-UZ">
                          <a:solidFill>
                            <a:srgbClr val="4E4D4D"/>
                          </a:solidFill>
                          <a:latin typeface="Consolas"/>
                        </a:rPr>
                        <a:t>МУДДАТ</a:t>
                      </a:r>
                    </a:p>
                  </a:txBody>
                  <a:tcPr marL="73152" marR="73152" marT="109728" marB="109728" anchor="t">
                    <a:lnL w="12700">
                      <a:noFill/>
                    </a:lnL>
                    <a:lnR w="12700">
                      <a:noFill/>
                    </a:lnR>
                    <a:lnT w="12700">
                      <a:solidFill>
                        <a:srgbClr val="CECAC8"/>
                      </a:solidFill>
                    </a:lnT>
                    <a:lnB w="12700">
                      <a:solidFill>
                        <a:srgbClr val="CECAC8"/>
                      </a:solidFill>
                    </a:lnB>
                    <a:noFill/>
                  </a:tcPr>
                </a:tc>
                <a:tc>
                  <a:txBody>
                    <a:bodyPr wrap="square"/>
                    <a:lstStyle/>
                    <a:p>
                      <a:pPr algn="r">
                        <a:lnSpc>
                          <a:spcPts val="1400"/>
                        </a:lnSpc>
                      </a:pPr>
                      <a:r>
                        <a:rPr sz="1100" b="0" i="0" lang="uz-Cyrl-UZ">
                          <a:solidFill>
                            <a:srgbClr val="4E4D4D"/>
                          </a:solidFill>
                          <a:latin typeface="Consolas"/>
                        </a:rPr>
                        <a:t>М3 БАНДИ</a:t>
                      </a:r>
                    </a:p>
                  </a:txBody>
                  <a:tcPr marL="73152" marR="73152" marT="109728" marB="109728" anchor="t">
                    <a:lnL w="12700">
                      <a:noFill/>
                    </a:lnL>
                    <a:lnR w="12700">
                      <a:noFill/>
                    </a:lnR>
                    <a:lnT w="12700">
                      <a:solidFill>
                        <a:srgbClr val="CECAC8"/>
                      </a:solidFill>
                    </a:lnT>
                    <a:lnB w="12700">
                      <a:solidFill>
                        <a:srgbClr val="CECAC8"/>
                      </a:solidFill>
                    </a:lnB>
                    <a:noFill/>
                  </a:tcPr>
                </a:tc>
              </a:tr>
              <a:tr h="1286256">
                <a:tc>
                  <a:txBody>
                    <a:bodyPr wrap="square"/>
                    <a:lstStyle/>
                    <a:p>
                      <a:pPr algn="l">
                        <a:lnSpc>
                          <a:spcPts val="2100"/>
                        </a:lnSpc>
                      </a:pPr>
                      <a:r>
                        <a:rPr sz="1600" b="0" i="0" lang="uz-Cyrl-UZ">
                          <a:solidFill>
                            <a:srgbClr val="242424"/>
                          </a:solidFill>
                          <a:latin typeface="Consolas"/>
                        </a:rPr>
                        <a:t>1</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Маъмурий бино харажатларини (йилига ≈1 146,9 млн сўм) 01.01.2027 йилдан “Ўзавтосаноат” ҳисобига ўтказиш; солиқ маслаҳатчиси хулосасини олиш</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“Ўзавтосаноат” аппарати; бош ҳисобчи</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қарор — 30.11.2026; дастлабки хулоса — 25.11.2026, якуний — 31.01.2027</a:t>
                      </a:r>
                    </a:p>
                  </a:txBody>
                  <a:tcPr marL="73152" marR="73152" marT="109728" marB="109728" anchor="t">
                    <a:lnL w="12700">
                      <a:noFill/>
                    </a:lnL>
                    <a:lnR w="12700">
                      <a:noFill/>
                    </a:lnR>
                    <a:lnT w="12700">
                      <a:noFill/>
                    </a:lnT>
                    <a:lnB w="12700">
                      <a:solidFill>
                        <a:srgbClr val="CECAC8"/>
                      </a:solidFill>
                    </a:lnB>
                    <a:noFill/>
                  </a:tcPr>
                </a:tc>
                <a:tc>
                  <a:txBody>
                    <a:bodyPr wrap="square"/>
                    <a:lstStyle/>
                    <a:p>
                      <a:pPr algn="r">
                        <a:lnSpc>
                          <a:spcPts val="2100"/>
                        </a:lnSpc>
                      </a:pPr>
                      <a:r>
                        <a:rPr sz="1600" b="0" i="0" lang="uz-Cyrl-UZ">
                          <a:solidFill>
                            <a:srgbClr val="242424"/>
                          </a:solidFill>
                          <a:latin typeface="Consolas"/>
                        </a:rPr>
                        <a:t>2–3</a:t>
                      </a:r>
                    </a:p>
                  </a:txBody>
                  <a:tcPr marL="73152" marR="73152" marT="109728" marB="109728" anchor="t">
                    <a:lnL w="12700">
                      <a:noFill/>
                    </a:lnL>
                    <a:lnR w="12700">
                      <a:noFill/>
                    </a:lnR>
                    <a:lnT w="12700">
                      <a:noFill/>
                    </a:lnT>
                    <a:lnB w="12700">
                      <a:solidFill>
                        <a:srgbClr val="CECAC8"/>
                      </a:solidFill>
                    </a:lnB>
                    <a:noFill/>
                  </a:tcPr>
                </a:tc>
              </a:tr>
              <a:tr h="1019556">
                <a:tc>
                  <a:txBody>
                    <a:bodyPr wrap="square"/>
                    <a:lstStyle/>
                    <a:p>
                      <a:pPr algn="l">
                        <a:lnSpc>
                          <a:spcPts val="2100"/>
                        </a:lnSpc>
                      </a:pPr>
                      <a:r>
                        <a:rPr sz="1600" b="0" i="0" lang="uz-Cyrl-UZ">
                          <a:solidFill>
                            <a:srgbClr val="242424"/>
                          </a:solidFill>
                          <a:latin typeface="Consolas"/>
                        </a:rPr>
                        <a:t>2</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Ривожланиш бюджетини (А вариант, 5 865,1 млн сўм) тасдиқлаш ва уни ижара тушумидан мақсадли ажратиш</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Директор; бош ҳисобчи</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15.11.2026</a:t>
                      </a:r>
                    </a:p>
                  </a:txBody>
                  <a:tcPr marL="73152" marR="73152" marT="109728" marB="109728" anchor="t">
                    <a:lnL w="12700">
                      <a:noFill/>
                    </a:lnL>
                    <a:lnR w="12700">
                      <a:noFill/>
                    </a:lnR>
                    <a:lnT w="12700">
                      <a:noFill/>
                    </a:lnT>
                    <a:lnB w="12700">
                      <a:solidFill>
                        <a:srgbClr val="CECAC8"/>
                      </a:solidFill>
                    </a:lnB>
                    <a:noFill/>
                  </a:tcPr>
                </a:tc>
                <a:tc>
                  <a:txBody>
                    <a:bodyPr wrap="square"/>
                    <a:lstStyle/>
                    <a:p>
                      <a:pPr algn="r">
                        <a:lnSpc>
                          <a:spcPts val="2100"/>
                        </a:lnSpc>
                      </a:pPr>
                      <a:r>
                        <a:rPr sz="1600" b="0" i="0" lang="uz-Cyrl-UZ">
                          <a:solidFill>
                            <a:srgbClr val="242424"/>
                          </a:solidFill>
                          <a:latin typeface="Consolas"/>
                        </a:rPr>
                        <a:t>4</a:t>
                      </a:r>
                    </a:p>
                  </a:txBody>
                  <a:tcPr marL="73152" marR="73152" marT="109728" marB="109728" anchor="t">
                    <a:lnL w="12700">
                      <a:noFill/>
                    </a:lnL>
                    <a:lnR w="12700">
                      <a:noFill/>
                    </a:lnR>
                    <a:lnT w="12700">
                      <a:noFill/>
                    </a:lnT>
                    <a:lnB w="12700">
                      <a:solidFill>
                        <a:srgbClr val="CECAC8"/>
                      </a:solidFill>
                    </a:lnB>
                    <a:noFill/>
                  </a:tcPr>
                </a:tc>
              </a:tr>
              <a:tr h="1019556">
                <a:tc>
                  <a:txBody>
                    <a:bodyPr wrap="square"/>
                    <a:lstStyle/>
                    <a:p>
                      <a:pPr algn="l">
                        <a:lnSpc>
                          <a:spcPts val="2100"/>
                        </a:lnSpc>
                      </a:pPr>
                      <a:r>
                        <a:rPr sz="1600" b="0" i="0" lang="uz-Cyrl-UZ">
                          <a:solidFill>
                            <a:srgbClr val="242424"/>
                          </a:solidFill>
                          <a:latin typeface="Consolas"/>
                        </a:rPr>
                        <a:t>3</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Директор мақомини белгилаш; дастур, тижорат, таълим раҳбарлари ва техник лавозимларини жорий этиш</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“Ўзавтосаноат” кадрлар бошқармаси; директор</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15.12.2026 / 01.02.2027</a:t>
                      </a:r>
                    </a:p>
                  </a:txBody>
                  <a:tcPr marL="73152" marR="73152" marT="109728" marB="109728" anchor="t">
                    <a:lnL w="12700">
                      <a:noFill/>
                    </a:lnL>
                    <a:lnR w="12700">
                      <a:noFill/>
                    </a:lnR>
                    <a:lnT w="12700">
                      <a:noFill/>
                    </a:lnT>
                    <a:lnB w="12700">
                      <a:solidFill>
                        <a:srgbClr val="CECAC8"/>
                      </a:solidFill>
                    </a:lnB>
                    <a:noFill/>
                  </a:tcPr>
                </a:tc>
                <a:tc>
                  <a:txBody>
                    <a:bodyPr wrap="square"/>
                    <a:lstStyle/>
                    <a:p>
                      <a:pPr algn="r">
                        <a:lnSpc>
                          <a:spcPts val="2100"/>
                        </a:lnSpc>
                      </a:pPr>
                      <a:r>
                        <a:rPr sz="1600" b="0" i="0" lang="uz-Cyrl-UZ">
                          <a:solidFill>
                            <a:srgbClr val="242424"/>
                          </a:solidFill>
                          <a:latin typeface="Consolas"/>
                        </a:rPr>
                        <a:t>5</a:t>
                      </a:r>
                    </a:p>
                  </a:txBody>
                  <a:tcPr marL="73152" marR="73152" marT="109728" marB="109728" anchor="t">
                    <a:lnL w="12700">
                      <a:noFill/>
                    </a:lnL>
                    <a:lnR w="12700">
                      <a:noFill/>
                    </a:lnR>
                    <a:lnT w="12700">
                      <a:noFill/>
                    </a:lnT>
                    <a:lnB w="12700">
                      <a:solidFill>
                        <a:srgbClr val="CECAC8"/>
                      </a:solidFill>
                    </a:lnB>
                    <a:no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1619287"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06 · ҚАРОРЛАР · 2/2</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Кўриб чиқиш учун олтита қарор таклиф этилади</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13 / 20</a:t>
            </a:r>
          </a:p>
        </p:txBody>
      </p:sp>
      <p:sp>
        <p:nvSpPr>
          <p:cNvPr id="5" name="Source"/>
          <p:cNvSpPr txBox="1"/>
          <p:nvPr/>
        </p:nvSpPr>
        <p:spPr>
          <a:xfrm>
            <a:off x="548640" y="6163310"/>
            <a:ext cx="9905695" cy="14605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Муддатлар тақдимот санасидан (20.10.2026) қайта ҳисобланган. Топшириқлар матни — М3. Манба: Бошқарув ҳисоботи, 1.4 ва 9-бўлимлар; М5 “Солиштирув”, 5-қатор.</a:t>
            </a:r>
          </a:p>
        </p:txBody>
      </p:sp>
      <p:graphicFrame>
        <p:nvGraphicFramePr>
          <p:cNvPr id="6" name="Decisions table"/>
          <p:cNvGraphicFramePr>
            <a:graphicFrameLocks noGrp="1"/>
          </p:cNvGraphicFramePr>
          <p:nvPr/>
        </p:nvGraphicFramePr>
        <p:xfrm>
          <a:off x="548640" y="1691640"/>
          <a:ext cx="11094415" cy="3722624"/>
        </p:xfrm>
        <a:graphic>
          <a:graphicData uri="http://schemas.openxmlformats.org/drawingml/2006/table">
            <a:tbl>
              <a:tblPr firstRow="0" bandRow="0">
                <a:tableStyleId>{2D5ABB26-0587-4C30-8999-92F81FD0307C}</a:tableStyleId>
              </a:tblPr>
              <a:tblGrid>
                <a:gridCol w="457200"/>
                <a:gridCol w="5120640"/>
                <a:gridCol w="2331720"/>
                <a:gridCol w="2331720"/>
                <a:gridCol w="853135"/>
              </a:tblGrid>
              <a:tr h="397256">
                <a:tc>
                  <a:txBody>
                    <a:bodyPr wrap="square"/>
                    <a:lstStyle/>
                    <a:p>
                      <a:pPr algn="l">
                        <a:lnSpc>
                          <a:spcPts val="1400"/>
                        </a:lnSpc>
                      </a:pPr>
                      <a:r>
                        <a:rPr sz="1100" b="0" i="0" lang="uz-Cyrl-UZ">
                          <a:solidFill>
                            <a:srgbClr val="4E4D4D"/>
                          </a:solidFill>
                          <a:latin typeface="Consolas"/>
                        </a:rPr>
                        <a:t>№</a:t>
                      </a:r>
                    </a:p>
                  </a:txBody>
                  <a:tcPr marL="73152" marR="73152" marT="109728" marB="109728" anchor="t">
                    <a:lnL w="12700">
                      <a:noFill/>
                    </a:lnL>
                    <a:lnR w="12700">
                      <a:noFill/>
                    </a:lnR>
                    <a:lnT w="12700">
                      <a:solidFill>
                        <a:srgbClr val="CECAC8"/>
                      </a:solidFill>
                    </a:lnT>
                    <a:lnB w="12700">
                      <a:solidFill>
                        <a:srgbClr val="CECAC8"/>
                      </a:solidFill>
                    </a:lnB>
                    <a:noFill/>
                  </a:tcPr>
                </a:tc>
                <a:tc>
                  <a:txBody>
                    <a:bodyPr wrap="square"/>
                    <a:lstStyle/>
                    <a:p>
                      <a:pPr algn="l">
                        <a:lnSpc>
                          <a:spcPts val="1400"/>
                        </a:lnSpc>
                      </a:pPr>
                      <a:r>
                        <a:rPr sz="1100" b="0" i="0" lang="uz-Cyrl-UZ">
                          <a:solidFill>
                            <a:srgbClr val="4E4D4D"/>
                          </a:solidFill>
                          <a:latin typeface="Consolas"/>
                        </a:rPr>
                        <a:t>ҚАРОР</a:t>
                      </a:r>
                    </a:p>
                  </a:txBody>
                  <a:tcPr marL="73152" marR="73152" marT="109728" marB="109728" anchor="t">
                    <a:lnL w="12700">
                      <a:noFill/>
                    </a:lnL>
                    <a:lnR w="12700">
                      <a:noFill/>
                    </a:lnR>
                    <a:lnT w="12700">
                      <a:solidFill>
                        <a:srgbClr val="CECAC8"/>
                      </a:solidFill>
                    </a:lnT>
                    <a:lnB w="12700">
                      <a:solidFill>
                        <a:srgbClr val="CECAC8"/>
                      </a:solidFill>
                    </a:lnB>
                    <a:noFill/>
                  </a:tcPr>
                </a:tc>
                <a:tc>
                  <a:txBody>
                    <a:bodyPr wrap="square"/>
                    <a:lstStyle/>
                    <a:p>
                      <a:pPr algn="l">
                        <a:lnSpc>
                          <a:spcPts val="1400"/>
                        </a:lnSpc>
                      </a:pPr>
                      <a:r>
                        <a:rPr sz="1100" b="0" i="0" lang="uz-Cyrl-UZ">
                          <a:solidFill>
                            <a:srgbClr val="4E4D4D"/>
                          </a:solidFill>
                          <a:latin typeface="Consolas"/>
                        </a:rPr>
                        <a:t>ИЖРОЧИ</a:t>
                      </a:r>
                    </a:p>
                  </a:txBody>
                  <a:tcPr marL="73152" marR="73152" marT="109728" marB="109728" anchor="t">
                    <a:lnL w="12700">
                      <a:noFill/>
                    </a:lnL>
                    <a:lnR w="12700">
                      <a:noFill/>
                    </a:lnR>
                    <a:lnT w="12700">
                      <a:solidFill>
                        <a:srgbClr val="CECAC8"/>
                      </a:solidFill>
                    </a:lnT>
                    <a:lnB w="12700">
                      <a:solidFill>
                        <a:srgbClr val="CECAC8"/>
                      </a:solidFill>
                    </a:lnB>
                    <a:noFill/>
                  </a:tcPr>
                </a:tc>
                <a:tc>
                  <a:txBody>
                    <a:bodyPr wrap="square"/>
                    <a:lstStyle/>
                    <a:p>
                      <a:pPr algn="l">
                        <a:lnSpc>
                          <a:spcPts val="1400"/>
                        </a:lnSpc>
                      </a:pPr>
                      <a:r>
                        <a:rPr sz="1100" b="0" i="0" lang="uz-Cyrl-UZ">
                          <a:solidFill>
                            <a:srgbClr val="4E4D4D"/>
                          </a:solidFill>
                          <a:latin typeface="Consolas"/>
                        </a:rPr>
                        <a:t>МУДДАТ</a:t>
                      </a:r>
                    </a:p>
                  </a:txBody>
                  <a:tcPr marL="73152" marR="73152" marT="109728" marB="109728" anchor="t">
                    <a:lnL w="12700">
                      <a:noFill/>
                    </a:lnL>
                    <a:lnR w="12700">
                      <a:noFill/>
                    </a:lnR>
                    <a:lnT w="12700">
                      <a:solidFill>
                        <a:srgbClr val="CECAC8"/>
                      </a:solidFill>
                    </a:lnT>
                    <a:lnB w="12700">
                      <a:solidFill>
                        <a:srgbClr val="CECAC8"/>
                      </a:solidFill>
                    </a:lnB>
                    <a:noFill/>
                  </a:tcPr>
                </a:tc>
                <a:tc>
                  <a:txBody>
                    <a:bodyPr wrap="square"/>
                    <a:lstStyle/>
                    <a:p>
                      <a:pPr algn="r">
                        <a:lnSpc>
                          <a:spcPts val="1400"/>
                        </a:lnSpc>
                      </a:pPr>
                      <a:r>
                        <a:rPr sz="1100" b="0" i="0" lang="uz-Cyrl-UZ">
                          <a:solidFill>
                            <a:srgbClr val="4E4D4D"/>
                          </a:solidFill>
                          <a:latin typeface="Consolas"/>
                        </a:rPr>
                        <a:t>М3 БАНДИ</a:t>
                      </a:r>
                    </a:p>
                  </a:txBody>
                  <a:tcPr marL="73152" marR="73152" marT="109728" marB="109728" anchor="t">
                    <a:lnL w="12700">
                      <a:noFill/>
                    </a:lnL>
                    <a:lnR w="12700">
                      <a:noFill/>
                    </a:lnR>
                    <a:lnT w="12700">
                      <a:solidFill>
                        <a:srgbClr val="CECAC8"/>
                      </a:solidFill>
                    </a:lnT>
                    <a:lnB w="12700">
                      <a:solidFill>
                        <a:srgbClr val="CECAC8"/>
                      </a:solidFill>
                    </a:lnB>
                    <a:noFill/>
                  </a:tcPr>
                </a:tc>
              </a:tr>
              <a:tr h="1286256">
                <a:tc>
                  <a:txBody>
                    <a:bodyPr wrap="square"/>
                    <a:lstStyle/>
                    <a:p>
                      <a:pPr algn="l">
                        <a:lnSpc>
                          <a:spcPts val="2100"/>
                        </a:lnSpc>
                      </a:pPr>
                      <a:r>
                        <a:rPr sz="1600" b="0" i="0" lang="uz-Cyrl-UZ">
                          <a:solidFill>
                            <a:srgbClr val="242424"/>
                          </a:solidFill>
                          <a:latin typeface="Consolas"/>
                        </a:rPr>
                        <a:t>4</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Гуруҳ корхоналари билан ижара (3–5 йил, бозор ставкаси, коммунал тўловлар) ва меценатлик (400,0 млн сўм) шартномаларини тузиш</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Директор; корхоналар раҳбарлари</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ижара — 15.12.2026; меценатлик — 31.12.2026</a:t>
                      </a:r>
                    </a:p>
                  </a:txBody>
                  <a:tcPr marL="73152" marR="73152" marT="109728" marB="109728" anchor="t">
                    <a:lnL w="12700">
                      <a:noFill/>
                    </a:lnL>
                    <a:lnR w="12700">
                      <a:noFill/>
                    </a:lnR>
                    <a:lnT w="12700">
                      <a:noFill/>
                    </a:lnT>
                    <a:lnB w="12700">
                      <a:solidFill>
                        <a:srgbClr val="CECAC8"/>
                      </a:solidFill>
                    </a:lnB>
                    <a:noFill/>
                  </a:tcPr>
                </a:tc>
                <a:tc>
                  <a:txBody>
                    <a:bodyPr wrap="square"/>
                    <a:lstStyle/>
                    <a:p>
                      <a:pPr algn="r">
                        <a:lnSpc>
                          <a:spcPts val="2100"/>
                        </a:lnSpc>
                      </a:pPr>
                      <a:r>
                        <a:rPr sz="1600" b="0" i="0" lang="uz-Cyrl-UZ">
                          <a:solidFill>
                            <a:srgbClr val="242424"/>
                          </a:solidFill>
                          <a:latin typeface="Consolas"/>
                        </a:rPr>
                        <a:t>6–7</a:t>
                      </a:r>
                    </a:p>
                  </a:txBody>
                  <a:tcPr marL="73152" marR="73152" marT="109728" marB="109728" anchor="t">
                    <a:lnL w="12700">
                      <a:noFill/>
                    </a:lnL>
                    <a:lnR w="12700">
                      <a:noFill/>
                    </a:lnR>
                    <a:lnT w="12700">
                      <a:noFill/>
                    </a:lnT>
                    <a:lnB w="12700">
                      <a:solidFill>
                        <a:srgbClr val="CECAC8"/>
                      </a:solidFill>
                    </a:lnB>
                    <a:noFill/>
                  </a:tcPr>
                </a:tc>
              </a:tr>
              <a:tr h="1286256">
                <a:tc>
                  <a:txBody>
                    <a:bodyPr wrap="square"/>
                    <a:lstStyle/>
                    <a:p>
                      <a:pPr algn="l">
                        <a:lnSpc>
                          <a:spcPts val="2100"/>
                        </a:lnSpc>
                      </a:pPr>
                      <a:r>
                        <a:rPr sz="1600" b="0" i="0" lang="uz-Cyrl-UZ">
                          <a:solidFill>
                            <a:srgbClr val="242424"/>
                          </a:solidFill>
                          <a:latin typeface="Consolas"/>
                        </a:rPr>
                        <a:t>5</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Тарифлар тизимини (01.04.2027 йилдан) ва сайт техник топшириғини тасдиқлаш, харид жараёнини бошлаш</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Директор</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техник топшириқ — 15.11.2026; тарифлар — 15.12.2026</a:t>
                      </a:r>
                    </a:p>
                  </a:txBody>
                  <a:tcPr marL="73152" marR="73152" marT="109728" marB="109728" anchor="t">
                    <a:lnL w="12700">
                      <a:noFill/>
                    </a:lnL>
                    <a:lnR w="12700">
                      <a:noFill/>
                    </a:lnR>
                    <a:lnT w="12700">
                      <a:noFill/>
                    </a:lnT>
                    <a:lnB w="12700">
                      <a:solidFill>
                        <a:srgbClr val="CECAC8"/>
                      </a:solidFill>
                    </a:lnB>
                    <a:noFill/>
                  </a:tcPr>
                </a:tc>
                <a:tc>
                  <a:txBody>
                    <a:bodyPr wrap="square"/>
                    <a:lstStyle/>
                    <a:p>
                      <a:pPr algn="r">
                        <a:lnSpc>
                          <a:spcPts val="2100"/>
                        </a:lnSpc>
                      </a:pPr>
                      <a:r>
                        <a:rPr sz="1600" b="0" i="0" lang="uz-Cyrl-UZ">
                          <a:solidFill>
                            <a:srgbClr val="242424"/>
                          </a:solidFill>
                          <a:latin typeface="Consolas"/>
                        </a:rPr>
                        <a:t>8</a:t>
                      </a:r>
                    </a:p>
                  </a:txBody>
                  <a:tcPr marL="73152" marR="73152" marT="109728" marB="109728" anchor="t">
                    <a:lnL w="12700">
                      <a:noFill/>
                    </a:lnL>
                    <a:lnR w="12700">
                      <a:noFill/>
                    </a:lnR>
                    <a:lnT w="12700">
                      <a:noFill/>
                    </a:lnT>
                    <a:lnB w="12700">
                      <a:solidFill>
                        <a:srgbClr val="CECAC8"/>
                      </a:solidFill>
                    </a:lnB>
                    <a:noFill/>
                  </a:tcPr>
                </a:tc>
              </a:tr>
              <a:tr h="752856">
                <a:tc>
                  <a:txBody>
                    <a:bodyPr wrap="square"/>
                    <a:lstStyle/>
                    <a:p>
                      <a:pPr algn="l">
                        <a:lnSpc>
                          <a:spcPts val="2100"/>
                        </a:lnSpc>
                      </a:pPr>
                      <a:r>
                        <a:rPr sz="1600" b="0" i="0" lang="uz-Cyrl-UZ">
                          <a:solidFill>
                            <a:srgbClr val="242424"/>
                          </a:solidFill>
                          <a:latin typeface="Consolas"/>
                        </a:rPr>
                        <a:t>6</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Ойлик ҳисоботни жорий этиш, васийлик кенгашини тузиш, назорат нуқтасини белгилаш</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Директор</a:t>
                      </a:r>
                    </a:p>
                  </a:txBody>
                  <a:tcPr marL="73152" marR="73152" marT="109728" marB="109728" anchor="t">
                    <a:lnL w="12700">
                      <a:noFill/>
                    </a:lnL>
                    <a:lnR w="12700">
                      <a:noFill/>
                    </a:lnR>
                    <a:lnT w="12700">
                      <a:noFill/>
                    </a:lnT>
                    <a:lnB w="12700">
                      <a:solidFill>
                        <a:srgbClr val="CECAC8"/>
                      </a:solidFill>
                    </a:lnB>
                    <a:noFill/>
                  </a:tcPr>
                </a:tc>
                <a:tc>
                  <a:txBody>
                    <a:bodyPr wrap="square"/>
                    <a:lstStyle/>
                    <a:p>
                      <a:pPr algn="l">
                        <a:lnSpc>
                          <a:spcPts val="2100"/>
                        </a:lnSpc>
                      </a:pPr>
                      <a:r>
                        <a:rPr sz="1600" b="0" i="0" lang="uz-Cyrl-UZ">
                          <a:solidFill>
                            <a:srgbClr val="242424"/>
                          </a:solidFill>
                          <a:latin typeface="Consolas"/>
                        </a:rPr>
                        <a:t>31.12.2026</a:t>
                      </a:r>
                    </a:p>
                  </a:txBody>
                  <a:tcPr marL="73152" marR="73152" marT="109728" marB="109728" anchor="t">
                    <a:lnL w="12700">
                      <a:noFill/>
                    </a:lnL>
                    <a:lnR w="12700">
                      <a:noFill/>
                    </a:lnR>
                    <a:lnT w="12700">
                      <a:noFill/>
                    </a:lnT>
                    <a:lnB w="12700">
                      <a:solidFill>
                        <a:srgbClr val="CECAC8"/>
                      </a:solidFill>
                    </a:lnB>
                    <a:noFill/>
                  </a:tcPr>
                </a:tc>
                <a:tc>
                  <a:txBody>
                    <a:bodyPr wrap="square"/>
                    <a:lstStyle/>
                    <a:p>
                      <a:pPr algn="r">
                        <a:lnSpc>
                          <a:spcPts val="2100"/>
                        </a:lnSpc>
                      </a:pPr>
                      <a:r>
                        <a:rPr sz="1600" b="0" i="0" lang="uz-Cyrl-UZ">
                          <a:solidFill>
                            <a:srgbClr val="242424"/>
                          </a:solidFill>
                          <a:latin typeface="Consolas"/>
                        </a:rPr>
                        <a:t>10–11</a:t>
                      </a:r>
                    </a:p>
                  </a:txBody>
                  <a:tcPr marL="73152" marR="73152" marT="109728" marB="109728" anchor="t">
                    <a:lnL w="12700">
                      <a:noFill/>
                    </a:lnL>
                    <a:lnR w="12700">
                      <a:noFill/>
                    </a:lnR>
                    <a:lnT w="12700">
                      <a:noFill/>
                    </a:lnT>
                    <a:lnB w="12700">
                      <a:solidFill>
                        <a:srgbClr val="CECAC8"/>
                      </a:solidFill>
                    </a:lnB>
                    <a:no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42424"/>
        </a:solidFill>
        <a:effectLst/>
      </p:bgPr>
    </p:bg>
    <p:spTree>
      <p:nvGrpSpPr>
        <p:cNvPr id="1" name=""/>
        <p:cNvGrpSpPr/>
        <p:nvPr/>
      </p:nvGrpSpPr>
      <p:grpSpPr/>
      <p:pic>
        <p:nvPicPr>
          <p:cNvPr id="2" name="Gradient" descr="">
            <a:extLst>
              <a:ext uri="{C183D7F6-B498-43B3-948B-1728B52AA6E4}">
                <ns0:decorative xmlns:ns0="http://schemas.microsoft.com/office/drawing/2017/decorative" val="1"/>
              </a:ext>
            </a:extLst>
          </p:cNvPr>
          <p:cNvPicPr>
            <a:picLocks noChangeAspect="1"/>
          </p:cNvPicPr>
          <p:nvPr/>
        </p:nvPicPr>
        <p:blipFill>
          <a:blip r:embed="rId2"/>
          <a:srcRect l="1" r="1"/>
          <a:stretch>
            <a:fillRect/>
          </a:stretch>
        </p:blipFill>
        <p:spPr>
          <a:xfrm>
            <a:off x="0" y="0"/>
            <a:ext cx="12191695" cy="6858000"/>
          </a:xfrm>
          <a:prstGeom prst="rect">
            <a:avLst/>
          </a:prstGeom>
        </p:spPr>
      </p:pic>
      <p:sp>
        <p:nvSpPr>
          <p:cNvPr id="3" name="Section"/>
          <p:cNvSpPr/>
          <p:nvPr/>
        </p:nvSpPr>
        <p:spPr>
          <a:xfrm>
            <a:off x="548640" y="548640"/>
            <a:ext cx="1200336"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F6F3F1"/>
                </a:solidFill>
                <a:latin typeface="Consolas"/>
              </a:rPr>
              <a:t>06 · ҚАРОРЛАР</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CECAC8"/>
                </a:solidFill>
                <a:latin typeface="Consolas"/>
              </a:rPr>
              <a:t>14 / 20</a:t>
            </a:r>
          </a:p>
        </p:txBody>
      </p:sp>
      <p:sp>
        <p:nvSpPr>
          <p:cNvPr id="5" name="Title"/>
          <p:cNvSpPr txBox="1"/>
          <p:nvPr/>
        </p:nvSpPr>
        <p:spPr>
          <a:xfrm>
            <a:off x="548640" y="1325880"/>
            <a:ext cx="7680960" cy="822960"/>
          </a:xfrm>
          <a:prstGeom prst="rect">
            <a:avLst/>
          </a:prstGeom>
          <a:noFill/>
        </p:spPr>
        <p:txBody>
          <a:bodyPr wrap="square" lIns="0" rIns="0" tIns="0" bIns="0" anchor="t">
            <a:noAutofit/>
          </a:bodyPr>
          <a:lstStyle/>
          <a:p>
            <a:pPr algn="l">
              <a:lnSpc>
                <a:spcPts val="6000"/>
              </a:lnSpc>
            </a:pPr>
            <a:r>
              <a:rPr sz="6000" b="0" i="0" lang="uz-Cyrl-UZ" spc="-120">
                <a:solidFill>
                  <a:srgbClr val="F6F3F1"/>
                </a:solidFill>
                <a:latin typeface="Cambria"/>
              </a:rPr>
              <a:t>Қарор лойиҳаси</a:t>
            </a:r>
          </a:p>
        </p:txBody>
      </p:sp>
      <p:sp>
        <p:nvSpPr>
          <p:cNvPr id="6" name="TextBox 5"/>
          <p:cNvSpPr txBox="1"/>
          <p:nvPr/>
        </p:nvSpPr>
        <p:spPr>
          <a:xfrm>
            <a:off x="548640" y="2660904"/>
            <a:ext cx="731520" cy="274320"/>
          </a:xfrm>
          <a:prstGeom prst="rect">
            <a:avLst/>
          </a:prstGeom>
          <a:noFill/>
        </p:spPr>
        <p:txBody>
          <a:bodyPr wrap="square" lIns="0" rIns="0" tIns="0" bIns="0" anchor="t">
            <a:noAutofit/>
          </a:bodyPr>
          <a:lstStyle/>
          <a:p>
            <a:pPr algn="l">
              <a:lnSpc>
                <a:spcPts val="1400"/>
              </a:lnSpc>
            </a:pPr>
            <a:r>
              <a:rPr sz="1100" b="0" i="0" lang="uz-Cyrl-UZ">
                <a:solidFill>
                  <a:srgbClr val="CECAC8"/>
                </a:solidFill>
                <a:latin typeface="Consolas"/>
              </a:rPr>
              <a:t>01</a:t>
            </a:r>
          </a:p>
        </p:txBody>
      </p:sp>
      <p:sp>
        <p:nvSpPr>
          <p:cNvPr id="7" name="TextBox 6"/>
          <p:cNvSpPr txBox="1"/>
          <p:nvPr/>
        </p:nvSpPr>
        <p:spPr>
          <a:xfrm>
            <a:off x="1280160" y="2606040"/>
            <a:ext cx="6949440" cy="838200"/>
          </a:xfrm>
          <a:prstGeom prst="rect">
            <a:avLst/>
          </a:prstGeom>
          <a:noFill/>
        </p:spPr>
        <p:txBody>
          <a:bodyPr wrap="square" lIns="0" rIns="0" tIns="0" bIns="0" anchor="t">
            <a:noAutofit/>
          </a:bodyPr>
          <a:lstStyle/>
          <a:p>
            <a:pPr algn="l">
              <a:lnSpc>
                <a:spcPts val="3300"/>
              </a:lnSpc>
            </a:pPr>
            <a:r>
              <a:rPr sz="2800" b="0" i="0" lang="uz-Cyrl-UZ" spc="-56">
                <a:solidFill>
                  <a:srgbClr val="F6F3F1"/>
                </a:solidFill>
                <a:latin typeface="Cambria"/>
              </a:rPr>
              <a:t>2027 йил режаси ва А вариант бюджетини маъқуллаш</a:t>
            </a:r>
          </a:p>
        </p:txBody>
      </p:sp>
      <p:cxnSp>
        <p:nvCxnSpPr>
          <p:cNvPr id="8" name="Connector 7"/>
          <p:cNvCxnSpPr/>
          <p:nvPr/>
        </p:nvCxnSpPr>
        <p:spPr>
          <a:xfrm>
            <a:off x="548640" y="3581400"/>
            <a:ext cx="7680960" cy="0"/>
          </a:xfrm>
          <a:prstGeom prst="line">
            <a:avLst/>
          </a:prstGeom>
          <a:ln w="12700">
            <a:solidFill>
              <a:srgbClr val="4E4D4D"/>
            </a:solidFill>
          </a:ln>
        </p:spPr>
      </p:cxnSp>
      <p:sp>
        <p:nvSpPr>
          <p:cNvPr id="9" name="TextBox 8"/>
          <p:cNvSpPr txBox="1"/>
          <p:nvPr/>
        </p:nvSpPr>
        <p:spPr>
          <a:xfrm>
            <a:off x="548640" y="3773424"/>
            <a:ext cx="731520" cy="274320"/>
          </a:xfrm>
          <a:prstGeom prst="rect">
            <a:avLst/>
          </a:prstGeom>
          <a:noFill/>
        </p:spPr>
        <p:txBody>
          <a:bodyPr wrap="square" lIns="0" rIns="0" tIns="0" bIns="0" anchor="t">
            <a:noAutofit/>
          </a:bodyPr>
          <a:lstStyle/>
          <a:p>
            <a:pPr algn="l">
              <a:lnSpc>
                <a:spcPts val="1400"/>
              </a:lnSpc>
            </a:pPr>
            <a:r>
              <a:rPr sz="1100" b="0" i="0" lang="uz-Cyrl-UZ">
                <a:solidFill>
                  <a:srgbClr val="CECAC8"/>
                </a:solidFill>
                <a:latin typeface="Consolas"/>
              </a:rPr>
              <a:t>02</a:t>
            </a:r>
          </a:p>
        </p:txBody>
      </p:sp>
      <p:sp>
        <p:nvSpPr>
          <p:cNvPr id="10" name="TextBox 9"/>
          <p:cNvSpPr txBox="1"/>
          <p:nvPr/>
        </p:nvSpPr>
        <p:spPr>
          <a:xfrm>
            <a:off x="1280160" y="3718560"/>
            <a:ext cx="6949440" cy="419100"/>
          </a:xfrm>
          <a:prstGeom prst="rect">
            <a:avLst/>
          </a:prstGeom>
          <a:noFill/>
        </p:spPr>
        <p:txBody>
          <a:bodyPr wrap="square" lIns="0" rIns="0" tIns="0" bIns="0" anchor="t">
            <a:noAutofit/>
          </a:bodyPr>
          <a:lstStyle/>
          <a:p>
            <a:pPr algn="l">
              <a:lnSpc>
                <a:spcPts val="3300"/>
              </a:lnSpc>
            </a:pPr>
            <a:r>
              <a:rPr sz="2800" b="0" i="0" lang="uz-Cyrl-UZ" spc="-56">
                <a:solidFill>
                  <a:srgbClr val="F6F3F1"/>
                </a:solidFill>
                <a:latin typeface="Cambria"/>
              </a:rPr>
              <a:t>М3 топшириқларини тасдиқлаш</a:t>
            </a:r>
          </a:p>
        </p:txBody>
      </p:sp>
      <p:cxnSp>
        <p:nvCxnSpPr>
          <p:cNvPr id="11" name="Connector 10"/>
          <p:cNvCxnSpPr/>
          <p:nvPr/>
        </p:nvCxnSpPr>
        <p:spPr>
          <a:xfrm>
            <a:off x="548640" y="4274820"/>
            <a:ext cx="7680960" cy="0"/>
          </a:xfrm>
          <a:prstGeom prst="line">
            <a:avLst/>
          </a:prstGeom>
          <a:ln w="12700">
            <a:solidFill>
              <a:srgbClr val="4E4D4D"/>
            </a:solidFill>
          </a:ln>
        </p:spPr>
      </p:cxnSp>
      <p:sp>
        <p:nvSpPr>
          <p:cNvPr id="12" name="TextBox 11"/>
          <p:cNvSpPr txBox="1"/>
          <p:nvPr/>
        </p:nvSpPr>
        <p:spPr>
          <a:xfrm>
            <a:off x="548640" y="4466844"/>
            <a:ext cx="731520" cy="274320"/>
          </a:xfrm>
          <a:prstGeom prst="rect">
            <a:avLst/>
          </a:prstGeom>
          <a:noFill/>
        </p:spPr>
        <p:txBody>
          <a:bodyPr wrap="square" lIns="0" rIns="0" tIns="0" bIns="0" anchor="t">
            <a:noAutofit/>
          </a:bodyPr>
          <a:lstStyle/>
          <a:p>
            <a:pPr algn="l">
              <a:lnSpc>
                <a:spcPts val="1400"/>
              </a:lnSpc>
            </a:pPr>
            <a:r>
              <a:rPr sz="1100" b="0" i="0" lang="uz-Cyrl-UZ">
                <a:solidFill>
                  <a:srgbClr val="CECAC8"/>
                </a:solidFill>
                <a:latin typeface="Consolas"/>
              </a:rPr>
              <a:t>03</a:t>
            </a:r>
          </a:p>
        </p:txBody>
      </p:sp>
      <p:sp>
        <p:nvSpPr>
          <p:cNvPr id="13" name="TextBox 12"/>
          <p:cNvSpPr txBox="1"/>
          <p:nvPr/>
        </p:nvSpPr>
        <p:spPr>
          <a:xfrm>
            <a:off x="1280160" y="4411980"/>
            <a:ext cx="6949440" cy="838200"/>
          </a:xfrm>
          <a:prstGeom prst="rect">
            <a:avLst/>
          </a:prstGeom>
          <a:noFill/>
        </p:spPr>
        <p:txBody>
          <a:bodyPr wrap="square" lIns="0" rIns="0" tIns="0" bIns="0" anchor="t">
            <a:noAutofit/>
          </a:bodyPr>
          <a:lstStyle/>
          <a:p>
            <a:pPr algn="l">
              <a:lnSpc>
                <a:spcPts val="3300"/>
              </a:lnSpc>
            </a:pPr>
            <a:r>
              <a:rPr sz="2800" b="0" i="0" lang="uz-Cyrl-UZ" spc="-56">
                <a:solidFill>
                  <a:srgbClr val="F6F3F1"/>
                </a:solidFill>
                <a:latin typeface="Cambria"/>
              </a:rPr>
              <a:t>Назорат нуқтаси санасини 15.10.2027 этиб белгилаш</a:t>
            </a:r>
          </a:p>
        </p:txBody>
      </p:sp>
      <p:cxnSp>
        <p:nvCxnSpPr>
          <p:cNvPr id="14" name="Connector 13"/>
          <p:cNvCxnSpPr/>
          <p:nvPr/>
        </p:nvCxnSpPr>
        <p:spPr>
          <a:xfrm>
            <a:off x="548640" y="5387340"/>
            <a:ext cx="7680960" cy="0"/>
          </a:xfrm>
          <a:prstGeom prst="line">
            <a:avLst/>
          </a:prstGeom>
          <a:ln w="12700">
            <a:solidFill>
              <a:srgbClr val="4E4D4D"/>
            </a:solidFill>
          </a:ln>
        </p:spPr>
      </p:cxnSp>
      <p:sp>
        <p:nvSpPr>
          <p:cNvPr id="15" name="Without decisions"/>
          <p:cNvSpPr txBox="1"/>
          <p:nvPr/>
        </p:nvSpPr>
        <p:spPr>
          <a:xfrm>
            <a:off x="8961120" y="2606040"/>
            <a:ext cx="2681935" cy="1600200"/>
          </a:xfrm>
          <a:prstGeom prst="rect">
            <a:avLst/>
          </a:prstGeom>
          <a:noFill/>
        </p:spPr>
        <p:txBody>
          <a:bodyPr wrap="square" lIns="0" rIns="0" tIns="0" bIns="0" anchor="t">
            <a:noAutofit/>
          </a:bodyPr>
          <a:lstStyle/>
          <a:p>
            <a:pPr algn="l">
              <a:lnSpc>
                <a:spcPts val="1800"/>
              </a:lnSpc>
            </a:pPr>
            <a:r>
              <a:rPr sz="1400" b="0" i="0" lang="uz-Cyrl-UZ">
                <a:solidFill>
                  <a:srgbClr val="CECAC8"/>
                </a:solidFill>
                <a:latin typeface="Consolas"/>
              </a:rPr>
              <a:t>1–2-қарорларсиз: 1-босқич фақат депозитлар ҳисобидан молияланади, нопрофил харажатлар ва солиқ хатари сақланади, йил охирида заҳира 3,8 млрд сўмгача камаяди.</a:t>
            </a:r>
          </a:p>
        </p:txBody>
      </p:sp>
      <p:sp>
        <p:nvSpPr>
          <p:cNvPr id="16" name="Logo card"/>
          <p:cNvSpPr/>
          <p:nvPr/>
        </p:nvSpPr>
        <p:spPr>
          <a:xfrm>
            <a:off x="8991295" y="4718304"/>
            <a:ext cx="2651760" cy="1133856"/>
          </a:xfrm>
          <a:prstGeom prst="roundRect">
            <a:avLst>
              <a:gd name="adj" fmla="val 32258"/>
            </a:avLst>
          </a:prstGeom>
          <a:solidFill>
            <a:srgbClr val="F6F3F1"/>
          </a:solidFill>
          <a:ln>
            <a:noFill/>
          </a:ln>
          <a:effectLst/>
        </p:spPr>
        <p:txBody>
          <a:bodyPr rtlCol="0" anchor="ctr" lIns="0" rIns="0" tIns="0" bIns="0"/>
          <a:lstStyle/>
          <a:p>
            <a:pPr algn="ctr"/>
          </a:p>
        </p:txBody>
      </p:sp>
      <p:pic>
        <p:nvPicPr>
          <p:cNvPr id="17" name="Logo" descr="Тошкент политехника музейи логотипи"/>
          <p:cNvPicPr>
            <a:picLocks noChangeAspect="1"/>
          </p:cNvPicPr>
          <p:nvPr/>
        </p:nvPicPr>
        <p:blipFill>
          <a:blip r:embed="rId3"/>
          <a:stretch>
            <a:fillRect/>
          </a:stretch>
        </p:blipFill>
        <p:spPr>
          <a:xfrm>
            <a:off x="9174175" y="4803743"/>
            <a:ext cx="2286000" cy="96297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78138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1-ИЛОВА</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1-босқич экспонатлари ва уларнинг қиймати</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15 / 20</a:t>
            </a:r>
          </a:p>
        </p:txBody>
      </p:sp>
      <p:sp>
        <p:nvSpPr>
          <p:cNvPr id="5" name="Source"/>
          <p:cNvSpPr txBox="1"/>
          <p:nvPr/>
        </p:nvSpPr>
        <p:spPr>
          <a:xfrm>
            <a:off x="548640" y="5871210"/>
            <a:ext cx="9905695" cy="43815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Нархлар 10 % резерв билан, аниқлик ±30 % (смета). Курс — 12 000 сўм/$. Инфратузилма (720,0 млн сўм; 60 000 $) ва бошқарув (268,7 млн сўм; 22 391 $) билан 1-босқич қиймати — 3 627,4 млн сўм (302 281 $). Яхлитлаш сабабли жамида ±0,1 фарқ бўлиши мумкин. Манба: Смета_программы_обновления.xlsx (“Экспонаты”, “Этапы”); М5 “Экспонатлар”.</a:t>
            </a:r>
          </a:p>
        </p:txBody>
      </p:sp>
      <p:graphicFrame>
        <p:nvGraphicFramePr>
          <p:cNvPr id="6" name="Exhibits table"/>
          <p:cNvGraphicFramePr>
            <a:graphicFrameLocks noGrp="1"/>
          </p:cNvGraphicFramePr>
          <p:nvPr/>
        </p:nvGraphicFramePr>
        <p:xfrm>
          <a:off x="548640" y="1691640"/>
          <a:ext cx="11094415" cy="3743960"/>
        </p:xfrm>
        <a:graphic>
          <a:graphicData uri="http://schemas.openxmlformats.org/drawingml/2006/table">
            <a:tbl>
              <a:tblPr firstRow="0" bandRow="0">
                <a:tableStyleId>{2D5ABB26-0587-4C30-8999-92F81FD0307C}</a:tableStyleId>
              </a:tblPr>
              <a:tblGrid>
                <a:gridCol w="731520"/>
                <a:gridCol w="3291840"/>
                <a:gridCol w="2743200"/>
                <a:gridCol w="1645920"/>
                <a:gridCol w="2681935"/>
              </a:tblGrid>
              <a:tr h="219964">
                <a:tc>
                  <a:txBody>
                    <a:bodyPr wrap="square"/>
                    <a:lstStyle/>
                    <a:p>
                      <a:pPr algn="l">
                        <a:lnSpc>
                          <a:spcPts val="1300"/>
                        </a:lnSpc>
                      </a:pPr>
                      <a:r>
                        <a:rPr sz="1000" b="0" i="0" lang="uz-Cyrl-UZ">
                          <a:solidFill>
                            <a:srgbClr val="4E4D4D"/>
                          </a:solidFill>
                          <a:latin typeface="Consolas"/>
                        </a:rPr>
                        <a:t>КОД</a:t>
                      </a:r>
                    </a:p>
                  </a:txBody>
                  <a:tcPr marL="73152" marR="73152" marT="27432" marB="27432"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НОМИ</a:t>
                      </a:r>
                    </a:p>
                  </a:txBody>
                  <a:tcPr marL="73152" marR="73152" marT="27432" marB="27432"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ЗОНА</a:t>
                      </a:r>
                    </a:p>
                  </a:txBody>
                  <a:tcPr marL="73152" marR="73152" marT="27432" marB="27432"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ОЧИЛИШ</a:t>
                      </a:r>
                    </a:p>
                  </a:txBody>
                  <a:tcPr marL="73152" marR="73152" marT="27432" marB="27432"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ҚИЙМАТИ, МЛН СЎМ ($)</a:t>
                      </a:r>
                    </a:p>
                  </a:txBody>
                  <a:tcPr marL="73152" marR="73152" marT="27432" marB="27432" anchor="t">
                    <a:lnL w="12700">
                      <a:noFill/>
                    </a:lnL>
                    <a:lnR w="12700">
                      <a:noFill/>
                    </a:lnR>
                    <a:lnT w="12700">
                      <a:solidFill>
                        <a:srgbClr val="CECAC8"/>
                      </a:solid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E04</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“Нейротармоқни ўргат”</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Сунъий интеллект</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31.03.2027</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166,3 (13 860)</a:t>
                      </a:r>
                    </a:p>
                  </a:txBody>
                  <a:tcPr marL="73152" marR="73152" marT="27432" marB="27432" anchor="t">
                    <a:lnL w="12700">
                      <a:noFill/>
                    </a:lnL>
                    <a:lnR w="12700">
                      <a:noFill/>
                    </a:lnR>
                    <a:lnT w="12700">
                      <a:no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E08</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“AR-қумдон: рельеф ва сув”</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AR</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31.03.2027</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151,8 (12 650)</a:t>
                      </a:r>
                    </a:p>
                  </a:txBody>
                  <a:tcPr marL="73152" marR="73152" marT="27432" marB="27432" anchor="t">
                    <a:lnL w="12700">
                      <a:noFill/>
                    </a:lnL>
                    <a:lnR w="12700">
                      <a:noFill/>
                    </a:lnR>
                    <a:lnT w="12700">
                      <a:no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E18</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“Сен неча ватт?”</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Энергетика</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31.03.2027</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132,0 (11 000)</a:t>
                      </a:r>
                    </a:p>
                  </a:txBody>
                  <a:tcPr marL="73152" marR="73152" marT="27432" marB="27432" anchor="t">
                    <a:lnL w="12700">
                      <a:noFill/>
                    </a:lnL>
                    <a:lnR w="12700">
                      <a:noFill/>
                    </a:lnR>
                    <a:lnT w="12700">
                      <a:no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E21</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“Очиқ 3D-босма”</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3D-босма</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31.03.2027</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235,0 (19 580)</a:t>
                      </a:r>
                    </a:p>
                  </a:txBody>
                  <a:tcPr marL="73152" marR="73152" marT="27432" marB="27432" anchor="t">
                    <a:lnL w="12700">
                      <a:noFill/>
                    </a:lnL>
                    <a:lnR w="12700">
                      <a:noFill/>
                    </a:lnR>
                    <a:lnT w="12700">
                      <a:no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E26</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“Ер пульси”</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Сейсмик барқарорлик</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31.03.2027</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118,8 (9 900)</a:t>
                      </a:r>
                    </a:p>
                  </a:txBody>
                  <a:tcPr marL="73152" marR="73152" marT="27432" marB="27432" anchor="t">
                    <a:lnL w="12700">
                      <a:noFill/>
                    </a:lnL>
                    <a:lnR w="12700">
                      <a:noFill/>
                    </a:lnR>
                    <a:lnT w="12700">
                      <a:no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E01</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“Роботни дастурла”</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Робототехника</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31.05.2027</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330,0 (27 500)</a:t>
                      </a:r>
                    </a:p>
                  </a:txBody>
                  <a:tcPr marL="73152" marR="73152" marT="27432" marB="27432" anchor="t">
                    <a:lnL w="12700">
                      <a:noFill/>
                    </a:lnL>
                    <a:lnR w="12700">
                      <a:noFill/>
                    </a:lnR>
                    <a:lnT w="12700">
                      <a:no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E02</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“Робо-арена”</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Робототехника</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31.05.2027</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182,2 (15 180)</a:t>
                      </a:r>
                    </a:p>
                  </a:txBody>
                  <a:tcPr marL="73152" marR="73152" marT="27432" marB="27432" anchor="t">
                    <a:lnL w="12700">
                      <a:noFill/>
                    </a:lnL>
                    <a:lnR w="12700">
                      <a:noFill/>
                    </a:lnR>
                    <a:lnT w="12700">
                      <a:no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E12</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“Автопилот нигоҳи”</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Учувчисиз транспорт</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31.05.2027</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212,5 (17 710)</a:t>
                      </a:r>
                    </a:p>
                  </a:txBody>
                  <a:tcPr marL="73152" marR="73152" marT="27432" marB="27432" anchor="t">
                    <a:lnL w="12700">
                      <a:noFill/>
                    </a:lnL>
                    <a:lnR w="12700">
                      <a:noFill/>
                    </a:lnR>
                    <a:lnT w="12700">
                      <a:no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E29</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“Бионик қўл”</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Биомеханика</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31.05.2027</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157,1 (13 090)</a:t>
                      </a:r>
                    </a:p>
                  </a:txBody>
                  <a:tcPr marL="73152" marR="73152" marT="27432" marB="27432" anchor="t">
                    <a:lnL w="12700">
                      <a:noFill/>
                    </a:lnL>
                    <a:lnR w="12700">
                      <a:noFill/>
                    </a:lnR>
                    <a:lnT w="12700">
                      <a:no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E03</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“Машина кўради”</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Сунъий интеллект</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30.06.2027</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303,6 (25 300)</a:t>
                      </a:r>
                    </a:p>
                  </a:txBody>
                  <a:tcPr marL="73152" marR="73152" marT="27432" marB="27432" anchor="t">
                    <a:lnL w="12700">
                      <a:noFill/>
                    </a:lnL>
                    <a:lnR w="12700">
                      <a:noFill/>
                    </a:lnR>
                    <a:lnT w="12700">
                      <a:no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E06</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“Тошкент узра парвоз”</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VR</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30.06.2027</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223,1 (18 590)</a:t>
                      </a:r>
                    </a:p>
                  </a:txBody>
                  <a:tcPr marL="73152" marR="73152" marT="27432" marB="27432" anchor="t">
                    <a:lnL w="12700">
                      <a:noFill/>
                    </a:lnL>
                    <a:lnR w="12700">
                      <a:noFill/>
                    </a:lnR>
                    <a:lnT w="12700">
                      <a:no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E14</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“Чорраҳани бошқар”</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Ақлли Тошкент</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30.06.2027</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237,6 (19 800)</a:t>
                      </a:r>
                    </a:p>
                  </a:txBody>
                  <a:tcPr marL="73152" marR="73152" marT="27432" marB="27432" anchor="t">
                    <a:lnL w="12700">
                      <a:noFill/>
                    </a:lnL>
                    <a:lnR w="12700">
                      <a:noFill/>
                    </a:lnR>
                    <a:lnT w="12700">
                      <a:no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E19</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“Дрон-қафас”</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Дронлар</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30.06.2027</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188,8 (15 730)</a:t>
                      </a:r>
                    </a:p>
                  </a:txBody>
                  <a:tcPr marL="73152" marR="73152" marT="27432" marB="27432" anchor="t">
                    <a:lnL w="12700">
                      <a:noFill/>
                    </a:lnL>
                    <a:lnR w="12700">
                      <a:noFill/>
                    </a:lnR>
                    <a:lnT w="12700">
                      <a:noFill/>
                    </a:lnT>
                    <a:lnB w="12700">
                      <a:solidFill>
                        <a:srgbClr val="CECAC8"/>
                      </a:solidFill>
                    </a:lnB>
                    <a:noFill/>
                  </a:tcPr>
                </a:tc>
              </a:tr>
              <a:tr h="251714">
                <a:tc>
                  <a:txBody>
                    <a:bodyPr wrap="square"/>
                    <a:lstStyle/>
                    <a:p>
                      <a:pPr algn="l">
                        <a:lnSpc>
                          <a:spcPts val="1550"/>
                        </a:lnSpc>
                      </a:pPr>
                      <a:r>
                        <a:rPr sz="1200" b="0" i="0" lang="uz-Cyrl-UZ">
                          <a:solidFill>
                            <a:srgbClr val="242424"/>
                          </a:solidFill>
                          <a:latin typeface="Consolas"/>
                        </a:rPr>
                        <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Жами</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73152" marR="73152" marT="27432" marB="27432"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73152" marR="73152" marT="27432" marB="27432"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B59D1"/>
                          </a:solidFill>
                          <a:latin typeface="Consolas"/>
                        </a:rPr>
                        <a:t>2 638,7 (219 890)</a:t>
                      </a:r>
                    </a:p>
                  </a:txBody>
                  <a:tcPr marL="73152" marR="73152" marT="27432" marB="27432" anchor="t">
                    <a:lnL w="12700">
                      <a:noFill/>
                    </a:lnL>
                    <a:lnR w="12700">
                      <a:noFill/>
                    </a:lnR>
                    <a:lnT w="12700">
                      <a:noFill/>
                    </a:lnT>
                    <a:lnB w="12700">
                      <a:solidFill>
                        <a:srgbClr val="CECAC8"/>
                      </a:solidFill>
                    </a:lnB>
                    <a:no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78138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2-ИЛОВА</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2027 йил сценарийлари</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16 / 20</a:t>
            </a:r>
          </a:p>
        </p:txBody>
      </p:sp>
      <p:sp>
        <p:nvSpPr>
          <p:cNvPr id="5" name="Source"/>
          <p:cNvSpPr txBox="1"/>
          <p:nvPr/>
        </p:nvSpPr>
        <p:spPr>
          <a:xfrm>
            <a:off x="548640" y="5871210"/>
            <a:ext cx="9905695" cy="43815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Модель: асос — 2026 йил кутилиши ойлар бўйича (мавсумийлик — 2026 йил профили бўйича); асосий оқим = асос × тренд × (1 + ўсиш × очилган экспонатлар улуши); янги сегментлар — мактаб тақвими ва мавсум бўйича. Ташрифчилар минггача яхлитланган; тушум ва қопланиш — модель ҳажми бўйича. Манба: М5 “Кириш”, “Ташрифчилар 2027”; Финансовая_модель_2027.xlsx (Модель 2027!D12:F12, D19:F19).</a:t>
            </a:r>
          </a:p>
        </p:txBody>
      </p:sp>
      <p:graphicFrame>
        <p:nvGraphicFramePr>
          <p:cNvPr id="6" name="Scenarios table"/>
          <p:cNvGraphicFramePr>
            <a:graphicFrameLocks noGrp="1"/>
          </p:cNvGraphicFramePr>
          <p:nvPr/>
        </p:nvGraphicFramePr>
        <p:xfrm>
          <a:off x="548640" y="1691640"/>
          <a:ext cx="11094415" cy="2791968"/>
        </p:xfrm>
        <a:graphic>
          <a:graphicData uri="http://schemas.openxmlformats.org/drawingml/2006/table">
            <a:tbl>
              <a:tblPr firstRow="0" bandRow="0">
                <a:tableStyleId>{2D5ABB26-0587-4C30-8999-92F81FD0307C}</a:tableStyleId>
              </a:tblPr>
              <a:tblGrid>
                <a:gridCol w="2011680"/>
                <a:gridCol w="2011680"/>
                <a:gridCol w="2103120"/>
                <a:gridCol w="2011680"/>
                <a:gridCol w="2956255"/>
              </a:tblGrid>
              <a:tr h="274828">
                <a:tc>
                  <a:txBody>
                    <a:bodyPr wrap="square"/>
                    <a:lstStyle/>
                    <a:p>
                      <a:pPr algn="l">
                        <a:lnSpc>
                          <a:spcPts val="1300"/>
                        </a:lnSpc>
                      </a:pPr>
                      <a:r>
                        <a:rPr sz="1000" b="0" i="0" lang="uz-Cyrl-UZ">
                          <a:solidFill>
                            <a:srgbClr val="4E4D4D"/>
                          </a:solidFill>
                          <a:latin typeface="Consolas"/>
                        </a:rPr>
                        <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КОНСЕРВАТИВ</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БАЗАВИЙ (РЕЖА)</a:t>
                      </a:r>
                    </a:p>
                  </a:txBody>
                  <a:tcPr marL="73152" marR="73152" marT="54864" marB="54864" anchor="t">
                    <a:lnL w="12700">
                      <a:noFill/>
                    </a:lnL>
                    <a:lnR w="12700">
                      <a:noFill/>
                    </a:lnR>
                    <a:lnT w="12700">
                      <a:solidFill>
                        <a:srgbClr val="CECAC8"/>
                      </a:solidFill>
                    </a:lnT>
                    <a:lnB w="12700">
                      <a:solidFill>
                        <a:srgbClr val="CECAC8"/>
                      </a:solidFill>
                    </a:lnB>
                    <a:solidFill>
                      <a:srgbClr val="CFDAF5"/>
                    </a:solidFill>
                  </a:tcPr>
                </a:tc>
                <a:tc>
                  <a:txBody>
                    <a:bodyPr wrap="square"/>
                    <a:lstStyle/>
                    <a:p>
                      <a:pPr algn="l">
                        <a:lnSpc>
                          <a:spcPts val="1300"/>
                        </a:lnSpc>
                      </a:pPr>
                      <a:r>
                        <a:rPr sz="1000" b="0" i="0" lang="uz-Cyrl-UZ">
                          <a:solidFill>
                            <a:srgbClr val="4E4D4D"/>
                          </a:solidFill>
                          <a:latin typeface="Consolas"/>
                        </a:rPr>
                        <a:t>АМБИЦИОЗ</a:t>
                      </a:r>
                    </a:p>
                  </a:txBody>
                  <a:tcPr marL="73152" marR="73152" marT="54864" marB="54864"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ҲИСОБОТ (12.09.2026)</a:t>
                      </a:r>
                    </a:p>
                  </a:txBody>
                  <a:tcPr marL="73152" marR="73152" marT="54864" marB="54864" anchor="t">
                    <a:lnL w="12700">
                      <a:noFill/>
                    </a:lnL>
                    <a:lnR w="12700">
                      <a:noFill/>
                    </a:lnR>
                    <a:lnT w="12700">
                      <a:solidFill>
                        <a:srgbClr val="CECAC8"/>
                      </a:solidFill>
                    </a:lnT>
                    <a:lnB w="12700">
                      <a:solidFill>
                        <a:srgbClr val="CECAC8"/>
                      </a:solidFill>
                    </a:lnB>
                    <a:noFill/>
                  </a:tcPr>
                </a:tc>
              </a:tr>
              <a:tr h="306578">
                <a:tc>
                  <a:txBody>
                    <a:bodyPr wrap="square"/>
                    <a:lstStyle/>
                    <a:p>
                      <a:pPr algn="l">
                        <a:lnSpc>
                          <a:spcPts val="1550"/>
                        </a:lnSpc>
                      </a:pPr>
                      <a:r>
                        <a:rPr sz="1200" b="0" i="0" lang="uz-Cyrl-UZ">
                          <a:solidFill>
                            <a:srgbClr val="242424"/>
                          </a:solidFill>
                          <a:latin typeface="Consolas"/>
                        </a:rPr>
                        <a:t>Ташрифчилар, киши</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21 000</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B59D1"/>
                          </a:solidFill>
                          <a:latin typeface="Consolas"/>
                        </a:rPr>
                        <a:t>29 000</a:t>
                      </a:r>
                    </a:p>
                  </a:txBody>
                  <a:tcPr marL="73152" marR="73152" marT="54864" marB="54864" anchor="t">
                    <a:lnL w="12700">
                      <a:noFill/>
                    </a:lnL>
                    <a:lnR w="12700">
                      <a:noFill/>
                    </a:lnR>
                    <a:lnT w="12700">
                      <a:noFill/>
                    </a:lnT>
                    <a:lnB w="12700">
                      <a:solidFill>
                        <a:srgbClr val="CECAC8"/>
                      </a:solidFill>
                    </a:lnB>
                    <a:solidFill>
                      <a:srgbClr val="CFDAF5"/>
                    </a:solidFill>
                  </a:tcPr>
                </a:tc>
                <a:tc>
                  <a:txBody>
                    <a:bodyPr wrap="square"/>
                    <a:lstStyle/>
                    <a:p>
                      <a:pPr algn="l">
                        <a:lnSpc>
                          <a:spcPts val="1550"/>
                        </a:lnSpc>
                      </a:pPr>
                      <a:r>
                        <a:rPr sz="1200" b="0" i="0" lang="uz-Cyrl-UZ">
                          <a:solidFill>
                            <a:srgbClr val="242424"/>
                          </a:solidFill>
                          <a:latin typeface="Consolas"/>
                        </a:rPr>
                        <a:t>35 000</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26 000 / 40 000 / 60 000</a:t>
                      </a:r>
                    </a:p>
                  </a:txBody>
                  <a:tcPr marL="73152" marR="73152" marT="54864" marB="54864" anchor="t">
                    <a:lnL w="12700">
                      <a:noFill/>
                    </a:lnL>
                    <a:lnR w="12700">
                      <a:noFill/>
                    </a:lnR>
                    <a:lnT w="12700">
                      <a:noFill/>
                    </a:lnT>
                    <a:lnB w="12700">
                      <a:solidFill>
                        <a:srgbClr val="CECAC8"/>
                      </a:solidFill>
                    </a:lnB>
                    <a:noFill/>
                  </a:tcPr>
                </a:tc>
              </a:tr>
              <a:tr h="503428">
                <a:tc>
                  <a:txBody>
                    <a:bodyPr wrap="square"/>
                    <a:lstStyle/>
                    <a:p>
                      <a:pPr algn="l">
                        <a:lnSpc>
                          <a:spcPts val="1550"/>
                        </a:lnSpc>
                      </a:pPr>
                      <a:r>
                        <a:rPr sz="1200" b="0" i="0" lang="uz-Cyrl-UZ">
                          <a:solidFill>
                            <a:srgbClr val="242424"/>
                          </a:solidFill>
                          <a:latin typeface="Consolas"/>
                        </a:rPr>
                        <a:t>Музей тушуми, млн сўм</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654,6</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1 046,3</a:t>
                      </a:r>
                    </a:p>
                  </a:txBody>
                  <a:tcPr marL="73152" marR="73152" marT="54864" marB="54864" anchor="t">
                    <a:lnL w="12700">
                      <a:noFill/>
                    </a:lnL>
                    <a:lnR w="12700">
                      <a:noFill/>
                    </a:lnR>
                    <a:lnT w="12700">
                      <a:noFill/>
                    </a:lnT>
                    <a:lnB w="12700">
                      <a:solidFill>
                        <a:srgbClr val="CECAC8"/>
                      </a:solidFill>
                    </a:lnB>
                    <a:solidFill>
                      <a:srgbClr val="CFDAF5"/>
                    </a:solidFill>
                  </a:tcPr>
                </a:tc>
                <a:tc>
                  <a:txBody>
                    <a:bodyPr wrap="square"/>
                    <a:lstStyle/>
                    <a:p>
                      <a:pPr algn="l">
                        <a:lnSpc>
                          <a:spcPts val="1550"/>
                        </a:lnSpc>
                      </a:pPr>
                      <a:r>
                        <a:rPr sz="1200" b="0" i="0" lang="uz-Cyrl-UZ">
                          <a:solidFill>
                            <a:srgbClr val="242424"/>
                          </a:solidFill>
                          <a:latin typeface="Consolas"/>
                        </a:rPr>
                        <a:t>1 412,9</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1 002,0 / 1 896,0 / 3 037,0 (меценатлик билан)</a:t>
                      </a:r>
                    </a:p>
                  </a:txBody>
                  <a:tcPr marL="73152" marR="73152" marT="54864" marB="54864" anchor="t">
                    <a:lnL w="12700">
                      <a:noFill/>
                    </a:lnL>
                    <a:lnR w="12700">
                      <a:noFill/>
                    </a:lnR>
                    <a:lnT w="12700">
                      <a:noFill/>
                    </a:lnT>
                    <a:lnB w="12700">
                      <a:solidFill>
                        <a:srgbClr val="CECAC8"/>
                      </a:solidFill>
                    </a:lnB>
                    <a:noFill/>
                  </a:tcPr>
                </a:tc>
              </a:tr>
              <a:tr h="503428">
                <a:tc>
                  <a:txBody>
                    <a:bodyPr wrap="square"/>
                    <a:lstStyle/>
                    <a:p>
                      <a:pPr algn="l">
                        <a:lnSpc>
                          <a:spcPts val="1550"/>
                        </a:lnSpc>
                      </a:pPr>
                      <a:r>
                        <a:rPr sz="1200" b="0" i="0" lang="uz-Cyrl-UZ">
                          <a:solidFill>
                            <a:srgbClr val="242424"/>
                          </a:solidFill>
                          <a:latin typeface="Consolas"/>
                        </a:rPr>
                        <a:t>Қопланиш (меценатликсиз)</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24,5 %</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39,1 %</a:t>
                      </a:r>
                    </a:p>
                  </a:txBody>
                  <a:tcPr marL="73152" marR="73152" marT="54864" marB="54864" anchor="t">
                    <a:lnL w="12700">
                      <a:noFill/>
                    </a:lnL>
                    <a:lnR w="12700">
                      <a:noFill/>
                    </a:lnR>
                    <a:lnT w="12700">
                      <a:noFill/>
                    </a:lnT>
                    <a:lnB w="12700">
                      <a:solidFill>
                        <a:srgbClr val="CECAC8"/>
                      </a:solidFill>
                    </a:lnB>
                    <a:solidFill>
                      <a:srgbClr val="CFDAF5"/>
                    </a:solidFill>
                  </a:tcPr>
                </a:tc>
                <a:tc>
                  <a:txBody>
                    <a:bodyPr wrap="square"/>
                    <a:lstStyle/>
                    <a:p>
                      <a:pPr algn="l">
                        <a:lnSpc>
                          <a:spcPts val="1550"/>
                        </a:lnSpc>
                      </a:pPr>
                      <a:r>
                        <a:rPr sz="1200" b="0" i="0" lang="uz-Cyrl-UZ">
                          <a:solidFill>
                            <a:srgbClr val="242424"/>
                          </a:solidFill>
                          <a:latin typeface="Consolas"/>
                        </a:rPr>
                        <a:t>52,8 %</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61,1 % / 81,8 % / 115,1 % (меценатлик билан)</a:t>
                      </a:r>
                    </a:p>
                  </a:txBody>
                  <a:tcPr marL="73152" marR="73152" marT="54864" marB="54864" anchor="t">
                    <a:lnL w="12700">
                      <a:noFill/>
                    </a:lnL>
                    <a:lnR w="12700">
                      <a:noFill/>
                    </a:lnR>
                    <a:lnT w="12700">
                      <a:noFill/>
                    </a:lnT>
                    <a:lnB w="12700">
                      <a:solidFill>
                        <a:srgbClr val="CECAC8"/>
                      </a:solidFill>
                    </a:lnB>
                    <a:noFill/>
                  </a:tcPr>
                </a:tc>
              </a:tr>
              <a:tr h="306578">
                <a:tc>
                  <a:txBody>
                    <a:bodyPr wrap="square"/>
                    <a:lstStyle/>
                    <a:p>
                      <a:pPr algn="l">
                        <a:lnSpc>
                          <a:spcPts val="1550"/>
                        </a:lnSpc>
                      </a:pPr>
                      <a:r>
                        <a:rPr sz="1200" b="0" i="0" lang="uz-Cyrl-UZ">
                          <a:solidFill>
                            <a:srgbClr val="242424"/>
                          </a:solidFill>
                          <a:latin typeface="Consolas"/>
                        </a:rPr>
                        <a:t>Экспонатлар очилиши</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31.05 / 31.07 / 30.09</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31.03 / 31.05 / 30.06</a:t>
                      </a:r>
                    </a:p>
                  </a:txBody>
                  <a:tcPr marL="73152" marR="73152" marT="54864" marB="54864" anchor="t">
                    <a:lnL w="12700">
                      <a:noFill/>
                    </a:lnL>
                    <a:lnR w="12700">
                      <a:noFill/>
                    </a:lnR>
                    <a:lnT w="12700">
                      <a:noFill/>
                    </a:lnT>
                    <a:lnB w="12700">
                      <a:solidFill>
                        <a:srgbClr val="CECAC8"/>
                      </a:solidFill>
                    </a:lnB>
                    <a:solidFill>
                      <a:srgbClr val="CFDAF5"/>
                    </a:solidFill>
                  </a:tcPr>
                </a:tc>
                <a:tc>
                  <a:txBody>
                    <a:bodyPr wrap="square"/>
                    <a:lstStyle/>
                    <a:p>
                      <a:pPr algn="l">
                        <a:lnSpc>
                          <a:spcPts val="1550"/>
                        </a:lnSpc>
                      </a:pPr>
                      <a:r>
                        <a:rPr sz="1200" b="0" i="0" lang="uz-Cyrl-UZ">
                          <a:solidFill>
                            <a:srgbClr val="242424"/>
                          </a:solidFill>
                          <a:latin typeface="Consolas"/>
                        </a:rPr>
                        <a:t>31.03 / 30.04 / 31.05</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кўрсатилмаган</a:t>
                      </a:r>
                    </a:p>
                  </a:txBody>
                  <a:tcPr marL="73152" marR="73152" marT="54864" marB="54864" anchor="t">
                    <a:lnL w="12700">
                      <a:noFill/>
                    </a:lnL>
                    <a:lnR w="12700">
                      <a:noFill/>
                    </a:lnR>
                    <a:lnT w="12700">
                      <a:noFill/>
                    </a:lnT>
                    <a:lnB w="12700">
                      <a:solidFill>
                        <a:srgbClr val="CECAC8"/>
                      </a:solidFill>
                    </a:lnB>
                    <a:noFill/>
                  </a:tcPr>
                </a:tc>
              </a:tr>
              <a:tr h="897128">
                <a:tc>
                  <a:txBody>
                    <a:bodyPr wrap="square"/>
                    <a:lstStyle/>
                    <a:p>
                      <a:pPr algn="l">
                        <a:lnSpc>
                          <a:spcPts val="1550"/>
                        </a:lnSpc>
                      </a:pPr>
                      <a:r>
                        <a:rPr sz="1200" b="0" i="0" lang="uz-Cyrl-UZ">
                          <a:solidFill>
                            <a:srgbClr val="242424"/>
                          </a:solidFill>
                          <a:latin typeface="Consolas"/>
                        </a:rPr>
                        <a:t>Асосий фаразлар</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тренд 0,93; экспонатлар таъсири +35 %; мактаб 1 500; тадбир 800</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тренд 1,00; экспонатлар таъсири +50 %; мактаб 4 000; тадбир 2 000</a:t>
                      </a:r>
                    </a:p>
                  </a:txBody>
                  <a:tcPr marL="73152" marR="73152" marT="54864" marB="54864" anchor="t">
                    <a:lnL w="12700">
                      <a:noFill/>
                    </a:lnL>
                    <a:lnR w="12700">
                      <a:noFill/>
                    </a:lnR>
                    <a:lnT w="12700">
                      <a:noFill/>
                    </a:lnT>
                    <a:lnB w="12700">
                      <a:solidFill>
                        <a:srgbClr val="CECAC8"/>
                      </a:solidFill>
                    </a:lnB>
                    <a:solidFill>
                      <a:srgbClr val="CFDAF5"/>
                    </a:solidFill>
                  </a:tcPr>
                </a:tc>
                <a:tc>
                  <a:txBody>
                    <a:bodyPr wrap="square"/>
                    <a:lstStyle/>
                    <a:p>
                      <a:pPr algn="l">
                        <a:lnSpc>
                          <a:spcPts val="1550"/>
                        </a:lnSpc>
                      </a:pPr>
                      <a:r>
                        <a:rPr sz="1200" b="0" i="0" lang="uz-Cyrl-UZ">
                          <a:solidFill>
                            <a:srgbClr val="242424"/>
                          </a:solidFill>
                          <a:latin typeface="Consolas"/>
                        </a:rPr>
                        <a:t>тренд 1,03; экспонатлар таъсири +60 %; мактаб 5 500; тадбир 3 500</a:t>
                      </a:r>
                    </a:p>
                  </a:txBody>
                  <a:tcPr marL="73152" marR="73152" marT="54864" marB="54864"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йиллик сегментлар, ойлик моделсиз</a:t>
                      </a:r>
                    </a:p>
                  </a:txBody>
                  <a:tcPr marL="73152" marR="73152" marT="54864" marB="54864" anchor="t">
                    <a:lnL w="12700">
                      <a:noFill/>
                    </a:lnL>
                    <a:lnR w="12700">
                      <a:noFill/>
                    </a:lnR>
                    <a:lnT w="12700">
                      <a:noFill/>
                    </a:lnT>
                    <a:lnB w="12700">
                      <a:solidFill>
                        <a:srgbClr val="CECAC8"/>
                      </a:solidFill>
                    </a:lnB>
                    <a:noFill/>
                  </a:tcPr>
                </a:tc>
              </a:tr>
            </a:tbl>
          </a:graphicData>
        </a:graphic>
      </p:graphicFrame>
      <p:sp>
        <p:nvSpPr>
          <p:cNvPr id="7" name="TextBox 6"/>
          <p:cNvSpPr txBox="1"/>
          <p:nvPr/>
        </p:nvSpPr>
        <p:spPr>
          <a:xfrm>
            <a:off x="548640" y="4757928"/>
            <a:ext cx="11094415" cy="6858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Фарқ сабаби: 13 экспонат июнь охиригача ишга туширилади; йиллик суръат январдаги ≈20 083 кишидан ≈34 925 кишигача ўсади (дастурда 32 000–35 000). 40 000 киши учун II ярим йилда йиллик ≈62 794 киши суръати зарур; бу 2-босқичдан кейинги даража.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78138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3-ИЛОВА</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10 кўрсаткич ва чораклик мақсадлар</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17 / 20</a:t>
            </a:r>
          </a:p>
        </p:txBody>
      </p:sp>
      <p:sp>
        <p:nvSpPr>
          <p:cNvPr id="5" name="Source"/>
          <p:cNvSpPr txBox="1"/>
          <p:nvPr/>
        </p:nvSpPr>
        <p:spPr>
          <a:xfrm>
            <a:off x="548640" y="5871210"/>
            <a:ext cx="9905695" cy="43815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 — ойлик ҳисоботга киритиладиган бешта кўрсаткич. Ташрифчилар ва тушум — чорак учун, қолганлари — чорак охирига. 2026 йил базаси: ташрифчилар ва тушум — кутилиш, қолганлари — амалда. Ўртача чек ва тушум — модель ҳажми бўйича (чипта тушуми / модель ташрифчилари); йиғиндида яхлитлаш фарқи ±0,1. Формулалар — М5 “Кўрсаткичлар 2027”. Манба: Бошқарув ҳисоботи, 12.1.</a:t>
            </a:r>
          </a:p>
        </p:txBody>
      </p:sp>
      <p:graphicFrame>
        <p:nvGraphicFramePr>
          <p:cNvPr id="6" name="KPI table"/>
          <p:cNvGraphicFramePr>
            <a:graphicFrameLocks noGrp="1"/>
          </p:cNvGraphicFramePr>
          <p:nvPr/>
        </p:nvGraphicFramePr>
        <p:xfrm>
          <a:off x="548640" y="1691640"/>
          <a:ext cx="11094415" cy="3826256"/>
        </p:xfrm>
        <a:graphic>
          <a:graphicData uri="http://schemas.openxmlformats.org/drawingml/2006/table">
            <a:tbl>
              <a:tblPr firstRow="0" bandRow="0">
                <a:tableStyleId>{2D5ABB26-0587-4C30-8999-92F81FD0307C}</a:tableStyleId>
              </a:tblPr>
              <a:tblGrid>
                <a:gridCol w="2926080"/>
                <a:gridCol w="1633667"/>
                <a:gridCol w="1633667"/>
                <a:gridCol w="1633667"/>
                <a:gridCol w="1633667"/>
                <a:gridCol w="1633667"/>
              </a:tblGrid>
              <a:tr h="247396">
                <a:tc>
                  <a:txBody>
                    <a:bodyPr wrap="square"/>
                    <a:lstStyle/>
                    <a:p>
                      <a:pPr algn="l">
                        <a:lnSpc>
                          <a:spcPts val="1300"/>
                        </a:lnSpc>
                      </a:pPr>
                      <a:r>
                        <a:rPr sz="1000" b="0" i="0" lang="uz-Cyrl-UZ">
                          <a:solidFill>
                            <a:srgbClr val="4E4D4D"/>
                          </a:solidFill>
                          <a:latin typeface="Consolas"/>
                        </a:rPr>
                        <a:t>КЎРСАТКИЧ</a:t>
                      </a:r>
                    </a:p>
                  </a:txBody>
                  <a:tcPr marL="73152" marR="73152" marT="41148" marB="41148"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БАЗА 2026</a:t>
                      </a:r>
                    </a:p>
                  </a:txBody>
                  <a:tcPr marL="73152" marR="73152" marT="41148" marB="41148"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I ЧОРАК</a:t>
                      </a:r>
                    </a:p>
                  </a:txBody>
                  <a:tcPr marL="73152" marR="73152" marT="41148" marB="41148"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II ЧОРАК</a:t>
                      </a:r>
                    </a:p>
                  </a:txBody>
                  <a:tcPr marL="73152" marR="73152" marT="41148" marB="41148"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III ЧОРАК</a:t>
                      </a:r>
                    </a:p>
                  </a:txBody>
                  <a:tcPr marL="73152" marR="73152" marT="41148" marB="41148"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IV ЧОРАК</a:t>
                      </a:r>
                    </a:p>
                  </a:txBody>
                  <a:tcPr marL="73152" marR="73152" marT="41148" marB="41148" anchor="t">
                    <a:lnL w="12700">
                      <a:noFill/>
                    </a:lnL>
                    <a:lnR w="12700">
                      <a:noFill/>
                    </a:lnR>
                    <a:lnT w="12700">
                      <a:solidFill>
                        <a:srgbClr val="CECAC8"/>
                      </a:solidFill>
                    </a:lnT>
                    <a:lnB w="12700">
                      <a:solidFill>
                        <a:srgbClr val="CECAC8"/>
                      </a:solidFill>
                    </a:lnB>
                    <a:noFill/>
                  </a:tcPr>
                </a:tc>
              </a:tr>
              <a:tr h="279146">
                <a:tc>
                  <a:txBody>
                    <a:bodyPr wrap="square"/>
                    <a:lstStyle/>
                    <a:p>
                      <a:pPr algn="l">
                        <a:lnSpc>
                          <a:spcPts val="1550"/>
                        </a:lnSpc>
                      </a:pPr>
                      <a:r>
                        <a:rPr sz="1200" b="0" i="0" lang="uz-Cyrl-UZ">
                          <a:solidFill>
                            <a:srgbClr val="242424"/>
                          </a:solidFill>
                          <a:latin typeface="Consolas"/>
                        </a:rPr>
                        <a:t>● Ташрифчилар, киши</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20 083</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5 800</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8 300</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5 400</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9 500</a:t>
                      </a:r>
                    </a:p>
                  </a:txBody>
                  <a:tcPr marL="73152" marR="73152" marT="41148" marB="41148" anchor="t">
                    <a:lnL w="12700">
                      <a:noFill/>
                    </a:lnL>
                    <a:lnR w="12700">
                      <a:noFill/>
                    </a:lnR>
                    <a:lnT w="12700">
                      <a:noFill/>
                    </a:lnT>
                    <a:lnB w="12700">
                      <a:solidFill>
                        <a:srgbClr val="CECAC8"/>
                      </a:solidFill>
                    </a:lnB>
                    <a:noFill/>
                  </a:tcPr>
                </a:tc>
              </a:tr>
              <a:tr h="279146">
                <a:tc>
                  <a:txBody>
                    <a:bodyPr wrap="square"/>
                    <a:lstStyle/>
                    <a:p>
                      <a:pPr algn="l">
                        <a:lnSpc>
                          <a:spcPts val="1550"/>
                        </a:lnSpc>
                      </a:pPr>
                      <a:r>
                        <a:rPr sz="1200" b="0" i="0" lang="uz-Cyrl-UZ">
                          <a:solidFill>
                            <a:srgbClr val="242424"/>
                          </a:solidFill>
                          <a:latin typeface="Consolas"/>
                        </a:rPr>
                        <a:t>● Музей тушуми, млн сўм</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464,6</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137,6</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297,1</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259,9</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351,8</a:t>
                      </a:r>
                    </a:p>
                  </a:txBody>
                  <a:tcPr marL="73152" marR="73152" marT="41148" marB="41148" anchor="t">
                    <a:lnL w="12700">
                      <a:noFill/>
                    </a:lnL>
                    <a:lnR w="12700">
                      <a:noFill/>
                    </a:lnR>
                    <a:lnT w="12700">
                      <a:noFill/>
                    </a:lnT>
                    <a:lnB w="12700">
                      <a:solidFill>
                        <a:srgbClr val="CECAC8"/>
                      </a:solidFill>
                    </a:lnB>
                    <a:noFill/>
                  </a:tcPr>
                </a:tc>
              </a:tr>
              <a:tr h="279146">
                <a:tc>
                  <a:txBody>
                    <a:bodyPr wrap="square"/>
                    <a:lstStyle/>
                    <a:p>
                      <a:pPr algn="l">
                        <a:lnSpc>
                          <a:spcPts val="1550"/>
                        </a:lnSpc>
                      </a:pPr>
                      <a:r>
                        <a:rPr sz="1200" b="0" i="0" lang="uz-Cyrl-UZ">
                          <a:solidFill>
                            <a:srgbClr val="242424"/>
                          </a:solidFill>
                          <a:latin typeface="Consolas"/>
                        </a:rPr>
                        <a:t>Ўртача чек (модель), сўм</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23 136</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23 459</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28 170</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29 655</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26 860</a:t>
                      </a:r>
                    </a:p>
                  </a:txBody>
                  <a:tcPr marL="73152" marR="73152" marT="41148" marB="41148" anchor="t">
                    <a:lnL w="12700">
                      <a:noFill/>
                    </a:lnL>
                    <a:lnR w="12700">
                      <a:noFill/>
                    </a:lnR>
                    <a:lnT w="12700">
                      <a:noFill/>
                    </a:lnT>
                    <a:lnB w="12700">
                      <a:solidFill>
                        <a:srgbClr val="CECAC8"/>
                      </a:solidFill>
                    </a:lnB>
                    <a:noFill/>
                  </a:tcPr>
                </a:tc>
              </a:tr>
              <a:tr h="279146">
                <a:tc>
                  <a:txBody>
                    <a:bodyPr wrap="square"/>
                    <a:lstStyle/>
                    <a:p>
                      <a:pPr algn="l">
                        <a:lnSpc>
                          <a:spcPts val="1550"/>
                        </a:lnSpc>
                      </a:pPr>
                      <a:r>
                        <a:rPr sz="1200" b="0" i="0" lang="uz-Cyrl-UZ">
                          <a:solidFill>
                            <a:srgbClr val="242424"/>
                          </a:solidFill>
                          <a:latin typeface="Consolas"/>
                        </a:rPr>
                        <a:t>Харажатлар қопланиши</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33,4 %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39,1 % (йил)</a:t>
                      </a:r>
                    </a:p>
                  </a:txBody>
                  <a:tcPr marL="73152" marR="73152" marT="41148" marB="41148" anchor="t">
                    <a:lnL w="12700">
                      <a:noFill/>
                    </a:lnL>
                    <a:lnR w="12700">
                      <a:noFill/>
                    </a:lnR>
                    <a:lnT w="12700">
                      <a:noFill/>
                    </a:lnT>
                    <a:lnB w="12700">
                      <a:solidFill>
                        <a:srgbClr val="CECAC8"/>
                      </a:solidFill>
                    </a:lnB>
                    <a:noFill/>
                  </a:tcPr>
                </a:tc>
              </a:tr>
              <a:tr h="475996">
                <a:tc>
                  <a:txBody>
                    <a:bodyPr wrap="square"/>
                    <a:lstStyle/>
                    <a:p>
                      <a:pPr algn="l">
                        <a:lnSpc>
                          <a:spcPts val="1550"/>
                        </a:lnSpc>
                      </a:pPr>
                      <a:r>
                        <a:rPr sz="1200" b="0" i="0" lang="uz-Cyrl-UZ">
                          <a:solidFill>
                            <a:srgbClr val="242424"/>
                          </a:solidFill>
                          <a:latin typeface="Consolas"/>
                        </a:rPr>
                        <a:t>Мактаб ўқувчилари</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ҳисоби юритилмаган</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480</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1 120</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480</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1 920</a:t>
                      </a:r>
                    </a:p>
                  </a:txBody>
                  <a:tcPr marL="73152" marR="73152" marT="41148" marB="41148" anchor="t">
                    <a:lnL w="12700">
                      <a:noFill/>
                    </a:lnL>
                    <a:lnR w="12700">
                      <a:noFill/>
                    </a:lnR>
                    <a:lnT w="12700">
                      <a:noFill/>
                    </a:lnT>
                    <a:lnB w="12700">
                      <a:solidFill>
                        <a:srgbClr val="CECAC8"/>
                      </a:solidFill>
                    </a:lnB>
                    <a:noFill/>
                  </a:tcPr>
                </a:tc>
              </a:tr>
              <a:tr h="279146">
                <a:tc>
                  <a:txBody>
                    <a:bodyPr wrap="square"/>
                    <a:lstStyle/>
                    <a:p>
                      <a:pPr algn="l">
                        <a:lnSpc>
                          <a:spcPts val="1550"/>
                        </a:lnSpc>
                      </a:pPr>
                      <a:r>
                        <a:rPr sz="1200" b="0" i="0" lang="uz-Cyrl-UZ">
                          <a:solidFill>
                            <a:srgbClr val="242424"/>
                          </a:solidFill>
                          <a:latin typeface="Consolas"/>
                        </a:rPr>
                        <a:t>● Экспонатлар ишлаши</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ўлчанмаган</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5 янги; ≥90 %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13 та; ≥95 %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13 та; ≥95 %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13 та; ≥95 %</a:t>
                      </a:r>
                    </a:p>
                  </a:txBody>
                  <a:tcPr marL="73152" marR="73152" marT="41148" marB="41148" anchor="t">
                    <a:lnL w="12700">
                      <a:noFill/>
                    </a:lnL>
                    <a:lnR w="12700">
                      <a:noFill/>
                    </a:lnR>
                    <a:lnT w="12700">
                      <a:noFill/>
                    </a:lnT>
                    <a:lnB w="12700">
                      <a:solidFill>
                        <a:srgbClr val="CECAC8"/>
                      </a:solidFill>
                    </a:lnB>
                    <a:noFill/>
                  </a:tcPr>
                </a:tc>
              </a:tr>
              <a:tr h="475996">
                <a:tc>
                  <a:txBody>
                    <a:bodyPr wrap="square"/>
                    <a:lstStyle/>
                    <a:p>
                      <a:pPr algn="l">
                        <a:lnSpc>
                          <a:spcPts val="1550"/>
                        </a:lnSpc>
                      </a:pPr>
                      <a:r>
                        <a:rPr sz="1200" b="0" i="0" lang="uz-Cyrl-UZ">
                          <a:solidFill>
                            <a:srgbClr val="242424"/>
                          </a:solidFill>
                          <a:latin typeface="Consolas"/>
                        </a:rPr>
                        <a:t>● 2-қават: салбий фикрлар</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ноябрда ўлчанади</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ўлчов; жавоб 100 %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&lt;20 %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&lt;10 %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&lt;10 %; рейтинг ≥4,7</a:t>
                      </a:r>
                    </a:p>
                  </a:txBody>
                  <a:tcPr marL="73152" marR="73152" marT="41148" marB="41148" anchor="t">
                    <a:lnL w="12700">
                      <a:noFill/>
                    </a:lnL>
                    <a:lnR w="12700">
                      <a:noFill/>
                    </a:lnR>
                    <a:lnT w="12700">
                      <a:noFill/>
                    </a:lnT>
                    <a:lnB w="12700">
                      <a:solidFill>
                        <a:srgbClr val="CECAC8"/>
                      </a:solidFill>
                    </a:lnB>
                    <a:noFill/>
                  </a:tcPr>
                </a:tc>
              </a:tr>
              <a:tr h="279146">
                <a:tc>
                  <a:txBody>
                    <a:bodyPr wrap="square"/>
                    <a:lstStyle/>
                    <a:p>
                      <a:pPr algn="l">
                        <a:lnSpc>
                          <a:spcPts val="1550"/>
                        </a:lnSpc>
                      </a:pPr>
                      <a:r>
                        <a:rPr sz="1200" b="0" i="0" lang="uz-Cyrl-UZ">
                          <a:solidFill>
                            <a:srgbClr val="242424"/>
                          </a:solidFill>
                          <a:latin typeface="Consolas"/>
                        </a:rPr>
                        <a:t>Онлайн сотув улуши</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0 %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0 %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≥10 %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≥15 %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≥20 %</a:t>
                      </a:r>
                    </a:p>
                  </a:txBody>
                  <a:tcPr marL="73152" marR="73152" marT="41148" marB="41148" anchor="t">
                    <a:lnL w="12700">
                      <a:noFill/>
                    </a:lnL>
                    <a:lnR w="12700">
                      <a:noFill/>
                    </a:lnR>
                    <a:lnT w="12700">
                      <a:noFill/>
                    </a:lnT>
                    <a:lnB w="12700">
                      <a:solidFill>
                        <a:srgbClr val="CECAC8"/>
                      </a:solidFill>
                    </a:lnB>
                    <a:noFill/>
                  </a:tcPr>
                </a:tc>
              </a:tr>
              <a:tr h="475996">
                <a:tc>
                  <a:txBody>
                    <a:bodyPr wrap="square"/>
                    <a:lstStyle/>
                    <a:p>
                      <a:pPr algn="l">
                        <a:lnSpc>
                          <a:spcPts val="1550"/>
                        </a:lnSpc>
                      </a:pPr>
                      <a:r>
                        <a:rPr sz="1200" b="0" i="0" lang="uz-Cyrl-UZ">
                          <a:solidFill>
                            <a:srgbClr val="242424"/>
                          </a:solidFill>
                          <a:latin typeface="Consolas"/>
                        </a:rPr>
                        <a:t>Ижара портфели</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узоқ муддатли 0 %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≥70 % майдон</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коммунал қопланган</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муддати ўтган қарз — 0</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паст ставка — 0</a:t>
                      </a:r>
                    </a:p>
                  </a:txBody>
                  <a:tcPr marL="73152" marR="73152" marT="41148" marB="41148" anchor="t">
                    <a:lnL w="12700">
                      <a:noFill/>
                    </a:lnL>
                    <a:lnR w="12700">
                      <a:noFill/>
                    </a:lnR>
                    <a:lnT w="12700">
                      <a:noFill/>
                    </a:lnT>
                    <a:lnB w="12700">
                      <a:solidFill>
                        <a:srgbClr val="CECAC8"/>
                      </a:solidFill>
                    </a:lnB>
                    <a:noFill/>
                  </a:tcPr>
                </a:tc>
              </a:tr>
              <a:tr h="475996">
                <a:tc>
                  <a:txBody>
                    <a:bodyPr wrap="square"/>
                    <a:lstStyle/>
                    <a:p>
                      <a:pPr algn="l">
                        <a:lnSpc>
                          <a:spcPts val="1550"/>
                        </a:lnSpc>
                      </a:pPr>
                      <a:r>
                        <a:rPr sz="1200" b="0" i="0" lang="uz-Cyrl-UZ">
                          <a:solidFill>
                            <a:srgbClr val="242424"/>
                          </a:solidFill>
                          <a:latin typeface="Consolas"/>
                        </a:rPr>
                        <a:t>● Нопрофил харажатлар / бюджет ижроси</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13,9 %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0 % / ≥90 %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0 % / ≥90 %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0 % / ≥90 %</a:t>
                      </a:r>
                    </a:p>
                  </a:txBody>
                  <a:tcPr marL="73152" marR="73152" marT="41148" marB="41148"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0 % / ≥90 %</a:t>
                      </a:r>
                    </a:p>
                  </a:txBody>
                  <a:tcPr marL="73152" marR="73152" marT="41148" marB="41148" anchor="t">
                    <a:lnL w="12700">
                      <a:noFill/>
                    </a:lnL>
                    <a:lnR w="12700">
                      <a:noFill/>
                    </a:lnR>
                    <a:lnT w="12700">
                      <a:noFill/>
                    </a:lnT>
                    <a:lnB w="12700">
                      <a:solidFill>
                        <a:srgbClr val="CECAC8"/>
                      </a:solidFill>
                    </a:lnB>
                    <a:no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78138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4-ИЛОВА</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2027 йил бюджети ойлар бўйича</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18 / 20</a:t>
            </a:r>
          </a:p>
        </p:txBody>
      </p:sp>
      <p:sp>
        <p:nvSpPr>
          <p:cNvPr id="5" name="Source"/>
          <p:cNvSpPr txBox="1"/>
          <p:nvPr/>
        </p:nvSpPr>
        <p:spPr>
          <a:xfrm>
            <a:off x="548640" y="5871210"/>
            <a:ext cx="9905695" cy="43815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Курс: 12 000 сўм/$ (М5 “Кириш”!B4). А вариант: эски экспонатлар таъмири, 1-босқич (3 627,4 млн сўм) ва 2-босқичга тайёргарлик (558,0 млн сўм); Б вариантда тайёргарлик ўрнига 2-босқичнинг ярми (3 501,4 млн сўм). Фарқ — 2,9 млрд сўм. Қолдиқлар — кутилиш; “ижарачи чиқса” — энг йирик ижарачининг 01.07.2027 йилдан чиқиши. Манба: М5 “Бюджет 2027”, “Пул режаси”.</a:t>
            </a:r>
          </a:p>
        </p:txBody>
      </p:sp>
      <p:graphicFrame>
        <p:nvGraphicFramePr>
          <p:cNvPr id="6" name="Monthly budget"/>
          <p:cNvGraphicFramePr>
            <a:graphicFrameLocks noGrp="1"/>
          </p:cNvGraphicFramePr>
          <p:nvPr/>
        </p:nvGraphicFramePr>
        <p:xfrm>
          <a:off x="548640" y="1691640"/>
          <a:ext cx="11094415" cy="887984"/>
        </p:xfrm>
        <a:graphic>
          <a:graphicData uri="http://schemas.openxmlformats.org/drawingml/2006/table">
            <a:tbl>
              <a:tblPr firstRow="0" bandRow="0">
                <a:tableStyleId>{2D5ABB26-0587-4C30-8999-92F81FD0307C}</a:tableStyleId>
              </a:tblPr>
              <a:tblGrid>
                <a:gridCol w="1188720"/>
                <a:gridCol w="713232"/>
                <a:gridCol w="713232"/>
                <a:gridCol w="713232"/>
                <a:gridCol w="713232"/>
                <a:gridCol w="713232"/>
                <a:gridCol w="713232"/>
                <a:gridCol w="713232"/>
                <a:gridCol w="713232"/>
                <a:gridCol w="713232"/>
                <a:gridCol w="713232"/>
                <a:gridCol w="713232"/>
                <a:gridCol w="713232"/>
                <a:gridCol w="1346911"/>
              </a:tblGrid>
              <a:tr h="274828">
                <a:tc>
                  <a:txBody>
                    <a:bodyPr wrap="square"/>
                    <a:lstStyle/>
                    <a:p>
                      <a:pPr algn="l">
                        <a:lnSpc>
                          <a:spcPts val="1300"/>
                        </a:lnSpc>
                      </a:pPr>
                      <a:r>
                        <a:rPr sz="1000" b="0" i="0" lang="uz-Cyrl-UZ">
                          <a:solidFill>
                            <a:srgbClr val="4E4D4D"/>
                          </a:solidFill>
                          <a:latin typeface="Consolas"/>
                        </a:rPr>
                        <a:t>МЛН СЎМ</a:t>
                      </a:r>
                    </a:p>
                  </a:txBody>
                  <a:tcPr marL="45720" marR="45720"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ЯНВ</a:t>
                      </a:r>
                    </a:p>
                  </a:txBody>
                  <a:tcPr marL="45720" marR="45720"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ФЕВ</a:t>
                      </a:r>
                    </a:p>
                  </a:txBody>
                  <a:tcPr marL="45720" marR="45720"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МАР</a:t>
                      </a:r>
                    </a:p>
                  </a:txBody>
                  <a:tcPr marL="45720" marR="45720"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АПР</a:t>
                      </a:r>
                    </a:p>
                  </a:txBody>
                  <a:tcPr marL="45720" marR="45720"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МАЙ</a:t>
                      </a:r>
                    </a:p>
                  </a:txBody>
                  <a:tcPr marL="45720" marR="45720"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ИЮН</a:t>
                      </a:r>
                    </a:p>
                  </a:txBody>
                  <a:tcPr marL="45720" marR="45720"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ИЮЛ</a:t>
                      </a:r>
                    </a:p>
                  </a:txBody>
                  <a:tcPr marL="45720" marR="45720"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АВГ</a:t>
                      </a:r>
                    </a:p>
                  </a:txBody>
                  <a:tcPr marL="45720" marR="45720"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СЕН</a:t>
                      </a:r>
                    </a:p>
                  </a:txBody>
                  <a:tcPr marL="45720" marR="45720"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ОКТ</a:t>
                      </a:r>
                    </a:p>
                  </a:txBody>
                  <a:tcPr marL="45720" marR="45720"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НОЯ</a:t>
                      </a:r>
                    </a:p>
                  </a:txBody>
                  <a:tcPr marL="45720" marR="45720"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ДЕК</a:t>
                      </a:r>
                    </a:p>
                  </a:txBody>
                  <a:tcPr marL="45720" marR="45720" marT="54864" marB="54864"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ЖАМИ</a:t>
                      </a:r>
                    </a:p>
                  </a:txBody>
                  <a:tcPr marL="45720" marR="45720" marT="54864" marB="54864" anchor="t">
                    <a:lnL w="12700">
                      <a:noFill/>
                    </a:lnL>
                    <a:lnR w="12700">
                      <a:noFill/>
                    </a:lnR>
                    <a:lnT w="12700">
                      <a:solidFill>
                        <a:srgbClr val="CECAC8"/>
                      </a:solidFill>
                    </a:lnT>
                    <a:lnB w="12700">
                      <a:solidFill>
                        <a:srgbClr val="CECAC8"/>
                      </a:solidFill>
                    </a:lnB>
                    <a:noFill/>
                  </a:tcPr>
                </a:tc>
              </a:tr>
              <a:tr h="306578">
                <a:tc>
                  <a:txBody>
                    <a:bodyPr wrap="square"/>
                    <a:lstStyle/>
                    <a:p>
                      <a:pPr algn="l">
                        <a:lnSpc>
                          <a:spcPts val="1550"/>
                        </a:lnSpc>
                      </a:pPr>
                      <a:r>
                        <a:rPr sz="1200" b="0" i="0" lang="uz-Cyrl-UZ">
                          <a:solidFill>
                            <a:srgbClr val="242424"/>
                          </a:solidFill>
                          <a:latin typeface="Consolas"/>
                        </a:rPr>
                        <a:t>А вариант</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1 059,8</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1 046,8</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860,4</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622,9</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560,0</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513,3</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158,0</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184,1</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218,5</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218,5</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219,7</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203,1</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5 865,1</a:t>
                      </a:r>
                    </a:p>
                  </a:txBody>
                  <a:tcPr marL="45720" marR="45720" marT="54864" marB="54864" anchor="t">
                    <a:lnL w="12700">
                      <a:noFill/>
                    </a:lnL>
                    <a:lnR w="12700">
                      <a:noFill/>
                    </a:lnR>
                    <a:lnT w="12700">
                      <a:noFill/>
                    </a:lnT>
                    <a:lnB w="12700">
                      <a:solidFill>
                        <a:srgbClr val="CECAC8"/>
                      </a:solidFill>
                    </a:lnB>
                    <a:noFill/>
                  </a:tcPr>
                </a:tc>
              </a:tr>
              <a:tr h="306578">
                <a:tc>
                  <a:txBody>
                    <a:bodyPr wrap="square"/>
                    <a:lstStyle/>
                    <a:p>
                      <a:pPr algn="l">
                        <a:lnSpc>
                          <a:spcPts val="1550"/>
                        </a:lnSpc>
                      </a:pPr>
                      <a:r>
                        <a:rPr sz="1200" b="0" i="0" lang="uz-Cyrl-UZ">
                          <a:solidFill>
                            <a:srgbClr val="242424"/>
                          </a:solidFill>
                          <a:latin typeface="Consolas"/>
                        </a:rPr>
                        <a:t>Б вариант</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1 059,8</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1 046,8</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860,4</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622,9</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560,0</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513,3</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627,4</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625,6</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632,1</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807,2</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808,4</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644,6</a:t>
                      </a:r>
                    </a:p>
                  </a:txBody>
                  <a:tcPr marL="45720" marR="45720" marT="54864" marB="54864"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8 808,5</a:t>
                      </a:r>
                    </a:p>
                  </a:txBody>
                  <a:tcPr marL="45720" marR="45720" marT="54864" marB="54864" anchor="t">
                    <a:lnL w="12700">
                      <a:noFill/>
                    </a:lnL>
                    <a:lnR w="12700">
                      <a:noFill/>
                    </a:lnR>
                    <a:lnT w="12700">
                      <a:noFill/>
                    </a:lnT>
                    <a:lnB w="12700">
                      <a:solidFill>
                        <a:srgbClr val="CECAC8"/>
                      </a:solidFill>
                    </a:lnB>
                    <a:noFill/>
                  </a:tcPr>
                </a:tc>
              </a:tr>
            </a:tbl>
          </a:graphicData>
        </a:graphic>
      </p:graphicFrame>
      <p:graphicFrame>
        <p:nvGraphicFramePr>
          <p:cNvPr id="7" name="Budget chart"/>
          <p:cNvGraphicFramePr>
            <a:graphicFrameLocks noGrp="1"/>
          </p:cNvGraphicFramePr>
          <p:nvPr/>
        </p:nvGraphicFramePr>
        <p:xfrm>
          <a:off x="548640" y="2945384"/>
          <a:ext cx="5760720" cy="2651506"/>
        </p:xfrm>
        <a:graphic>
          <a:graphicData uri="http://schemas.openxmlformats.org/drawingml/2006/chart">
            <c:chart xmlns:c="http://schemas.openxmlformats.org/drawingml/2006/chart" r:id="rId2"/>
          </a:graphicData>
        </a:graphic>
      </p:graphicFrame>
      <p:sp>
        <p:nvSpPr>
          <p:cNvPr id="8" name="TextBox 7"/>
          <p:cNvSpPr txBox="1"/>
          <p:nvPr/>
        </p:nvSpPr>
        <p:spPr>
          <a:xfrm>
            <a:off x="6766560" y="2945384"/>
            <a:ext cx="4876495" cy="18288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ЧОРАК ОХИРИДАГИ ПУЛ ВА ДЕПОЗИТЛАР, МЛН СЎМ</a:t>
            </a:r>
          </a:p>
        </p:txBody>
      </p:sp>
      <p:graphicFrame>
        <p:nvGraphicFramePr>
          <p:cNvPr id="9" name="Reserve table"/>
          <p:cNvGraphicFramePr>
            <a:graphicFrameLocks noGrp="1"/>
          </p:cNvGraphicFramePr>
          <p:nvPr/>
        </p:nvGraphicFramePr>
        <p:xfrm>
          <a:off x="6766560" y="3219704"/>
          <a:ext cx="4876496" cy="1318260"/>
        </p:xfrm>
        <a:graphic>
          <a:graphicData uri="http://schemas.openxmlformats.org/drawingml/2006/table">
            <a:tbl>
              <a:tblPr firstRow="0" bandRow="0">
                <a:tableStyleId>{2D5ABB26-0587-4C30-8999-92F81FD0307C}</a:tableStyleId>
              </a:tblPr>
              <a:tblGrid>
                <a:gridCol w="1691640"/>
                <a:gridCol w="796214"/>
                <a:gridCol w="796214"/>
                <a:gridCol w="796214"/>
                <a:gridCol w="796214"/>
              </a:tblGrid>
              <a:tr h="238252">
                <a:tc>
                  <a:txBody>
                    <a:bodyPr wrap="square"/>
                    <a:lstStyle/>
                    <a:p>
                      <a:pPr algn="l">
                        <a:lnSpc>
                          <a:spcPts val="1300"/>
                        </a:lnSpc>
                      </a:pPr>
                      <a:r>
                        <a:rPr sz="1000" b="0" i="0" lang="uz-Cyrl-UZ">
                          <a:solidFill>
                            <a:srgbClr val="4E4D4D"/>
                          </a:solidFill>
                          <a:latin typeface="Consolas"/>
                        </a:rPr>
                        <a:t>ВАРИАНТ</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I</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II</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III</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r">
                        <a:lnSpc>
                          <a:spcPts val="1300"/>
                        </a:lnSpc>
                      </a:pPr>
                      <a:r>
                        <a:rPr sz="1000" b="0" i="0" lang="uz-Cyrl-UZ">
                          <a:solidFill>
                            <a:srgbClr val="4E4D4D"/>
                          </a:solidFill>
                          <a:latin typeface="Consolas"/>
                        </a:rPr>
                        <a:t>IV</a:t>
                      </a:r>
                    </a:p>
                  </a:txBody>
                  <a:tcPr marL="54864" marR="54864" marT="36576" marB="36576" anchor="t">
                    <a:lnL w="12700">
                      <a:noFill/>
                    </a:lnL>
                    <a:lnR w="12700">
                      <a:noFill/>
                    </a:lnR>
                    <a:lnT w="12700">
                      <a:solidFill>
                        <a:srgbClr val="CECAC8"/>
                      </a:solidFill>
                    </a:lnT>
                    <a:lnB w="12700">
                      <a:solidFill>
                        <a:srgbClr val="CECAC8"/>
                      </a:solidFill>
                    </a:lnB>
                    <a:noFill/>
                  </a:tcPr>
                </a:tc>
              </a:tr>
              <a:tr h="270002">
                <a:tc>
                  <a:txBody>
                    <a:bodyPr wrap="square"/>
                    <a:lstStyle/>
                    <a:p>
                      <a:pPr algn="l">
                        <a:lnSpc>
                          <a:spcPts val="1550"/>
                        </a:lnSpc>
                      </a:pPr>
                      <a:r>
                        <a:rPr sz="1200" b="0" i="0" lang="uz-Cyrl-UZ">
                          <a:solidFill>
                            <a:srgbClr val="242424"/>
                          </a:solidFill>
                          <a:latin typeface="Consolas"/>
                        </a:rPr>
                        <a:t>А</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3 950,9</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3 528,9</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4 205,2</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5 016,1</a:t>
                      </a:r>
                    </a:p>
                  </a:txBody>
                  <a:tcPr marL="54864" marR="54864" marT="36576" marB="36576" anchor="t">
                    <a:lnL w="12700">
                      <a:noFill/>
                    </a:lnL>
                    <a:lnR w="12700">
                      <a:noFill/>
                    </a:lnR>
                    <a:lnT w="12700">
                      <a:noFill/>
                    </a:lnT>
                    <a:lnB w="12700">
                      <a:solidFill>
                        <a:srgbClr val="CECAC8"/>
                      </a:solidFill>
                    </a:lnB>
                    <a:noFill/>
                  </a:tcPr>
                </a:tc>
              </a:tr>
              <a:tr h="270002">
                <a:tc>
                  <a:txBody>
                    <a:bodyPr wrap="square"/>
                    <a:lstStyle/>
                    <a:p>
                      <a:pPr algn="l">
                        <a:lnSpc>
                          <a:spcPts val="1550"/>
                        </a:lnSpc>
                      </a:pPr>
                      <a:r>
                        <a:rPr sz="1200" b="0" i="0" lang="uz-Cyrl-UZ">
                          <a:solidFill>
                            <a:srgbClr val="242424"/>
                          </a:solidFill>
                          <a:latin typeface="Consolas"/>
                        </a:rPr>
                        <a:t>Б</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3 950,9</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3 528,9</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2 864,5</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1 988,3</a:t>
                      </a:r>
                    </a:p>
                  </a:txBody>
                  <a:tcPr marL="54864" marR="54864" marT="36576" marB="36576" anchor="t">
                    <a:lnL w="12700">
                      <a:noFill/>
                    </a:lnL>
                    <a:lnR w="12700">
                      <a:noFill/>
                    </a:lnR>
                    <a:lnT w="12700">
                      <a:noFill/>
                    </a:lnT>
                    <a:lnB w="12700">
                      <a:solidFill>
                        <a:srgbClr val="CECAC8"/>
                      </a:solidFill>
                    </a:lnB>
                    <a:noFill/>
                  </a:tcPr>
                </a:tc>
              </a:tr>
              <a:tr h="270002">
                <a:tc>
                  <a:txBody>
                    <a:bodyPr wrap="square"/>
                    <a:lstStyle/>
                    <a:p>
                      <a:pPr algn="l">
                        <a:lnSpc>
                          <a:spcPts val="1550"/>
                        </a:lnSpc>
                      </a:pPr>
                      <a:r>
                        <a:rPr sz="1200" b="0" i="0" lang="uz-Cyrl-UZ">
                          <a:solidFill>
                            <a:srgbClr val="242424"/>
                          </a:solidFill>
                          <a:latin typeface="Consolas"/>
                        </a:rPr>
                        <a:t>А, ижарачи чиқса</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3 950,9</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3 528,9</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2 906,6</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2 372,8</a:t>
                      </a:r>
                    </a:p>
                  </a:txBody>
                  <a:tcPr marL="54864" marR="54864" marT="36576" marB="36576" anchor="t">
                    <a:lnL w="12700">
                      <a:noFill/>
                    </a:lnL>
                    <a:lnR w="12700">
                      <a:noFill/>
                    </a:lnR>
                    <a:lnT w="12700">
                      <a:noFill/>
                    </a:lnT>
                    <a:lnB w="12700">
                      <a:solidFill>
                        <a:srgbClr val="CECAC8"/>
                      </a:solidFill>
                    </a:lnB>
                    <a:noFill/>
                  </a:tcPr>
                </a:tc>
              </a:tr>
              <a:tr h="270002">
                <a:tc>
                  <a:txBody>
                    <a:bodyPr wrap="square"/>
                    <a:lstStyle/>
                    <a:p>
                      <a:pPr algn="l">
                        <a:lnSpc>
                          <a:spcPts val="1550"/>
                        </a:lnSpc>
                      </a:pPr>
                      <a:r>
                        <a:rPr sz="1200" b="0" i="0" lang="uz-Cyrl-UZ">
                          <a:solidFill>
                            <a:srgbClr val="242424"/>
                          </a:solidFill>
                          <a:latin typeface="Consolas"/>
                        </a:rPr>
                        <a:t>Б, ижарачи чиқса</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3 950,9</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3 528,9</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1 565,9</a:t>
                      </a:r>
                    </a:p>
                  </a:txBody>
                  <a:tcPr marL="54864" marR="54864" marT="36576" marB="36576" anchor="t">
                    <a:lnL w="12700">
                      <a:noFill/>
                    </a:lnL>
                    <a:lnR w="12700">
                      <a:noFill/>
                    </a:lnR>
                    <a:lnT w="12700">
                      <a:noFill/>
                    </a:lnT>
                    <a:lnB w="12700">
                      <a:solidFill>
                        <a:srgbClr val="CECAC8"/>
                      </a:solidFill>
                    </a:lnB>
                    <a:noFill/>
                  </a:tcPr>
                </a:tc>
                <a:tc>
                  <a:txBody>
                    <a:bodyPr wrap="square"/>
                    <a:lstStyle/>
                    <a:p>
                      <a:pPr algn="r">
                        <a:lnSpc>
                          <a:spcPts val="1550"/>
                        </a:lnSpc>
                      </a:pPr>
                      <a:r>
                        <a:rPr sz="1200" b="0" i="0" lang="uz-Cyrl-UZ">
                          <a:solidFill>
                            <a:srgbClr val="242424"/>
                          </a:solidFill>
                          <a:latin typeface="Consolas"/>
                        </a:rPr>
                        <a:t>−640,8</a:t>
                      </a:r>
                    </a:p>
                  </a:txBody>
                  <a:tcPr marL="54864" marR="54864" marT="36576" marB="36576" anchor="t">
                    <a:lnL w="12700">
                      <a:noFill/>
                    </a:lnL>
                    <a:lnR w="12700">
                      <a:noFill/>
                    </a:lnR>
                    <a:lnT w="12700">
                      <a:noFill/>
                    </a:lnT>
                    <a:lnB w="12700">
                      <a:solidFill>
                        <a:srgbClr val="CECAC8"/>
                      </a:solidFill>
                    </a:lnB>
                    <a:noFill/>
                  </a:tcPr>
                </a:tc>
              </a:tr>
            </a:tbl>
          </a:graphicData>
        </a:graphic>
      </p:graphicFrame>
      <p:sp>
        <p:nvSpPr>
          <p:cNvPr id="10" name="TextBox 9"/>
          <p:cNvSpPr txBox="1"/>
          <p:nvPr/>
        </p:nvSpPr>
        <p:spPr>
          <a:xfrm>
            <a:off x="6766560" y="4766564"/>
            <a:ext cx="2301088" cy="33020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А: КАПИТАЛ / ЯНГИ ЖОРИЙ ХАРАЖАТЛАР, МЛН СЎМ</a:t>
            </a:r>
          </a:p>
        </p:txBody>
      </p:sp>
      <p:sp>
        <p:nvSpPr>
          <p:cNvPr id="11" name="TextBox 10"/>
          <p:cNvSpPr txBox="1"/>
          <p:nvPr/>
        </p:nvSpPr>
        <p:spPr>
          <a:xfrm>
            <a:off x="6766560" y="5169916"/>
            <a:ext cx="2301088" cy="365760"/>
          </a:xfrm>
          <a:prstGeom prst="rect">
            <a:avLst/>
          </a:prstGeom>
          <a:noFill/>
        </p:spPr>
        <p:txBody>
          <a:bodyPr wrap="square" lIns="0" rIns="0" tIns="0" bIns="0" anchor="t">
            <a:noAutofit/>
          </a:bodyPr>
          <a:lstStyle/>
          <a:p>
            <a:pPr algn="l">
              <a:lnSpc>
                <a:spcPts val="2400"/>
              </a:lnSpc>
            </a:pPr>
            <a:r>
              <a:rPr sz="2200" b="0" i="0" lang="uz-Cyrl-UZ" spc="-44">
                <a:solidFill>
                  <a:srgbClr val="242424"/>
                </a:solidFill>
                <a:latin typeface="Cambria"/>
              </a:rPr>
              <a:t>4 710,4 / 1 154,7</a:t>
            </a:r>
          </a:p>
        </p:txBody>
      </p:sp>
      <p:sp>
        <p:nvSpPr>
          <p:cNvPr id="12" name="TextBox 11"/>
          <p:cNvSpPr txBox="1"/>
          <p:nvPr/>
        </p:nvSpPr>
        <p:spPr>
          <a:xfrm>
            <a:off x="9341968" y="4766564"/>
            <a:ext cx="2301088" cy="330200"/>
          </a:xfrm>
          <a:prstGeom prst="rect">
            <a:avLst/>
          </a:prstGeom>
          <a:noFill/>
        </p:spPr>
        <p:txBody>
          <a:bodyPr wrap="square" lIns="0" rIns="0" tIns="0" bIns="0" anchor="t">
            <a:noAutofit/>
          </a:bodyPr>
          <a:lstStyle/>
          <a:p>
            <a:pPr algn="l">
              <a:lnSpc>
                <a:spcPts val="1300"/>
              </a:lnSpc>
            </a:pPr>
            <a:r>
              <a:rPr sz="1000" b="0" i="0" lang="uz-Cyrl-UZ">
                <a:solidFill>
                  <a:srgbClr val="4E4D4D"/>
                </a:solidFill>
                <a:latin typeface="Consolas"/>
              </a:rPr>
              <a:t>Б: КАПИТАЛ / ЯНГИ ЖОРИЙ ХАРАЖАТЛАР, МЛН СЎМ</a:t>
            </a:r>
          </a:p>
        </p:txBody>
      </p:sp>
      <p:sp>
        <p:nvSpPr>
          <p:cNvPr id="13" name="TextBox 12"/>
          <p:cNvSpPr txBox="1"/>
          <p:nvPr/>
        </p:nvSpPr>
        <p:spPr>
          <a:xfrm>
            <a:off x="9341968" y="5169916"/>
            <a:ext cx="2301088" cy="365760"/>
          </a:xfrm>
          <a:prstGeom prst="rect">
            <a:avLst/>
          </a:prstGeom>
          <a:noFill/>
        </p:spPr>
        <p:txBody>
          <a:bodyPr wrap="square" lIns="0" rIns="0" tIns="0" bIns="0" anchor="t">
            <a:noAutofit/>
          </a:bodyPr>
          <a:lstStyle/>
          <a:p>
            <a:pPr algn="l">
              <a:lnSpc>
                <a:spcPts val="2400"/>
              </a:lnSpc>
            </a:pPr>
            <a:r>
              <a:rPr sz="2200" b="0" i="0" lang="uz-Cyrl-UZ" spc="-44">
                <a:solidFill>
                  <a:srgbClr val="242424"/>
                </a:solidFill>
                <a:latin typeface="Cambria"/>
              </a:rPr>
              <a:t>7 653,8 / 1 154,7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78138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5-ИЛОВА</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Дастлабки 90 кун: 20.10.2026 – 18.01.2027</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19 / 20</a:t>
            </a:r>
          </a:p>
        </p:txBody>
      </p:sp>
      <p:sp>
        <p:nvSpPr>
          <p:cNvPr id="5" name="Source"/>
          <p:cNvSpPr txBox="1"/>
          <p:nvPr/>
        </p:nvSpPr>
        <p:spPr>
          <a:xfrm>
            <a:off x="548640" y="6017260"/>
            <a:ext cx="9905695" cy="29210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Штрихланган катак — иш бажариладиган ҳафта. Муддатлар тақдимот санасидан бошлаб қайта ҳисобланган. Манба: Экспозицияни янгилаш дастури, “Первые 90 дней”; М5 “Солиштирув”, 5-қатор.</a:t>
            </a:r>
          </a:p>
        </p:txBody>
      </p:sp>
      <p:graphicFrame>
        <p:nvGraphicFramePr>
          <p:cNvPr id="6" name="First 90 days"/>
          <p:cNvGraphicFramePr>
            <a:graphicFrameLocks noGrp="1"/>
          </p:cNvGraphicFramePr>
          <p:nvPr/>
        </p:nvGraphicFramePr>
        <p:xfrm>
          <a:off x="548640" y="1691640"/>
          <a:ext cx="11094415" cy="3236214"/>
        </p:xfrm>
        <a:graphic>
          <a:graphicData uri="http://schemas.openxmlformats.org/drawingml/2006/table">
            <a:tbl>
              <a:tblPr firstRow="0" bandRow="0">
                <a:tableStyleId>{2D5ABB26-0587-4C30-8999-92F81FD0307C}</a:tableStyleId>
              </a:tblPr>
              <a:tblGrid>
                <a:gridCol w="411480"/>
                <a:gridCol w="4739335"/>
                <a:gridCol w="457200"/>
                <a:gridCol w="457200"/>
                <a:gridCol w="457200"/>
                <a:gridCol w="457200"/>
                <a:gridCol w="457200"/>
                <a:gridCol w="457200"/>
                <a:gridCol w="457200"/>
                <a:gridCol w="457200"/>
                <a:gridCol w="457200"/>
                <a:gridCol w="457200"/>
                <a:gridCol w="457200"/>
                <a:gridCol w="457200"/>
                <a:gridCol w="457200"/>
              </a:tblGrid>
              <a:tr h="238252">
                <a:tc>
                  <a:txBody>
                    <a:bodyPr wrap="square"/>
                    <a:lstStyle/>
                    <a:p>
                      <a:pPr algn="l">
                        <a:lnSpc>
                          <a:spcPts val="1300"/>
                        </a:lnSpc>
                      </a:pPr>
                      <a:r>
                        <a:rPr sz="1000" b="0" i="0" lang="uz-Cyrl-UZ">
                          <a:solidFill>
                            <a:srgbClr val="4E4D4D"/>
                          </a:solidFill>
                          <a:latin typeface="Consolas"/>
                        </a:rPr>
                        <a:t>№</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l">
                        <a:lnSpc>
                          <a:spcPts val="1300"/>
                        </a:lnSpc>
                      </a:pPr>
                      <a:r>
                        <a:rPr sz="1000" b="0" i="0" lang="uz-Cyrl-UZ">
                          <a:solidFill>
                            <a:srgbClr val="4E4D4D"/>
                          </a:solidFill>
                          <a:latin typeface="Consolas"/>
                        </a:rPr>
                        <a:t>ВАЗИФА</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ctr">
                        <a:lnSpc>
                          <a:spcPts val="1150"/>
                        </a:lnSpc>
                      </a:pPr>
                      <a:r>
                        <a:rPr sz="900" b="0" i="0" lang="uz-Cyrl-UZ">
                          <a:solidFill>
                            <a:srgbClr val="4E4D4D"/>
                          </a:solidFill>
                          <a:latin typeface="Consolas"/>
                        </a:rPr>
                        <a:t>20.10</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ctr">
                        <a:lnSpc>
                          <a:spcPts val="1150"/>
                        </a:lnSpc>
                      </a:pPr>
                      <a:r>
                        <a:rPr sz="900" b="0" i="0" lang="uz-Cyrl-UZ">
                          <a:solidFill>
                            <a:srgbClr val="4E4D4D"/>
                          </a:solidFill>
                          <a:latin typeface="Consolas"/>
                        </a:rPr>
                        <a:t>27.10</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ctr">
                        <a:lnSpc>
                          <a:spcPts val="1150"/>
                        </a:lnSpc>
                      </a:pPr>
                      <a:r>
                        <a:rPr sz="900" b="0" i="0" lang="uz-Cyrl-UZ">
                          <a:solidFill>
                            <a:srgbClr val="4E4D4D"/>
                          </a:solidFill>
                          <a:latin typeface="Consolas"/>
                        </a:rPr>
                        <a:t>03.11</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ctr">
                        <a:lnSpc>
                          <a:spcPts val="1150"/>
                        </a:lnSpc>
                      </a:pPr>
                      <a:r>
                        <a:rPr sz="900" b="0" i="0" lang="uz-Cyrl-UZ">
                          <a:solidFill>
                            <a:srgbClr val="4E4D4D"/>
                          </a:solidFill>
                          <a:latin typeface="Consolas"/>
                        </a:rPr>
                        <a:t>10.11</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ctr">
                        <a:lnSpc>
                          <a:spcPts val="1150"/>
                        </a:lnSpc>
                      </a:pPr>
                      <a:r>
                        <a:rPr sz="900" b="0" i="0" lang="uz-Cyrl-UZ">
                          <a:solidFill>
                            <a:srgbClr val="4E4D4D"/>
                          </a:solidFill>
                          <a:latin typeface="Consolas"/>
                        </a:rPr>
                        <a:t>17.11</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ctr">
                        <a:lnSpc>
                          <a:spcPts val="1150"/>
                        </a:lnSpc>
                      </a:pPr>
                      <a:r>
                        <a:rPr sz="900" b="0" i="0" lang="uz-Cyrl-UZ">
                          <a:solidFill>
                            <a:srgbClr val="4E4D4D"/>
                          </a:solidFill>
                          <a:latin typeface="Consolas"/>
                        </a:rPr>
                        <a:t>24.11</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ctr">
                        <a:lnSpc>
                          <a:spcPts val="1150"/>
                        </a:lnSpc>
                      </a:pPr>
                      <a:r>
                        <a:rPr sz="900" b="0" i="0" lang="uz-Cyrl-UZ">
                          <a:solidFill>
                            <a:srgbClr val="4E4D4D"/>
                          </a:solidFill>
                          <a:latin typeface="Consolas"/>
                        </a:rPr>
                        <a:t>01.12</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ctr">
                        <a:lnSpc>
                          <a:spcPts val="1150"/>
                        </a:lnSpc>
                      </a:pPr>
                      <a:r>
                        <a:rPr sz="900" b="0" i="0" lang="uz-Cyrl-UZ">
                          <a:solidFill>
                            <a:srgbClr val="4E4D4D"/>
                          </a:solidFill>
                          <a:latin typeface="Consolas"/>
                        </a:rPr>
                        <a:t>08.12</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ctr">
                        <a:lnSpc>
                          <a:spcPts val="1150"/>
                        </a:lnSpc>
                      </a:pPr>
                      <a:r>
                        <a:rPr sz="900" b="0" i="0" lang="uz-Cyrl-UZ">
                          <a:solidFill>
                            <a:srgbClr val="4E4D4D"/>
                          </a:solidFill>
                          <a:latin typeface="Consolas"/>
                        </a:rPr>
                        <a:t>15.12</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ctr">
                        <a:lnSpc>
                          <a:spcPts val="1150"/>
                        </a:lnSpc>
                      </a:pPr>
                      <a:r>
                        <a:rPr sz="900" b="0" i="0" lang="uz-Cyrl-UZ">
                          <a:solidFill>
                            <a:srgbClr val="4E4D4D"/>
                          </a:solidFill>
                          <a:latin typeface="Consolas"/>
                        </a:rPr>
                        <a:t>22.12</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ctr">
                        <a:lnSpc>
                          <a:spcPts val="1150"/>
                        </a:lnSpc>
                      </a:pPr>
                      <a:r>
                        <a:rPr sz="900" b="0" i="0" lang="uz-Cyrl-UZ">
                          <a:solidFill>
                            <a:srgbClr val="4E4D4D"/>
                          </a:solidFill>
                          <a:latin typeface="Consolas"/>
                        </a:rPr>
                        <a:t>29.12</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ctr">
                        <a:lnSpc>
                          <a:spcPts val="1150"/>
                        </a:lnSpc>
                      </a:pPr>
                      <a:r>
                        <a:rPr sz="900" b="0" i="0" lang="uz-Cyrl-UZ">
                          <a:solidFill>
                            <a:srgbClr val="4E4D4D"/>
                          </a:solidFill>
                          <a:latin typeface="Consolas"/>
                        </a:rPr>
                        <a:t>05.01</a:t>
                      </a:r>
                    </a:p>
                  </a:txBody>
                  <a:tcPr marL="54864" marR="54864" marT="36576" marB="36576" anchor="t">
                    <a:lnL w="12700">
                      <a:noFill/>
                    </a:lnL>
                    <a:lnR w="12700">
                      <a:noFill/>
                    </a:lnR>
                    <a:lnT w="12700">
                      <a:solidFill>
                        <a:srgbClr val="CECAC8"/>
                      </a:solidFill>
                    </a:lnT>
                    <a:lnB w="12700">
                      <a:solidFill>
                        <a:srgbClr val="CECAC8"/>
                      </a:solidFill>
                    </a:lnB>
                    <a:noFill/>
                  </a:tcPr>
                </a:tc>
                <a:tc>
                  <a:txBody>
                    <a:bodyPr wrap="square"/>
                    <a:lstStyle/>
                    <a:p>
                      <a:pPr algn="ctr">
                        <a:lnSpc>
                          <a:spcPts val="1150"/>
                        </a:lnSpc>
                      </a:pPr>
                      <a:r>
                        <a:rPr sz="900" b="0" i="0" lang="uz-Cyrl-UZ">
                          <a:solidFill>
                            <a:srgbClr val="4E4D4D"/>
                          </a:solidFill>
                          <a:latin typeface="Consolas"/>
                        </a:rPr>
                        <a:t>12.01</a:t>
                      </a:r>
                    </a:p>
                  </a:txBody>
                  <a:tcPr marL="54864" marR="54864" marT="36576" marB="36576" anchor="t">
                    <a:lnL w="12700">
                      <a:noFill/>
                    </a:lnL>
                    <a:lnR w="12700">
                      <a:noFill/>
                    </a:lnR>
                    <a:lnT w="12700">
                      <a:solidFill>
                        <a:srgbClr val="CECAC8"/>
                      </a:solidFill>
                    </a:lnT>
                    <a:lnB w="12700">
                      <a:solidFill>
                        <a:srgbClr val="CECAC8"/>
                      </a:solidFill>
                    </a:lnB>
                    <a:noFill/>
                  </a:tcPr>
                </a:tc>
              </a:tr>
              <a:tr h="466852">
                <a:tc>
                  <a:txBody>
                    <a:bodyPr wrap="square"/>
                    <a:lstStyle/>
                    <a:p>
                      <a:pPr algn="l">
                        <a:lnSpc>
                          <a:spcPts val="1550"/>
                        </a:lnSpc>
                      </a:pPr>
                      <a:r>
                        <a:rPr sz="1200" b="0" i="0" lang="uz-Cyrl-UZ">
                          <a:solidFill>
                            <a:srgbClr val="242424"/>
                          </a:solidFill>
                          <a:latin typeface="Consolas"/>
                        </a:rPr>
                        <a:t>1</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Топшириқларни имзолаш, дастур раҳбари вазифасини бажарувчини тайинлаш</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r>
              <a:tr h="466852">
                <a:tc>
                  <a:txBody>
                    <a:bodyPr wrap="square"/>
                    <a:lstStyle/>
                    <a:p>
                      <a:pPr algn="l">
                        <a:lnSpc>
                          <a:spcPts val="1550"/>
                        </a:lnSpc>
                      </a:pPr>
                      <a:r>
                        <a:rPr sz="1200" b="0" i="0" lang="uz-Cyrl-UZ">
                          <a:solidFill>
                            <a:srgbClr val="242424"/>
                          </a:solidFill>
                          <a:latin typeface="Consolas"/>
                        </a:rPr>
                        <a:t>2</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Хатлов ва ўлчов ишлари, эски экспонатлар бўйича қарор (30.11)</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r>
              <a:tr h="663702">
                <a:tc>
                  <a:txBody>
                    <a:bodyPr wrap="square"/>
                    <a:lstStyle/>
                    <a:p>
                      <a:pPr algn="l">
                        <a:lnSpc>
                          <a:spcPts val="1550"/>
                        </a:lnSpc>
                      </a:pPr>
                      <a:r>
                        <a:rPr sz="1200" b="0" i="0" lang="uz-Cyrl-UZ">
                          <a:solidFill>
                            <a:srgbClr val="242424"/>
                          </a:solidFill>
                          <a:latin typeface="Consolas"/>
                        </a:rPr>
                        <a:t>3</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Бюджет (15.11), дастлабки солиқ хулосаси (25.11), маъмурий бино бўйича қарор (30.11), ижара шартлари (15.12)</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r>
              <a:tr h="466852">
                <a:tc>
                  <a:txBody>
                    <a:bodyPr wrap="square"/>
                    <a:lstStyle/>
                    <a:p>
                      <a:pPr algn="l">
                        <a:lnSpc>
                          <a:spcPts val="1550"/>
                        </a:lnSpc>
                      </a:pPr>
                      <a:r>
                        <a:rPr sz="1200" b="0" i="0" lang="uz-Cyrl-UZ">
                          <a:solidFill>
                            <a:srgbClr val="242424"/>
                          </a:solidFill>
                          <a:latin typeface="Consolas"/>
                        </a:rPr>
                        <a:t>4</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Сайт техник топшириғи (15.11) ва харид, тарифлар (15.12), меценатлик шартномаси (31.12)</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r>
              <a:tr h="466852">
                <a:tc>
                  <a:txBody>
                    <a:bodyPr wrap="square"/>
                    <a:lstStyle/>
                    <a:p>
                      <a:pPr algn="l">
                        <a:lnSpc>
                          <a:spcPts val="1550"/>
                        </a:lnSpc>
                      </a:pPr>
                      <a:r>
                        <a:rPr sz="1200" b="0" i="0" lang="uz-Cyrl-UZ">
                          <a:solidFill>
                            <a:srgbClr val="242424"/>
                          </a:solidFill>
                          <a:latin typeface="Consolas"/>
                        </a:rPr>
                        <a:t>5</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1-тўлқин: спецификация, тижорат таклифлари, буюртма бериш (15.12)</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r>
              <a:tr h="466852">
                <a:tc>
                  <a:txBody>
                    <a:bodyPr wrap="square"/>
                    <a:lstStyle/>
                    <a:p>
                      <a:pPr algn="l">
                        <a:lnSpc>
                          <a:spcPts val="1550"/>
                        </a:lnSpc>
                      </a:pPr>
                      <a:r>
                        <a:rPr sz="1200" b="0" i="0" lang="uz-Cyrl-UZ">
                          <a:solidFill>
                            <a:srgbClr val="242424"/>
                          </a:solidFill>
                          <a:latin typeface="Consolas"/>
                        </a:rPr>
                        <a:t>6</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Раҳбарлар танлови, ойлик ҳисобот шакли, декабрь учун биринчи ҳисобот (10.01)</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no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c>
                  <a:txBody>
                    <a:bodyPr wrap="square"/>
                    <a:lstStyle/>
                    <a:p>
                      <a:pPr algn="l">
                        <a:lnSpc>
                          <a:spcPts val="1550"/>
                        </a:lnSpc>
                      </a:pPr>
                      <a:r>
                        <a:rPr sz="1200" b="0" i="0" lang="uz-Cyrl-UZ">
                          <a:solidFill>
                            <a:srgbClr val="242424"/>
                          </a:solidFill>
                          <a:latin typeface="Consolas"/>
                        </a:rPr>
                        <a:t/>
                      </a:r>
                    </a:p>
                  </a:txBody>
                  <a:tcPr marL="54864" marR="54864" marT="36576" marB="36576" anchor="t">
                    <a:lnL w="12700">
                      <a:noFill/>
                    </a:lnL>
                    <a:lnR w="12700">
                      <a:noFill/>
                    </a:lnR>
                    <a:lnT w="12700">
                      <a:noFill/>
                    </a:lnT>
                    <a:lnB w="12700">
                      <a:solidFill>
                        <a:srgbClr val="CECAC8"/>
                      </a:solidFill>
                    </a:lnB>
                    <a:pattFill prst="wdUpDiag">
                      <a:fgClr>
                        <a:srgbClr val="797776"/>
                      </a:fgClr>
                      <a:bgClr>
                        <a:srgbClr val="F6F3F1"/>
                      </a:bgClr>
                    </a:pattFill>
                  </a:tcPr>
                </a:tc>
              </a:tr>
            </a:tbl>
          </a:graphicData>
        </a:graphic>
      </p:graphicFrame>
      <p:sp>
        <p:nvSpPr>
          <p:cNvPr id="7" name="TextBox 6"/>
          <p:cNvSpPr txBox="1"/>
          <p:nvPr/>
        </p:nvSpPr>
        <p:spPr>
          <a:xfrm>
            <a:off x="548640" y="5202174"/>
            <a:ext cx="11094415" cy="457200"/>
          </a:xfrm>
          <a:prstGeom prst="rect">
            <a:avLst/>
          </a:prstGeom>
          <a:noFill/>
        </p:spPr>
        <p:txBody>
          <a:bodyPr wrap="square" lIns="0" rIns="0" tIns="0" bIns="0" anchor="t">
            <a:noAutofit/>
          </a:bodyPr>
          <a:lstStyle/>
          <a:p>
            <a:pPr algn="l">
              <a:lnSpc>
                <a:spcPts val="1800"/>
              </a:lnSpc>
            </a:pPr>
            <a:r>
              <a:rPr sz="1400" b="0" i="0" lang="uz-Cyrl-UZ">
                <a:solidFill>
                  <a:srgbClr val="242424"/>
                </a:solidFill>
                <a:latin typeface="Consolas"/>
              </a:rPr>
              <a:t>90 кун якунида (18.01.2027): олтита қарор ижрода, хатлов ўтказилган, 1-тўлқинга буюртма берилган, дастур раҳбари тайинланган, декабрь учун биринчи ойлик ҳисобот тақдим этилган.</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3F1"/>
        </a:solidFill>
        <a:effectLst/>
      </p:bgPr>
    </p:bg>
    <p:spTree>
      <p:nvGrpSpPr>
        <p:cNvPr id="1" name=""/>
        <p:cNvGrpSpPr/>
        <p:nvPr/>
      </p:nvGrpSpPr>
      <p:grpSpPr/>
      <p:sp>
        <p:nvSpPr>
          <p:cNvPr id="2" name="Section"/>
          <p:cNvSpPr/>
          <p:nvPr/>
        </p:nvSpPr>
        <p:spPr>
          <a:xfrm>
            <a:off x="548640" y="548640"/>
            <a:ext cx="781384" cy="274320"/>
          </a:xfrm>
          <a:prstGeom prst="roundRect">
            <a:avLst>
              <a:gd name="adj" fmla="val 50000"/>
            </a:avLst>
          </a:prstGeom>
          <a:noFill/>
          <a:ln w="12700">
            <a:solidFill>
              <a:srgbClr val="CECAC8"/>
            </a:solidFill>
          </a:ln>
          <a:effectLst/>
        </p:spPr>
        <p:txBody>
          <a:bodyPr rtlCol="0" anchor="ctr" lIns="0" rIns="0" tIns="0" bIns="0" wrap="none"/>
          <a:lstStyle/>
          <a:p>
            <a:pPr algn="ctr">
              <a:lnSpc>
                <a:spcPts val="1300"/>
              </a:lnSpc>
            </a:pPr>
            <a:r>
              <a:rPr sz="1000" b="0" i="0" lang="uz-Cyrl-UZ">
                <a:solidFill>
                  <a:srgbClr val="242424"/>
                </a:solidFill>
                <a:latin typeface="Consolas"/>
              </a:rPr>
              <a:t>6-ИЛОВА</a:t>
            </a:r>
          </a:p>
        </p:txBody>
      </p:sp>
      <p:sp>
        <p:nvSpPr>
          <p:cNvPr id="3" name="Title"/>
          <p:cNvSpPr txBox="1"/>
          <p:nvPr/>
        </p:nvSpPr>
        <p:spPr>
          <a:xfrm>
            <a:off x="548640" y="914400"/>
            <a:ext cx="11094415" cy="566928"/>
          </a:xfrm>
          <a:prstGeom prst="rect">
            <a:avLst/>
          </a:prstGeom>
          <a:noFill/>
        </p:spPr>
        <p:txBody>
          <a:bodyPr wrap="square" lIns="0" rIns="0" tIns="0" bIns="0" anchor="t">
            <a:noAutofit/>
          </a:bodyPr>
          <a:lstStyle/>
          <a:p>
            <a:pPr algn="l">
              <a:lnSpc>
                <a:spcPts val="4000"/>
              </a:lnSpc>
            </a:pPr>
            <a:r>
              <a:rPr sz="3600" b="0" i="0" lang="uz-Cyrl-UZ" spc="-72">
                <a:solidFill>
                  <a:srgbClr val="242424"/>
                </a:solidFill>
                <a:latin typeface="Cambria"/>
              </a:rPr>
              <a:t>Фаразлар, манбалар ва чекловлар</a:t>
            </a:r>
          </a:p>
        </p:txBody>
      </p:sp>
      <p:sp>
        <p:nvSpPr>
          <p:cNvPr id="4" name="Slide number"/>
          <p:cNvSpPr txBox="1"/>
          <p:nvPr/>
        </p:nvSpPr>
        <p:spPr>
          <a:xfrm>
            <a:off x="10637215" y="6126480"/>
            <a:ext cx="1005840" cy="182880"/>
          </a:xfrm>
          <a:prstGeom prst="rect">
            <a:avLst/>
          </a:prstGeom>
          <a:noFill/>
        </p:spPr>
        <p:txBody>
          <a:bodyPr wrap="square" lIns="0" rIns="0" tIns="0" bIns="0" anchor="b">
            <a:noAutofit/>
          </a:bodyPr>
          <a:lstStyle/>
          <a:p>
            <a:pPr algn="r">
              <a:lnSpc>
                <a:spcPts val="1300"/>
              </a:lnSpc>
            </a:pPr>
            <a:r>
              <a:rPr sz="1000" b="0" i="0" lang="uz-Cyrl-UZ">
                <a:solidFill>
                  <a:srgbClr val="797776"/>
                </a:solidFill>
                <a:latin typeface="Consolas"/>
              </a:rPr>
              <a:t>20 / 20</a:t>
            </a:r>
          </a:p>
        </p:txBody>
      </p:sp>
      <p:sp>
        <p:nvSpPr>
          <p:cNvPr id="5" name="Source"/>
          <p:cNvSpPr txBox="1"/>
          <p:nvPr/>
        </p:nvSpPr>
        <p:spPr>
          <a:xfrm>
            <a:off x="548640" y="6163310"/>
            <a:ext cx="9905695" cy="146050"/>
          </a:xfrm>
          <a:prstGeom prst="rect">
            <a:avLst/>
          </a:prstGeom>
          <a:noFill/>
        </p:spPr>
        <p:txBody>
          <a:bodyPr wrap="square" lIns="0" rIns="0" tIns="0" bIns="0" anchor="b">
            <a:noAutofit/>
          </a:bodyPr>
          <a:lstStyle/>
          <a:p>
            <a:pPr algn="l">
              <a:lnSpc>
                <a:spcPts val="1150"/>
              </a:lnSpc>
            </a:pPr>
            <a:r>
              <a:rPr sz="900" b="0" i="0" lang="uz-Cyrl-UZ">
                <a:solidFill>
                  <a:srgbClr val="797776"/>
                </a:solidFill>
                <a:latin typeface="Consolas"/>
              </a:rPr>
              <a:t>Белгилар: амалда — ҳақиқий, кутилиш — баҳо, режа — мақсад. Тўлиқ рўйхат: М5 “Кириш”, “Солиштирув”, “Маълумот чекловлари”, “Слайд рақамлари”.</a:t>
            </a:r>
          </a:p>
        </p:txBody>
      </p:sp>
      <p:sp>
        <p:nvSpPr>
          <p:cNvPr id="6" name="TextBox 5"/>
          <p:cNvSpPr txBox="1"/>
          <p:nvPr/>
        </p:nvSpPr>
        <p:spPr>
          <a:xfrm>
            <a:off x="548640" y="1691640"/>
            <a:ext cx="3886200" cy="292608"/>
          </a:xfrm>
          <a:prstGeom prst="rect">
            <a:avLst/>
          </a:prstGeom>
          <a:noFill/>
        </p:spPr>
        <p:txBody>
          <a:bodyPr wrap="square" lIns="0" rIns="0" tIns="0" bIns="0" anchor="t">
            <a:noAutofit/>
          </a:bodyPr>
          <a:lstStyle/>
          <a:p>
            <a:pPr algn="l">
              <a:lnSpc>
                <a:spcPts val="2200"/>
              </a:lnSpc>
            </a:pPr>
            <a:r>
              <a:rPr sz="2000" b="0" i="0" lang="uz-Cyrl-UZ" spc="-40">
                <a:solidFill>
                  <a:srgbClr val="242424"/>
                </a:solidFill>
                <a:latin typeface="Cambria"/>
              </a:rPr>
              <a:t>Асосий фаразлар</a:t>
            </a:r>
          </a:p>
        </p:txBody>
      </p:sp>
      <p:cxnSp>
        <p:nvCxnSpPr>
          <p:cNvPr id="7" name="Connector 6"/>
          <p:cNvCxnSpPr/>
          <p:nvPr/>
        </p:nvCxnSpPr>
        <p:spPr>
          <a:xfrm>
            <a:off x="548640" y="2057400"/>
            <a:ext cx="3886200" cy="0"/>
          </a:xfrm>
          <a:prstGeom prst="line">
            <a:avLst/>
          </a:prstGeom>
          <a:ln w="12700">
            <a:solidFill>
              <a:srgbClr val="CECAC8"/>
            </a:solidFill>
          </a:ln>
        </p:spPr>
      </p:cxnSp>
      <p:sp>
        <p:nvSpPr>
          <p:cNvPr id="8" name="TextBox 7"/>
          <p:cNvSpPr txBox="1"/>
          <p:nvPr/>
        </p:nvSpPr>
        <p:spPr>
          <a:xfrm>
            <a:off x="548640" y="2194560"/>
            <a:ext cx="3886200" cy="3644900"/>
          </a:xfrm>
          <a:prstGeom prst="rect">
            <a:avLst/>
          </a:prstGeom>
          <a:noFill/>
        </p:spPr>
        <p:txBody>
          <a:bodyPr wrap="square" lIns="0" rIns="0" tIns="0" bIns="0" anchor="t">
            <a:noAutofit/>
          </a:bodyPr>
          <a:lstStyle/>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Курс — 12 000 сўм/$ (буюртмачи қарори); Марказий банк курси 06.10.2026 йилда — 11 778,45 сўм/$.</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2026 йил кутилиши: январь–август амалда + сентябрь–декабрь 2025 × (1 − 17,3 %) = 20 083 киши.</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Асосий оқим: 13 экспонат ишлаганда +50 %, таъмир даврида ×0,95; янги сегментларнинг 40 фоизи мавжуд оқимдан (тўлиқ суръат ≈34 925 киши).</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Очилиш: 31.03 / 31.05 / 30.06.2027; тарифлар 01.04.2027 йилдан.</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Сегментлар, киши: мактаб 4 000, тадбир 2 000, сайёҳ 1 000, корпоратив 1 000.</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Ижара: 01.09.2026 шартномалари × 96,4 %; депозит ставкаси 14 % (ортиқча қолдиққа).</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Жорий харажатлар 2027 = такрорланувчи харажатлар 2026 × 1,08 + солиқ 400,0 млн сўм = 11 918,6 млн сўм.</a:t>
            </a:r>
          </a:p>
          <a:p>
            <a:pPr algn="l" marL="182880" indent="-182880">
              <a:lnSpc>
                <a:spcPts val="1400"/>
              </a:lnSpc>
              <a:buClr>
                <a:srgbClr val="797776"/>
              </a:buClr>
              <a:buFont typeface="Consolas"/>
              <a:buChar char="–"/>
            </a:pPr>
            <a:r>
              <a:rPr sz="1100" b="0" i="0" lang="uz-Cyrl-UZ">
                <a:solidFill>
                  <a:srgbClr val="242424"/>
                </a:solidFill>
                <a:latin typeface="Consolas"/>
              </a:rPr>
              <a:t>Ҳомийларнинг натура шаклидаги ёрдами ва грантлар бюджетга киритилмаган (қўшимча имконият).</a:t>
            </a:r>
          </a:p>
        </p:txBody>
      </p:sp>
      <p:sp>
        <p:nvSpPr>
          <p:cNvPr id="9" name="TextBox 8"/>
          <p:cNvSpPr txBox="1"/>
          <p:nvPr/>
        </p:nvSpPr>
        <p:spPr>
          <a:xfrm>
            <a:off x="4709160" y="1691640"/>
            <a:ext cx="3108960" cy="292608"/>
          </a:xfrm>
          <a:prstGeom prst="rect">
            <a:avLst/>
          </a:prstGeom>
          <a:noFill/>
        </p:spPr>
        <p:txBody>
          <a:bodyPr wrap="square" lIns="0" rIns="0" tIns="0" bIns="0" anchor="t">
            <a:noAutofit/>
          </a:bodyPr>
          <a:lstStyle/>
          <a:p>
            <a:pPr algn="l">
              <a:lnSpc>
                <a:spcPts val="2200"/>
              </a:lnSpc>
            </a:pPr>
            <a:r>
              <a:rPr sz="2000" b="0" i="0" lang="uz-Cyrl-UZ" spc="-40">
                <a:solidFill>
                  <a:srgbClr val="242424"/>
                </a:solidFill>
                <a:latin typeface="Cambria"/>
              </a:rPr>
              <a:t>Манбалар</a:t>
            </a:r>
          </a:p>
        </p:txBody>
      </p:sp>
      <p:cxnSp>
        <p:nvCxnSpPr>
          <p:cNvPr id="10" name="Connector 9"/>
          <p:cNvCxnSpPr/>
          <p:nvPr/>
        </p:nvCxnSpPr>
        <p:spPr>
          <a:xfrm>
            <a:off x="4709160" y="2057400"/>
            <a:ext cx="3108960" cy="0"/>
          </a:xfrm>
          <a:prstGeom prst="line">
            <a:avLst/>
          </a:prstGeom>
          <a:ln w="12700">
            <a:solidFill>
              <a:srgbClr val="CECAC8"/>
            </a:solidFill>
          </a:ln>
        </p:spPr>
      </p:cxnSp>
      <p:sp>
        <p:nvSpPr>
          <p:cNvPr id="11" name="TextBox 10"/>
          <p:cNvSpPr txBox="1"/>
          <p:nvPr/>
        </p:nvSpPr>
        <p:spPr>
          <a:xfrm>
            <a:off x="4709160" y="2194560"/>
            <a:ext cx="3108960" cy="3606800"/>
          </a:xfrm>
          <a:prstGeom prst="rect">
            <a:avLst/>
          </a:prstGeom>
          <a:noFill/>
        </p:spPr>
        <p:txBody>
          <a:bodyPr wrap="square" lIns="0" rIns="0" tIns="0" bIns="0" anchor="t">
            <a:noAutofit/>
          </a:bodyPr>
          <a:lstStyle/>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Музей файллари: касса 2025–2026; доход+расход 01.01–31.08.2026; ижарачилар 01.09.2026; штат жадвали 2026; баланс 2025.</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Финансовая_модель_2027.xlsx (сценарийлар, 2026→2027 ўзгаришлар таҳлили, стресс-тест).</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Бошқарув ҳисоботи (12.09.2026): 1.4, 1.5, 2.4, 3–5, 7, 11, 12-бўлимлар.</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Экспозицияни янгилаш дастури ва смета (20.09.2026); тақдимот (21.09.2026).</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Сайт ва Telegram-бот техник топшириғи (14.09.2026).</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lex.uz (06.10.2026): Солиқ кодексининг 317, 318-моддалари; “Хайрия тўғрисида”ги Қонун (ЎРҚ-96); ЎРҚ-1083; “Музейлар тўғрисида”ги Қонун.</a:t>
            </a:r>
          </a:p>
          <a:p>
            <a:pPr algn="l" marL="182880" indent="-182880">
              <a:lnSpc>
                <a:spcPts val="1400"/>
              </a:lnSpc>
              <a:buClr>
                <a:srgbClr val="797776"/>
              </a:buClr>
              <a:buFont typeface="Consolas"/>
              <a:buChar char="–"/>
            </a:pPr>
            <a:r>
              <a:rPr sz="1100" b="0" i="0" lang="uz-Cyrl-UZ">
                <a:solidFill>
                  <a:srgbClr val="242424"/>
                </a:solidFill>
                <a:latin typeface="Consolas"/>
              </a:rPr>
              <a:t>cbu.uz (06.10.2026); QazExpoCongress 2024 йиллик ҳисоботи.</a:t>
            </a:r>
          </a:p>
        </p:txBody>
      </p:sp>
      <p:sp>
        <p:nvSpPr>
          <p:cNvPr id="12" name="TextBox 11"/>
          <p:cNvSpPr txBox="1"/>
          <p:nvPr/>
        </p:nvSpPr>
        <p:spPr>
          <a:xfrm>
            <a:off x="8092440" y="1691640"/>
            <a:ext cx="3550615" cy="292608"/>
          </a:xfrm>
          <a:prstGeom prst="rect">
            <a:avLst/>
          </a:prstGeom>
          <a:noFill/>
        </p:spPr>
        <p:txBody>
          <a:bodyPr wrap="square" lIns="0" rIns="0" tIns="0" bIns="0" anchor="t">
            <a:noAutofit/>
          </a:bodyPr>
          <a:lstStyle/>
          <a:p>
            <a:pPr algn="l">
              <a:lnSpc>
                <a:spcPts val="2200"/>
              </a:lnSpc>
            </a:pPr>
            <a:r>
              <a:rPr sz="2000" b="0" i="0" lang="uz-Cyrl-UZ" spc="-40">
                <a:solidFill>
                  <a:srgbClr val="242424"/>
                </a:solidFill>
                <a:latin typeface="Cambria"/>
              </a:rPr>
              <a:t>Маълумот чекловлари</a:t>
            </a:r>
          </a:p>
        </p:txBody>
      </p:sp>
      <p:cxnSp>
        <p:nvCxnSpPr>
          <p:cNvPr id="13" name="Connector 12"/>
          <p:cNvCxnSpPr/>
          <p:nvPr/>
        </p:nvCxnSpPr>
        <p:spPr>
          <a:xfrm>
            <a:off x="8092440" y="2057400"/>
            <a:ext cx="3550615" cy="0"/>
          </a:xfrm>
          <a:prstGeom prst="line">
            <a:avLst/>
          </a:prstGeom>
          <a:ln w="12700">
            <a:solidFill>
              <a:srgbClr val="CECAC8"/>
            </a:solidFill>
          </a:ln>
        </p:spPr>
      </p:cxnSp>
      <p:sp>
        <p:nvSpPr>
          <p:cNvPr id="14" name="TextBox 13"/>
          <p:cNvSpPr txBox="1"/>
          <p:nvPr/>
        </p:nvSpPr>
        <p:spPr>
          <a:xfrm>
            <a:off x="8092440" y="2194560"/>
            <a:ext cx="3550615" cy="3644900"/>
          </a:xfrm>
          <a:prstGeom prst="rect">
            <a:avLst/>
          </a:prstGeom>
          <a:noFill/>
        </p:spPr>
        <p:txBody>
          <a:bodyPr wrap="square" lIns="0" rIns="0" tIns="0" bIns="0" anchor="t">
            <a:noAutofit/>
          </a:bodyPr>
          <a:lstStyle/>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2025 йил апрель ёзуви (249 киши) шубҳали; пасайиш касса тушуми бўйича ҳисобланган.</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2026 йил сентябрь–декабрь — кутилиш: 2025 × (1 − 17,3 %).</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01.01.2027 йилдаги заҳира (5 856,1 млн сўм) 2025 йил баланси ва 8 ойлик оқим асосида баҳоланган.</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Ижара шартномалари амалдаги шартлар асосида узайтирилади (фараз).</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Муассиснинг устав бўйича тўлиқ номи материалларда келтирилмаган; “Ўзавтосаноат” номи қўлланилган.</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Хатловгача эски экспонатлар таъмири юқори чегара бўйича баҳоланган.</a:t>
            </a:r>
          </a:p>
          <a:p>
            <a:pPr algn="l" marL="182880" indent="-182880">
              <a:lnSpc>
                <a:spcPts val="1400"/>
              </a:lnSpc>
              <a:spcAft>
                <a:spcPts val="300"/>
              </a:spcAft>
              <a:buClr>
                <a:srgbClr val="797776"/>
              </a:buClr>
              <a:buFont typeface="Consolas"/>
              <a:buChar char="–"/>
            </a:pPr>
            <a:r>
              <a:rPr sz="1100" b="0" i="0" lang="uz-Cyrl-UZ">
                <a:solidFill>
                  <a:srgbClr val="242424"/>
                </a:solidFill>
                <a:latin typeface="Consolas"/>
              </a:rPr>
              <a:t>Амалдаги иш ҳақи фонди (ИҲФ) штат жадвалидан 51,1 % юқори; фарқ таркиби аниқланмаган.</a:t>
            </a:r>
          </a:p>
          <a:p>
            <a:pPr algn="l" marL="182880" indent="-182880">
              <a:lnSpc>
                <a:spcPts val="1400"/>
              </a:lnSpc>
              <a:buClr>
                <a:srgbClr val="797776"/>
              </a:buClr>
              <a:buFont typeface="Consolas"/>
              <a:buChar char="–"/>
            </a:pPr>
            <a:r>
              <a:rPr sz="1100" b="0" i="0" lang="uz-Cyrl-UZ">
                <a:solidFill>
                  <a:srgbClr val="242424"/>
                </a:solidFill>
                <a:latin typeface="Consolas"/>
              </a:rPr>
              <a:t>Солиқ суммаси солиқ маслаҳатчиси хулосасида аниқланади (31.01.2027).</a:t>
            </a:r>
          </a:p>
        </p:txBody>
      </p:sp>
    </p:spTree>
  </p:cSld>
  <p:clrMapOvr>
    <a:masterClrMapping/>
  </p:clrMapOvr>
</p:sld>
</file>

<file path=ppt/theme/theme1.xml><?xml version="1.0" encoding="utf-8"?>
<a:theme xmlns:a="http://schemas.openxmlformats.org/drawingml/2006/main" name="Monad">
  <a:themeElements>
    <a:clrScheme name="Monad">
      <a:dk1>
        <a:srgbClr val="242424"/>
      </a:dk1>
      <a:lt1>
        <a:srgbClr val="F6F3F1"/>
      </a:lt1>
      <a:dk2>
        <a:srgbClr val="4E4D4D"/>
      </a:dk2>
      <a:lt2>
        <a:srgbClr val="CECAC8"/>
      </a:lt2>
      <a:accent1>
        <a:srgbClr val="2B59D1"/>
      </a:accent1>
      <a:accent2>
        <a:srgbClr val="CFDAF5"/>
      </a:accent2>
      <a:accent3>
        <a:srgbClr val="797776"/>
      </a:accent3>
      <a:accent4>
        <a:srgbClr val="A0B5EB"/>
      </a:accent4>
      <a:accent5>
        <a:srgbClr val="A7FCCD"/>
      </a:accent5>
      <a:accent6>
        <a:srgbClr val="FF9473"/>
      </a:accent6>
      <a:hlink>
        <a:srgbClr val="2B59D1"/>
      </a:hlink>
      <a:folHlink>
        <a:srgbClr val="4E4D4D"/>
      </a:folHlink>
    </a:clrScheme>
    <a:fontScheme name="Monad">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onsola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42424">
                <a:alpha val="38000"/>
              </a:srgbClr>
            </a:outerShdw>
          </a:effectLst>
        </a:effectStyle>
        <a:effectStyle>
          <a:effectLst>
            <a:outerShdw blurRad="40000" dist="23000" dir="5400000" rotWithShape="0">
              <a:srgbClr val="242424">
                <a:alpha val="35000"/>
              </a:srgbClr>
            </a:outerShdw>
          </a:effectLst>
        </a:effectStyle>
        <a:effectStyle>
          <a:effectLst>
            <a:outerShdw blurRad="40000" dist="23000" dir="5400000" rotWithShape="0">
              <a:srgbClr val="242424">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onad">
  <a:themeElements>
    <a:clrScheme name="Monad">
      <a:dk1>
        <a:srgbClr val="242424"/>
      </a:dk1>
      <a:lt1>
        <a:srgbClr val="F6F3F1"/>
      </a:lt1>
      <a:dk2>
        <a:srgbClr val="4E4D4D"/>
      </a:dk2>
      <a:lt2>
        <a:srgbClr val="CECAC8"/>
      </a:lt2>
      <a:accent1>
        <a:srgbClr val="2B59D1"/>
      </a:accent1>
      <a:accent2>
        <a:srgbClr val="CFDAF5"/>
      </a:accent2>
      <a:accent3>
        <a:srgbClr val="797776"/>
      </a:accent3>
      <a:accent4>
        <a:srgbClr val="A0B5EB"/>
      </a:accent4>
      <a:accent5>
        <a:srgbClr val="A7FCCD"/>
      </a:accent5>
      <a:accent6>
        <a:srgbClr val="FF9473"/>
      </a:accent6>
      <a:hlink>
        <a:srgbClr val="2B59D1"/>
      </a:hlink>
      <a:folHlink>
        <a:srgbClr val="4E4D4D"/>
      </a:folHlink>
    </a:clrScheme>
    <a:fontScheme name="Monad">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onsola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42424">
                <a:alpha val="38000"/>
              </a:srgbClr>
            </a:outerShdw>
          </a:effectLst>
        </a:effectStyle>
        <a:effectStyle>
          <a:effectLst>
            <a:outerShdw blurRad="40000" dist="23000" dir="5400000" rotWithShape="0">
              <a:srgbClr val="242424">
                <a:alpha val="35000"/>
              </a:srgbClr>
            </a:outerShdw>
          </a:effectLst>
        </a:effectStyle>
        <a:effectStyle>
          <a:effectLst>
            <a:outerShdw blurRad="40000" dist="23000" dir="5400000" rotWithShape="0">
              <a:srgbClr val="242424">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Тошкент политехника музейини 2027 йилда ривожлантириш стратегияси</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